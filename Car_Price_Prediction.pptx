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677"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8499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2E86AB">
              <a:alpha val="20000"/>
            </a:srgbClr>
          </a:solidFill>
          <a:ln w="12700">
            <a:solidFill>
              <a:srgbClr val="2E86AB">
                <a:alpha val="20000"/>
              </a:srgbClr>
            </a:solidFill>
            <a:prstDash val="solid"/>
          </a:ln>
        </p:spPr>
      </p:sp>
      <p:sp>
        <p:nvSpPr>
          <p:cNvPr id="3" name="Shape 1"/>
          <p:cNvSpPr/>
          <p:nvPr/>
        </p:nvSpPr>
        <p:spPr>
          <a:xfrm>
            <a:off x="-914400" y="3200400"/>
            <a:ext cx="3657600" cy="3657600"/>
          </a:xfrm>
          <a:prstGeom prst="ellipse">
            <a:avLst/>
          </a:prstGeom>
          <a:solidFill>
            <a:srgbClr val="1B4F72">
              <a:alpha val="22000"/>
            </a:srgbClr>
          </a:solidFill>
          <a:ln w="12700">
            <a:solidFill>
              <a:srgbClr val="1B4F72">
                <a:alpha val="22000"/>
              </a:srgbClr>
            </a:solidFill>
            <a:prstDash val="solid"/>
          </a:ln>
        </p:spPr>
      </p:sp>
      <p:sp>
        <p:nvSpPr>
          <p:cNvPr id="4" name="Shape 2"/>
          <p:cNvSpPr/>
          <p:nvPr/>
        </p:nvSpPr>
        <p:spPr>
          <a:xfrm>
            <a:off x="0" y="4480560"/>
            <a:ext cx="9144000" cy="662940"/>
          </a:xfrm>
          <a:prstGeom prst="rect">
            <a:avLst/>
          </a:prstGeom>
          <a:solidFill>
            <a:srgbClr val="2E86AB">
              <a:alpha val="15000"/>
            </a:srgbClr>
          </a:solidFill>
          <a:ln w="12700">
            <a:solidFill>
              <a:srgbClr val="2E86AB">
                <a:alpha val="15000"/>
              </a:srgbClr>
            </a:solidFill>
            <a:prstDash val="solid"/>
          </a:ln>
        </p:spPr>
      </p:sp>
      <p:sp>
        <p:nvSpPr>
          <p:cNvPr id="5" name="Text 3"/>
          <p:cNvSpPr/>
          <p:nvPr/>
        </p:nvSpPr>
        <p:spPr>
          <a:xfrm>
            <a:off x="457200" y="1005840"/>
            <a:ext cx="8229600" cy="137160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 Car Price Prediction System</a:t>
            </a:r>
            <a:endParaRPr lang="en-US" sz="3800" dirty="0"/>
          </a:p>
        </p:txBody>
      </p:sp>
      <p:sp>
        <p:nvSpPr>
          <p:cNvPr id="6" name="Text 4"/>
          <p:cNvSpPr/>
          <p:nvPr/>
        </p:nvSpPr>
        <p:spPr>
          <a:xfrm>
            <a:off x="457200" y="2606040"/>
            <a:ext cx="8229600" cy="594360"/>
          </a:xfrm>
          <a:prstGeom prst="rect">
            <a:avLst/>
          </a:prstGeom>
          <a:noFill/>
          <a:ln/>
        </p:spPr>
        <p:txBody>
          <a:bodyPr wrap="square" rtlCol="0" anchor="ctr"/>
          <a:lstStyle/>
          <a:p>
            <a:pPr marL="0" indent="0" algn="ctr">
              <a:buNone/>
            </a:pPr>
            <a:r>
              <a:rPr lang="en-US" sz="1800" i="1" dirty="0">
                <a:solidFill>
                  <a:srgbClr val="A0C4FF"/>
                </a:solidFill>
                <a:latin typeface="Calibri" pitchFamily="34" charset="0"/>
                <a:ea typeface="Calibri" pitchFamily="34" charset="-122"/>
                <a:cs typeface="Calibri" pitchFamily="34" charset="-120"/>
              </a:rPr>
              <a:t>A Machine Learning-Powered Approach to Used Car Valuation</a:t>
            </a:r>
            <a:endParaRPr lang="en-US" sz="1800" dirty="0"/>
          </a:p>
        </p:txBody>
      </p:sp>
      <p:sp>
        <p:nvSpPr>
          <p:cNvPr id="7" name="Text 5"/>
          <p:cNvSpPr/>
          <p:nvPr/>
        </p:nvSpPr>
        <p:spPr>
          <a:xfrm>
            <a:off x="457200" y="3383280"/>
            <a:ext cx="8229600" cy="457200"/>
          </a:xfrm>
          <a:prstGeom prst="rect">
            <a:avLst/>
          </a:prstGeom>
          <a:noFill/>
          <a:ln/>
        </p:spPr>
        <p:txBody>
          <a:bodyPr wrap="square" rtlCol="0" anchor="ctr"/>
          <a:lstStyle/>
          <a:p>
            <a:pPr marL="0" indent="0" algn="ctr">
              <a:buNone/>
            </a:pPr>
            <a:r>
              <a:rPr lang="en-US" sz="1400" dirty="0">
                <a:solidFill>
                  <a:srgbClr val="718096"/>
                </a:solidFill>
                <a:latin typeface="Calibri" pitchFamily="34" charset="0"/>
                <a:ea typeface="Calibri" pitchFamily="34" charset="-122"/>
                <a:cs typeface="Calibri" pitchFamily="34" charset="-120"/>
              </a:rPr>
              <a:t>Dataset  •  EDA  •  ML Model  •  Streamlit App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Table of Contents</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1005840"/>
            <a:ext cx="457200" cy="384048"/>
          </a:xfrm>
          <a:prstGeom prst="rect">
            <a:avLst/>
          </a:prstGeom>
          <a:solidFill>
            <a:srgbClr val="2E86AB"/>
          </a:solidFill>
          <a:ln w="12700">
            <a:solidFill>
              <a:srgbClr val="2E86AB"/>
            </a:solidFill>
            <a:prstDash val="solid"/>
          </a:ln>
        </p:spPr>
      </p:sp>
      <p:sp>
        <p:nvSpPr>
          <p:cNvPr id="5" name="Text 3"/>
          <p:cNvSpPr/>
          <p:nvPr/>
        </p:nvSpPr>
        <p:spPr>
          <a:xfrm>
            <a:off x="457200" y="1005840"/>
            <a:ext cx="457200" cy="384048"/>
          </a:xfrm>
          <a:prstGeom prst="rect">
            <a:avLst/>
          </a:prstGeom>
          <a:noFill/>
          <a:ln/>
        </p:spPr>
        <p:txBody>
          <a:bodyPr wrap="square" lIns="0" tIns="0" rIns="0" bIns="0" rtlCol="0" anchor="ctr"/>
          <a:lstStyle/>
          <a:p>
            <a:pPr marL="0" indent="0" algn="ctr">
              <a:buNone/>
            </a:pPr>
            <a:r>
              <a:rPr lang="en-US" sz="1400" b="1" dirty="0">
                <a:solidFill>
                  <a:srgbClr val="FFFFFF"/>
                </a:solidFill>
              </a:rPr>
              <a:t>01</a:t>
            </a:r>
            <a:endParaRPr lang="en-US" sz="1400" dirty="0"/>
          </a:p>
        </p:txBody>
      </p:sp>
      <p:sp>
        <p:nvSpPr>
          <p:cNvPr id="6" name="Text 4"/>
          <p:cNvSpPr/>
          <p:nvPr/>
        </p:nvSpPr>
        <p:spPr>
          <a:xfrm>
            <a:off x="1051560" y="1014984"/>
            <a:ext cx="3200400" cy="201168"/>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Project Overview</a:t>
            </a:r>
            <a:endParaRPr lang="en-US" sz="1400" dirty="0"/>
          </a:p>
        </p:txBody>
      </p:sp>
      <p:sp>
        <p:nvSpPr>
          <p:cNvPr id="7" name="Text 5"/>
          <p:cNvSpPr/>
          <p:nvPr/>
        </p:nvSpPr>
        <p:spPr>
          <a:xfrm>
            <a:off x="1051560" y="1207008"/>
            <a:ext cx="7315200" cy="1645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Goals, scope &amp; problem statement</a:t>
            </a:r>
            <a:endParaRPr lang="en-US" sz="1100" dirty="0"/>
          </a:p>
        </p:txBody>
      </p:sp>
      <p:sp>
        <p:nvSpPr>
          <p:cNvPr id="8" name="Shape 6"/>
          <p:cNvSpPr/>
          <p:nvPr/>
        </p:nvSpPr>
        <p:spPr>
          <a:xfrm>
            <a:off x="457200" y="1545336"/>
            <a:ext cx="457200" cy="384048"/>
          </a:xfrm>
          <a:prstGeom prst="rect">
            <a:avLst/>
          </a:prstGeom>
          <a:solidFill>
            <a:srgbClr val="2E86AB"/>
          </a:solidFill>
          <a:ln w="12700">
            <a:solidFill>
              <a:srgbClr val="2E86AB"/>
            </a:solidFill>
            <a:prstDash val="solid"/>
          </a:ln>
        </p:spPr>
      </p:sp>
      <p:sp>
        <p:nvSpPr>
          <p:cNvPr id="9" name="Text 7"/>
          <p:cNvSpPr/>
          <p:nvPr/>
        </p:nvSpPr>
        <p:spPr>
          <a:xfrm>
            <a:off x="457200" y="1545336"/>
            <a:ext cx="457200" cy="384048"/>
          </a:xfrm>
          <a:prstGeom prst="rect">
            <a:avLst/>
          </a:prstGeom>
          <a:noFill/>
          <a:ln/>
        </p:spPr>
        <p:txBody>
          <a:bodyPr wrap="square" lIns="0" tIns="0" rIns="0" bIns="0" rtlCol="0" anchor="ctr"/>
          <a:lstStyle/>
          <a:p>
            <a:pPr marL="0" indent="0" algn="ctr">
              <a:buNone/>
            </a:pPr>
            <a:r>
              <a:rPr lang="en-US" sz="1400" b="1" dirty="0">
                <a:solidFill>
                  <a:srgbClr val="FFFFFF"/>
                </a:solidFill>
              </a:rPr>
              <a:t>02</a:t>
            </a:r>
            <a:endParaRPr lang="en-US" sz="1400" dirty="0"/>
          </a:p>
        </p:txBody>
      </p:sp>
      <p:sp>
        <p:nvSpPr>
          <p:cNvPr id="10" name="Text 8"/>
          <p:cNvSpPr/>
          <p:nvPr/>
        </p:nvSpPr>
        <p:spPr>
          <a:xfrm>
            <a:off x="1051560" y="1554480"/>
            <a:ext cx="3200400" cy="201168"/>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Dataset Description</a:t>
            </a:r>
            <a:endParaRPr lang="en-US" sz="1400" dirty="0"/>
          </a:p>
        </p:txBody>
      </p:sp>
      <p:sp>
        <p:nvSpPr>
          <p:cNvPr id="11" name="Text 9"/>
          <p:cNvSpPr/>
          <p:nvPr/>
        </p:nvSpPr>
        <p:spPr>
          <a:xfrm>
            <a:off x="1051560" y="1746504"/>
            <a:ext cx="7315200" cy="1645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Source, features &amp; raw data overview</a:t>
            </a:r>
            <a:endParaRPr lang="en-US" sz="1100" dirty="0"/>
          </a:p>
        </p:txBody>
      </p:sp>
      <p:sp>
        <p:nvSpPr>
          <p:cNvPr id="12" name="Shape 10"/>
          <p:cNvSpPr/>
          <p:nvPr/>
        </p:nvSpPr>
        <p:spPr>
          <a:xfrm>
            <a:off x="457200" y="2084832"/>
            <a:ext cx="457200" cy="384048"/>
          </a:xfrm>
          <a:prstGeom prst="rect">
            <a:avLst/>
          </a:prstGeom>
          <a:solidFill>
            <a:srgbClr val="2E86AB"/>
          </a:solidFill>
          <a:ln w="12700">
            <a:solidFill>
              <a:srgbClr val="2E86AB"/>
            </a:solidFill>
            <a:prstDash val="solid"/>
          </a:ln>
        </p:spPr>
      </p:sp>
      <p:sp>
        <p:nvSpPr>
          <p:cNvPr id="13" name="Text 11"/>
          <p:cNvSpPr/>
          <p:nvPr/>
        </p:nvSpPr>
        <p:spPr>
          <a:xfrm>
            <a:off x="457200" y="2084832"/>
            <a:ext cx="457200" cy="384048"/>
          </a:xfrm>
          <a:prstGeom prst="rect">
            <a:avLst/>
          </a:prstGeom>
          <a:noFill/>
          <a:ln/>
        </p:spPr>
        <p:txBody>
          <a:bodyPr wrap="square" lIns="0" tIns="0" rIns="0" bIns="0" rtlCol="0" anchor="ctr"/>
          <a:lstStyle/>
          <a:p>
            <a:pPr marL="0" indent="0" algn="ctr">
              <a:buNone/>
            </a:pPr>
            <a:r>
              <a:rPr lang="en-US" sz="1400" b="1" dirty="0">
                <a:solidFill>
                  <a:srgbClr val="FFFFFF"/>
                </a:solidFill>
              </a:rPr>
              <a:t>03</a:t>
            </a:r>
            <a:endParaRPr lang="en-US" sz="1400" dirty="0"/>
          </a:p>
        </p:txBody>
      </p:sp>
      <p:sp>
        <p:nvSpPr>
          <p:cNvPr id="14" name="Text 12"/>
          <p:cNvSpPr/>
          <p:nvPr/>
        </p:nvSpPr>
        <p:spPr>
          <a:xfrm>
            <a:off x="1051560" y="2093976"/>
            <a:ext cx="3200400" cy="201168"/>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Data Cleaning</a:t>
            </a:r>
            <a:endParaRPr lang="en-US" sz="1400" dirty="0"/>
          </a:p>
        </p:txBody>
      </p:sp>
      <p:sp>
        <p:nvSpPr>
          <p:cNvPr id="15" name="Text 13"/>
          <p:cNvSpPr/>
          <p:nvPr/>
        </p:nvSpPr>
        <p:spPr>
          <a:xfrm>
            <a:off x="1051560" y="2286000"/>
            <a:ext cx="7315200" cy="1645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Preprocessing steps &amp; transformation</a:t>
            </a:r>
            <a:endParaRPr lang="en-US" sz="1100" dirty="0"/>
          </a:p>
        </p:txBody>
      </p:sp>
      <p:sp>
        <p:nvSpPr>
          <p:cNvPr id="16" name="Shape 14"/>
          <p:cNvSpPr/>
          <p:nvPr/>
        </p:nvSpPr>
        <p:spPr>
          <a:xfrm>
            <a:off x="457200" y="2624328"/>
            <a:ext cx="457200" cy="384048"/>
          </a:xfrm>
          <a:prstGeom prst="rect">
            <a:avLst/>
          </a:prstGeom>
          <a:solidFill>
            <a:srgbClr val="2E86AB"/>
          </a:solidFill>
          <a:ln w="12700">
            <a:solidFill>
              <a:srgbClr val="2E86AB"/>
            </a:solidFill>
            <a:prstDash val="solid"/>
          </a:ln>
        </p:spPr>
      </p:sp>
      <p:sp>
        <p:nvSpPr>
          <p:cNvPr id="17" name="Text 15"/>
          <p:cNvSpPr/>
          <p:nvPr/>
        </p:nvSpPr>
        <p:spPr>
          <a:xfrm>
            <a:off x="457200" y="2624328"/>
            <a:ext cx="457200" cy="384048"/>
          </a:xfrm>
          <a:prstGeom prst="rect">
            <a:avLst/>
          </a:prstGeom>
          <a:noFill/>
          <a:ln/>
        </p:spPr>
        <p:txBody>
          <a:bodyPr wrap="square" lIns="0" tIns="0" rIns="0" bIns="0" rtlCol="0" anchor="ctr"/>
          <a:lstStyle/>
          <a:p>
            <a:pPr marL="0" indent="0" algn="ctr">
              <a:buNone/>
            </a:pPr>
            <a:r>
              <a:rPr lang="en-US" sz="1400" b="1" dirty="0">
                <a:solidFill>
                  <a:srgbClr val="FFFFFF"/>
                </a:solidFill>
              </a:rPr>
              <a:t>04</a:t>
            </a:r>
            <a:endParaRPr lang="en-US" sz="1400" dirty="0"/>
          </a:p>
        </p:txBody>
      </p:sp>
      <p:sp>
        <p:nvSpPr>
          <p:cNvPr id="18" name="Text 16"/>
          <p:cNvSpPr/>
          <p:nvPr/>
        </p:nvSpPr>
        <p:spPr>
          <a:xfrm>
            <a:off x="1051560" y="2633472"/>
            <a:ext cx="3200400" cy="201168"/>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Exploratory Data Analysis</a:t>
            </a:r>
            <a:endParaRPr lang="en-US" sz="1400" dirty="0"/>
          </a:p>
        </p:txBody>
      </p:sp>
      <p:sp>
        <p:nvSpPr>
          <p:cNvPr id="19" name="Text 17"/>
          <p:cNvSpPr/>
          <p:nvPr/>
        </p:nvSpPr>
        <p:spPr>
          <a:xfrm>
            <a:off x="1051560" y="2825496"/>
            <a:ext cx="7315200" cy="1645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15 analytical questions &amp; visualizations</a:t>
            </a:r>
            <a:endParaRPr lang="en-US" sz="1100" dirty="0"/>
          </a:p>
        </p:txBody>
      </p:sp>
      <p:sp>
        <p:nvSpPr>
          <p:cNvPr id="20" name="Shape 18"/>
          <p:cNvSpPr/>
          <p:nvPr/>
        </p:nvSpPr>
        <p:spPr>
          <a:xfrm>
            <a:off x="457200" y="3163824"/>
            <a:ext cx="457200" cy="384048"/>
          </a:xfrm>
          <a:prstGeom prst="rect">
            <a:avLst/>
          </a:prstGeom>
          <a:solidFill>
            <a:srgbClr val="2E86AB"/>
          </a:solidFill>
          <a:ln w="12700">
            <a:solidFill>
              <a:srgbClr val="2E86AB"/>
            </a:solidFill>
            <a:prstDash val="solid"/>
          </a:ln>
        </p:spPr>
      </p:sp>
      <p:sp>
        <p:nvSpPr>
          <p:cNvPr id="21" name="Text 19"/>
          <p:cNvSpPr/>
          <p:nvPr/>
        </p:nvSpPr>
        <p:spPr>
          <a:xfrm>
            <a:off x="457200" y="3163824"/>
            <a:ext cx="457200" cy="384048"/>
          </a:xfrm>
          <a:prstGeom prst="rect">
            <a:avLst/>
          </a:prstGeom>
          <a:noFill/>
          <a:ln/>
        </p:spPr>
        <p:txBody>
          <a:bodyPr wrap="square" lIns="0" tIns="0" rIns="0" bIns="0" rtlCol="0" anchor="ctr"/>
          <a:lstStyle/>
          <a:p>
            <a:pPr marL="0" indent="0" algn="ctr">
              <a:buNone/>
            </a:pPr>
            <a:r>
              <a:rPr lang="en-US" sz="1400" b="1" dirty="0">
                <a:solidFill>
                  <a:srgbClr val="FFFFFF"/>
                </a:solidFill>
              </a:rPr>
              <a:t>05</a:t>
            </a:r>
            <a:endParaRPr lang="en-US" sz="1400" dirty="0"/>
          </a:p>
        </p:txBody>
      </p:sp>
      <p:sp>
        <p:nvSpPr>
          <p:cNvPr id="22" name="Text 20"/>
          <p:cNvSpPr/>
          <p:nvPr/>
        </p:nvSpPr>
        <p:spPr>
          <a:xfrm>
            <a:off x="1051560" y="3172968"/>
            <a:ext cx="3200400" cy="201168"/>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ML Model</a:t>
            </a:r>
            <a:endParaRPr lang="en-US" sz="1400" dirty="0"/>
          </a:p>
        </p:txBody>
      </p:sp>
      <p:sp>
        <p:nvSpPr>
          <p:cNvPr id="23" name="Text 21"/>
          <p:cNvSpPr/>
          <p:nvPr/>
        </p:nvSpPr>
        <p:spPr>
          <a:xfrm>
            <a:off x="1051560" y="3364992"/>
            <a:ext cx="7315200" cy="1645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Random Forest Regressor approach</a:t>
            </a:r>
            <a:endParaRPr lang="en-US" sz="1100" dirty="0"/>
          </a:p>
        </p:txBody>
      </p:sp>
      <p:sp>
        <p:nvSpPr>
          <p:cNvPr id="24" name="Shape 22"/>
          <p:cNvSpPr/>
          <p:nvPr/>
        </p:nvSpPr>
        <p:spPr>
          <a:xfrm>
            <a:off x="457200" y="3703320"/>
            <a:ext cx="457200" cy="384048"/>
          </a:xfrm>
          <a:prstGeom prst="rect">
            <a:avLst/>
          </a:prstGeom>
          <a:solidFill>
            <a:srgbClr val="2E86AB"/>
          </a:solidFill>
          <a:ln w="12700">
            <a:solidFill>
              <a:srgbClr val="2E86AB"/>
            </a:solidFill>
            <a:prstDash val="solid"/>
          </a:ln>
        </p:spPr>
      </p:sp>
      <p:sp>
        <p:nvSpPr>
          <p:cNvPr id="25" name="Text 23"/>
          <p:cNvSpPr/>
          <p:nvPr/>
        </p:nvSpPr>
        <p:spPr>
          <a:xfrm>
            <a:off x="457200" y="3703320"/>
            <a:ext cx="457200" cy="384048"/>
          </a:xfrm>
          <a:prstGeom prst="rect">
            <a:avLst/>
          </a:prstGeom>
          <a:noFill/>
          <a:ln/>
        </p:spPr>
        <p:txBody>
          <a:bodyPr wrap="square" lIns="0" tIns="0" rIns="0" bIns="0" rtlCol="0" anchor="ctr"/>
          <a:lstStyle/>
          <a:p>
            <a:pPr marL="0" indent="0" algn="ctr">
              <a:buNone/>
            </a:pPr>
            <a:r>
              <a:rPr lang="en-US" sz="1400" b="1" dirty="0">
                <a:solidFill>
                  <a:srgbClr val="FFFFFF"/>
                </a:solidFill>
              </a:rPr>
              <a:t>06</a:t>
            </a:r>
            <a:endParaRPr lang="en-US" sz="1400" dirty="0"/>
          </a:p>
        </p:txBody>
      </p:sp>
      <p:sp>
        <p:nvSpPr>
          <p:cNvPr id="26" name="Text 24"/>
          <p:cNvSpPr/>
          <p:nvPr/>
        </p:nvSpPr>
        <p:spPr>
          <a:xfrm>
            <a:off x="1051560" y="3712464"/>
            <a:ext cx="3200400" cy="201168"/>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Streamlit App</a:t>
            </a:r>
            <a:endParaRPr lang="en-US" sz="1400" dirty="0"/>
          </a:p>
        </p:txBody>
      </p:sp>
      <p:sp>
        <p:nvSpPr>
          <p:cNvPr id="27" name="Text 25"/>
          <p:cNvSpPr/>
          <p:nvPr/>
        </p:nvSpPr>
        <p:spPr>
          <a:xfrm>
            <a:off x="1051560" y="3904488"/>
            <a:ext cx="7315200" cy="1645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Live interactive price predictor</a:t>
            </a:r>
            <a:endParaRPr lang="en-US" sz="1100" dirty="0"/>
          </a:p>
        </p:txBody>
      </p:sp>
      <p:sp>
        <p:nvSpPr>
          <p:cNvPr id="28" name="Shape 26"/>
          <p:cNvSpPr/>
          <p:nvPr/>
        </p:nvSpPr>
        <p:spPr>
          <a:xfrm>
            <a:off x="457200" y="4242816"/>
            <a:ext cx="457200" cy="384048"/>
          </a:xfrm>
          <a:prstGeom prst="rect">
            <a:avLst/>
          </a:prstGeom>
          <a:solidFill>
            <a:srgbClr val="2E86AB"/>
          </a:solidFill>
          <a:ln w="12700">
            <a:solidFill>
              <a:srgbClr val="2E86AB"/>
            </a:solidFill>
            <a:prstDash val="solid"/>
          </a:ln>
        </p:spPr>
      </p:sp>
      <p:sp>
        <p:nvSpPr>
          <p:cNvPr id="29" name="Text 27"/>
          <p:cNvSpPr/>
          <p:nvPr/>
        </p:nvSpPr>
        <p:spPr>
          <a:xfrm>
            <a:off x="457200" y="4242816"/>
            <a:ext cx="457200" cy="384048"/>
          </a:xfrm>
          <a:prstGeom prst="rect">
            <a:avLst/>
          </a:prstGeom>
          <a:noFill/>
          <a:ln/>
        </p:spPr>
        <p:txBody>
          <a:bodyPr wrap="square" lIns="0" tIns="0" rIns="0" bIns="0" rtlCol="0" anchor="ctr"/>
          <a:lstStyle/>
          <a:p>
            <a:pPr marL="0" indent="0" algn="ctr">
              <a:buNone/>
            </a:pPr>
            <a:r>
              <a:rPr lang="en-US" sz="1400" b="1" dirty="0">
                <a:solidFill>
                  <a:srgbClr val="FFFFFF"/>
                </a:solidFill>
              </a:rPr>
              <a:t>07</a:t>
            </a:r>
            <a:endParaRPr lang="en-US" sz="1400" dirty="0"/>
          </a:p>
        </p:txBody>
      </p:sp>
      <p:sp>
        <p:nvSpPr>
          <p:cNvPr id="30" name="Text 28"/>
          <p:cNvSpPr/>
          <p:nvPr/>
        </p:nvSpPr>
        <p:spPr>
          <a:xfrm>
            <a:off x="1051560" y="4251960"/>
            <a:ext cx="3200400" cy="201168"/>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Results &amp; Conclusion</a:t>
            </a:r>
            <a:endParaRPr lang="en-US" sz="1400" dirty="0"/>
          </a:p>
        </p:txBody>
      </p:sp>
      <p:sp>
        <p:nvSpPr>
          <p:cNvPr id="31" name="Text 29"/>
          <p:cNvSpPr/>
          <p:nvPr/>
        </p:nvSpPr>
        <p:spPr>
          <a:xfrm>
            <a:off x="1051560" y="4443984"/>
            <a:ext cx="7315200" cy="1645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Key findings &amp; future scope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7498080" y="-457200"/>
            <a:ext cx="2743200" cy="2743200"/>
          </a:xfrm>
          <a:prstGeom prst="ellipse">
            <a:avLst/>
          </a:prstGeom>
          <a:solidFill>
            <a:srgbClr val="2E86AB">
              <a:alpha val="25000"/>
            </a:srgbClr>
          </a:solidFill>
          <a:ln w="12700">
            <a:solidFill>
              <a:srgbClr val="2E86AB">
                <a:alpha val="25000"/>
              </a:srgbClr>
            </a:solidFill>
            <a:prstDash val="solid"/>
          </a:ln>
        </p:spPr>
      </p:sp>
      <p:sp>
        <p:nvSpPr>
          <p:cNvPr id="3" name="Text 1"/>
          <p:cNvSpPr/>
          <p:nvPr/>
        </p:nvSpPr>
        <p:spPr>
          <a:xfrm>
            <a:off x="640080" y="822960"/>
            <a:ext cx="3657600" cy="457200"/>
          </a:xfrm>
          <a:prstGeom prst="rect">
            <a:avLst/>
          </a:prstGeom>
          <a:noFill/>
          <a:ln/>
        </p:spPr>
        <p:txBody>
          <a:bodyPr wrap="square" rtlCol="0" anchor="ctr"/>
          <a:lstStyle/>
          <a:p>
            <a:pPr marL="0" indent="0">
              <a:buNone/>
            </a:pPr>
            <a:r>
              <a:rPr lang="en-US" sz="1400" i="1" dirty="0">
                <a:solidFill>
                  <a:srgbClr val="A0C4FF"/>
                </a:solidFill>
                <a:latin typeface="Calibri" pitchFamily="34" charset="0"/>
                <a:ea typeface="Calibri" pitchFamily="34" charset="-122"/>
                <a:cs typeface="Calibri" pitchFamily="34" charset="-120"/>
              </a:rPr>
              <a:t>Section 01</a:t>
            </a:r>
            <a:endParaRPr lang="en-US" sz="1400" dirty="0"/>
          </a:p>
        </p:txBody>
      </p:sp>
      <p:sp>
        <p:nvSpPr>
          <p:cNvPr id="4" name="Text 2"/>
          <p:cNvSpPr/>
          <p:nvPr/>
        </p:nvSpPr>
        <p:spPr>
          <a:xfrm>
            <a:off x="640080" y="1371600"/>
            <a:ext cx="7589520" cy="10972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Project Overview</a:t>
            </a:r>
            <a:endParaRPr lang="en-US" sz="3600" dirty="0"/>
          </a:p>
        </p:txBody>
      </p:sp>
      <p:sp>
        <p:nvSpPr>
          <p:cNvPr id="5" name="Text 3"/>
          <p:cNvSpPr/>
          <p:nvPr/>
        </p:nvSpPr>
        <p:spPr>
          <a:xfrm>
            <a:off x="640080" y="2651760"/>
            <a:ext cx="6400800" cy="640080"/>
          </a:xfrm>
          <a:prstGeom prst="rect">
            <a:avLst/>
          </a:prstGeom>
          <a:noFill/>
          <a:ln/>
        </p:spPr>
        <p:txBody>
          <a:bodyPr wrap="square" rtlCol="0" anchor="ctr"/>
          <a:lstStyle/>
          <a:p>
            <a:pPr marL="0" indent="0">
              <a:buNone/>
            </a:pPr>
            <a:r>
              <a:rPr lang="en-US" sz="1600" dirty="0">
                <a:solidFill>
                  <a:srgbClr val="D6EAF8"/>
                </a:solidFill>
                <a:latin typeface="Calibri" pitchFamily="34" charset="0"/>
                <a:ea typeface="Calibri" pitchFamily="34" charset="-122"/>
                <a:cs typeface="Calibri" pitchFamily="34" charset="-120"/>
              </a:rPr>
              <a:t>Problem statement, objectives &amp; scope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Problem Statement</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960120"/>
            <a:ext cx="8229600" cy="1554480"/>
          </a:xfrm>
          <a:prstGeom prst="rect">
            <a:avLst/>
          </a:prstGeom>
          <a:solidFill>
            <a:srgbClr val="EBF5FB"/>
          </a:solidFill>
          <a:ln/>
          <a:effectLst>
            <a:outerShdw blurRad="63500" dist="25400" dir="8100000" algn="bl" rotWithShape="0">
              <a:srgbClr val="000000">
                <a:alpha val="8000"/>
              </a:srgbClr>
            </a:outerShdw>
          </a:effectLst>
        </p:spPr>
      </p:sp>
      <p:sp>
        <p:nvSpPr>
          <p:cNvPr id="5" name="Text 3"/>
          <p:cNvSpPr/>
          <p:nvPr/>
        </p:nvSpPr>
        <p:spPr>
          <a:xfrm>
            <a:off x="640080" y="1024128"/>
            <a:ext cx="7863840" cy="1371600"/>
          </a:xfrm>
          <a:prstGeom prst="rect">
            <a:avLst/>
          </a:prstGeom>
          <a:noFill/>
          <a:ln/>
        </p:spPr>
        <p:txBody>
          <a:bodyPr wrap="square" rtlCol="0" anchor="ctr"/>
          <a:lstStyle/>
          <a:p>
            <a:pPr marL="0" indent="0" algn="l">
              <a:buNone/>
            </a:pPr>
            <a:r>
              <a:rPr lang="en-US" sz="1600" dirty="0">
                <a:solidFill>
                  <a:srgbClr val="0D1B2A"/>
                </a:solidFill>
                <a:latin typeface="Calibri" pitchFamily="34" charset="0"/>
                <a:ea typeface="Calibri" pitchFamily="34" charset="-122"/>
                <a:cs typeface="Calibri" pitchFamily="34" charset="-120"/>
              </a:rPr>
              <a:t>The Indian used car market is rapidly growing, but buyers and sellers struggle to determine fair market prices due to high variability across brands, models, age, fuel type, and ownership history.</a:t>
            </a:r>
            <a:endParaRPr lang="en-US" sz="1600" dirty="0"/>
          </a:p>
        </p:txBody>
      </p:sp>
      <p:sp>
        <p:nvSpPr>
          <p:cNvPr id="6" name="Shape 4"/>
          <p:cNvSpPr/>
          <p:nvPr/>
        </p:nvSpPr>
        <p:spPr>
          <a:xfrm>
            <a:off x="457200" y="2697480"/>
            <a:ext cx="4160520" cy="804672"/>
          </a:xfrm>
          <a:prstGeom prst="rect">
            <a:avLst/>
          </a:prstGeom>
          <a:solidFill>
            <a:srgbClr val="FFFFFF"/>
          </a:solidFill>
          <a:ln/>
          <a:effectLst>
            <a:outerShdw blurRad="50800" dist="12700" dir="8100000" algn="bl" rotWithShape="0">
              <a:srgbClr val="000000">
                <a:alpha val="9000"/>
              </a:srgbClr>
            </a:outerShdw>
          </a:effectLst>
        </p:spPr>
      </p:sp>
      <p:sp>
        <p:nvSpPr>
          <p:cNvPr id="7" name="Text 5"/>
          <p:cNvSpPr/>
          <p:nvPr/>
        </p:nvSpPr>
        <p:spPr>
          <a:xfrm>
            <a:off x="594360" y="2761488"/>
            <a:ext cx="3840480" cy="228600"/>
          </a:xfrm>
          <a:prstGeom prst="rect">
            <a:avLst/>
          </a:prstGeom>
          <a:noFill/>
          <a:ln/>
        </p:spPr>
        <p:txBody>
          <a:bodyPr wrap="square" lIns="0" tIns="0" rIns="0" bIns="0" rtlCol="0" anchor="ctr"/>
          <a:lstStyle/>
          <a:p>
            <a:pPr marL="0" indent="0">
              <a:buNone/>
            </a:pPr>
            <a:r>
              <a:rPr lang="en-US" sz="1200" b="1" dirty="0">
                <a:solidFill>
                  <a:srgbClr val="2E86AB"/>
                </a:solidFill>
                <a:latin typeface="Calibri" pitchFamily="34" charset="0"/>
                <a:ea typeface="Calibri" pitchFamily="34" charset="-122"/>
                <a:cs typeface="Calibri" pitchFamily="34" charset="-120"/>
              </a:rPr>
              <a:t>❓ Challenge</a:t>
            </a:r>
            <a:endParaRPr lang="en-US" sz="1200" dirty="0"/>
          </a:p>
        </p:txBody>
      </p:sp>
      <p:sp>
        <p:nvSpPr>
          <p:cNvPr id="8" name="Text 6"/>
          <p:cNvSpPr/>
          <p:nvPr/>
        </p:nvSpPr>
        <p:spPr>
          <a:xfrm>
            <a:off x="594360" y="2999232"/>
            <a:ext cx="393192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Price varies widely — from ₹15,000 to ₹4.25 Cr across 8,800+ listings</a:t>
            </a:r>
            <a:endParaRPr lang="en-US" sz="1200" dirty="0"/>
          </a:p>
        </p:txBody>
      </p:sp>
      <p:sp>
        <p:nvSpPr>
          <p:cNvPr id="9" name="Shape 7"/>
          <p:cNvSpPr/>
          <p:nvPr/>
        </p:nvSpPr>
        <p:spPr>
          <a:xfrm>
            <a:off x="457200" y="3657600"/>
            <a:ext cx="4160520" cy="804672"/>
          </a:xfrm>
          <a:prstGeom prst="rect">
            <a:avLst/>
          </a:prstGeom>
          <a:solidFill>
            <a:srgbClr val="FFFFFF"/>
          </a:solidFill>
          <a:ln/>
          <a:effectLst>
            <a:outerShdw blurRad="50800" dist="12700" dir="8100000" algn="bl" rotWithShape="0">
              <a:srgbClr val="000000">
                <a:alpha val="9000"/>
              </a:srgbClr>
            </a:outerShdw>
          </a:effectLst>
        </p:spPr>
      </p:sp>
      <p:sp>
        <p:nvSpPr>
          <p:cNvPr id="10" name="Text 8"/>
          <p:cNvSpPr/>
          <p:nvPr/>
        </p:nvSpPr>
        <p:spPr>
          <a:xfrm>
            <a:off x="594360" y="3721608"/>
            <a:ext cx="3840480" cy="228600"/>
          </a:xfrm>
          <a:prstGeom prst="rect">
            <a:avLst/>
          </a:prstGeom>
          <a:noFill/>
          <a:ln/>
        </p:spPr>
        <p:txBody>
          <a:bodyPr wrap="square" lIns="0" tIns="0" rIns="0" bIns="0" rtlCol="0" anchor="ctr"/>
          <a:lstStyle/>
          <a:p>
            <a:pPr marL="0" indent="0">
              <a:buNone/>
            </a:pPr>
            <a:r>
              <a:rPr lang="en-US" sz="1200" b="1" dirty="0">
                <a:solidFill>
                  <a:srgbClr val="2E86AB"/>
                </a:solidFill>
                <a:latin typeface="Calibri" pitchFamily="34" charset="0"/>
                <a:ea typeface="Calibri" pitchFamily="34" charset="-122"/>
                <a:cs typeface="Calibri" pitchFamily="34" charset="-120"/>
              </a:rPr>
              <a:t>🎯 Goal</a:t>
            </a:r>
            <a:endParaRPr lang="en-US" sz="1200" dirty="0"/>
          </a:p>
        </p:txBody>
      </p:sp>
      <p:sp>
        <p:nvSpPr>
          <p:cNvPr id="11" name="Text 9"/>
          <p:cNvSpPr/>
          <p:nvPr/>
        </p:nvSpPr>
        <p:spPr>
          <a:xfrm>
            <a:off x="594360" y="3959352"/>
            <a:ext cx="393192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Build an ML model to predict used car prices accurately</a:t>
            </a:r>
            <a:endParaRPr lang="en-US" sz="1200" dirty="0"/>
          </a:p>
        </p:txBody>
      </p:sp>
      <p:sp>
        <p:nvSpPr>
          <p:cNvPr id="12" name="Shape 10"/>
          <p:cNvSpPr/>
          <p:nvPr/>
        </p:nvSpPr>
        <p:spPr>
          <a:xfrm>
            <a:off x="4800600" y="2697480"/>
            <a:ext cx="4160520" cy="804672"/>
          </a:xfrm>
          <a:prstGeom prst="rect">
            <a:avLst/>
          </a:prstGeom>
          <a:solidFill>
            <a:srgbClr val="FFFFFF"/>
          </a:solidFill>
          <a:ln/>
          <a:effectLst>
            <a:outerShdw blurRad="50800" dist="12700" dir="8100000" algn="bl" rotWithShape="0">
              <a:srgbClr val="000000">
                <a:alpha val="9000"/>
              </a:srgbClr>
            </a:outerShdw>
          </a:effectLst>
        </p:spPr>
      </p:sp>
      <p:sp>
        <p:nvSpPr>
          <p:cNvPr id="13" name="Text 11"/>
          <p:cNvSpPr/>
          <p:nvPr/>
        </p:nvSpPr>
        <p:spPr>
          <a:xfrm>
            <a:off x="4937760" y="2761488"/>
            <a:ext cx="3840480" cy="228600"/>
          </a:xfrm>
          <a:prstGeom prst="rect">
            <a:avLst/>
          </a:prstGeom>
          <a:noFill/>
          <a:ln/>
        </p:spPr>
        <p:txBody>
          <a:bodyPr wrap="square" lIns="0" tIns="0" rIns="0" bIns="0" rtlCol="0" anchor="ctr"/>
          <a:lstStyle/>
          <a:p>
            <a:pPr marL="0" indent="0">
              <a:buNone/>
            </a:pPr>
            <a:r>
              <a:rPr lang="en-US" sz="1200" b="1" dirty="0">
                <a:solidFill>
                  <a:srgbClr val="2E86AB"/>
                </a:solidFill>
                <a:latin typeface="Calibri" pitchFamily="34" charset="0"/>
                <a:ea typeface="Calibri" pitchFamily="34" charset="-122"/>
                <a:cs typeface="Calibri" pitchFamily="34" charset="-120"/>
              </a:rPr>
              <a:t>🛠️ Solution</a:t>
            </a:r>
            <a:endParaRPr lang="en-US" sz="1200" dirty="0"/>
          </a:p>
        </p:txBody>
      </p:sp>
      <p:sp>
        <p:nvSpPr>
          <p:cNvPr id="14" name="Text 12"/>
          <p:cNvSpPr/>
          <p:nvPr/>
        </p:nvSpPr>
        <p:spPr>
          <a:xfrm>
            <a:off x="4937760" y="2999232"/>
            <a:ext cx="393192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Random Forest Regressor trained on real Indian used car data</a:t>
            </a:r>
            <a:endParaRPr lang="en-US" sz="1200" dirty="0"/>
          </a:p>
        </p:txBody>
      </p:sp>
      <p:sp>
        <p:nvSpPr>
          <p:cNvPr id="15" name="Shape 13"/>
          <p:cNvSpPr/>
          <p:nvPr/>
        </p:nvSpPr>
        <p:spPr>
          <a:xfrm>
            <a:off x="4800600" y="3657600"/>
            <a:ext cx="4160520" cy="804672"/>
          </a:xfrm>
          <a:prstGeom prst="rect">
            <a:avLst/>
          </a:prstGeom>
          <a:solidFill>
            <a:srgbClr val="FFFFFF"/>
          </a:solidFill>
          <a:ln/>
          <a:effectLst>
            <a:outerShdw blurRad="50800" dist="12700" dir="8100000" algn="bl" rotWithShape="0">
              <a:srgbClr val="000000">
                <a:alpha val="9000"/>
              </a:srgbClr>
            </a:outerShdw>
          </a:effectLst>
        </p:spPr>
      </p:sp>
      <p:sp>
        <p:nvSpPr>
          <p:cNvPr id="16" name="Text 14"/>
          <p:cNvSpPr/>
          <p:nvPr/>
        </p:nvSpPr>
        <p:spPr>
          <a:xfrm>
            <a:off x="4937760" y="3721608"/>
            <a:ext cx="3840480" cy="228600"/>
          </a:xfrm>
          <a:prstGeom prst="rect">
            <a:avLst/>
          </a:prstGeom>
          <a:noFill/>
          <a:ln/>
        </p:spPr>
        <p:txBody>
          <a:bodyPr wrap="square" lIns="0" tIns="0" rIns="0" bIns="0" rtlCol="0" anchor="ctr"/>
          <a:lstStyle/>
          <a:p>
            <a:pPr marL="0" indent="0">
              <a:buNone/>
            </a:pPr>
            <a:r>
              <a:rPr lang="en-US" sz="1200" b="1" dirty="0">
                <a:solidFill>
                  <a:srgbClr val="2E86AB"/>
                </a:solidFill>
                <a:latin typeface="Calibri" pitchFamily="34" charset="0"/>
                <a:ea typeface="Calibri" pitchFamily="34" charset="-122"/>
                <a:cs typeface="Calibri" pitchFamily="34" charset="-120"/>
              </a:rPr>
              <a:t>📱 Delivery</a:t>
            </a:r>
            <a:endParaRPr lang="en-US" sz="1200" dirty="0"/>
          </a:p>
        </p:txBody>
      </p:sp>
      <p:sp>
        <p:nvSpPr>
          <p:cNvPr id="17" name="Text 15"/>
          <p:cNvSpPr/>
          <p:nvPr/>
        </p:nvSpPr>
        <p:spPr>
          <a:xfrm>
            <a:off x="4937760" y="3959352"/>
            <a:ext cx="393192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Interactive Streamlit web app for real-time price prediction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Project Objectives</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1069848"/>
            <a:ext cx="457200" cy="457200"/>
          </a:xfrm>
          <a:prstGeom prst="ellipse">
            <a:avLst/>
          </a:prstGeom>
          <a:solidFill>
            <a:srgbClr val="2E86AB"/>
          </a:solidFill>
          <a:ln w="12700">
            <a:solidFill>
              <a:srgbClr val="2E86AB"/>
            </a:solidFill>
            <a:prstDash val="solid"/>
          </a:ln>
        </p:spPr>
      </p:sp>
      <p:sp>
        <p:nvSpPr>
          <p:cNvPr id="5" name="Text 3"/>
          <p:cNvSpPr/>
          <p:nvPr/>
        </p:nvSpPr>
        <p:spPr>
          <a:xfrm>
            <a:off x="457200" y="1069848"/>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6" name="Text 4"/>
          <p:cNvSpPr/>
          <p:nvPr/>
        </p:nvSpPr>
        <p:spPr>
          <a:xfrm>
            <a:off x="1097280" y="1069848"/>
            <a:ext cx="4114800" cy="256032"/>
          </a:xfrm>
          <a:prstGeom prst="rect">
            <a:avLst/>
          </a:prstGeom>
          <a:noFill/>
          <a:ln/>
        </p:spPr>
        <p:txBody>
          <a:bodyPr wrap="square" lIns="0" tIns="0" rIns="0" bIns="0"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Perform comprehensive EDA</a:t>
            </a:r>
            <a:endParaRPr lang="en-US" sz="1500" dirty="0"/>
          </a:p>
        </p:txBody>
      </p:sp>
      <p:sp>
        <p:nvSpPr>
          <p:cNvPr id="7" name="Text 5"/>
          <p:cNvSpPr/>
          <p:nvPr/>
        </p:nvSpPr>
        <p:spPr>
          <a:xfrm>
            <a:off x="1097280" y="1335024"/>
            <a:ext cx="7315200" cy="25603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Answer 15 business questions from real data</a:t>
            </a:r>
            <a:endParaRPr lang="en-US" sz="1200" dirty="0"/>
          </a:p>
        </p:txBody>
      </p:sp>
      <p:sp>
        <p:nvSpPr>
          <p:cNvPr id="8" name="Shape 6"/>
          <p:cNvSpPr/>
          <p:nvPr/>
        </p:nvSpPr>
        <p:spPr>
          <a:xfrm>
            <a:off x="457200" y="1837944"/>
            <a:ext cx="457200" cy="457200"/>
          </a:xfrm>
          <a:prstGeom prst="ellipse">
            <a:avLst/>
          </a:prstGeom>
          <a:solidFill>
            <a:srgbClr val="2E86AB"/>
          </a:solidFill>
          <a:ln w="12700">
            <a:solidFill>
              <a:srgbClr val="2E86AB"/>
            </a:solidFill>
            <a:prstDash val="solid"/>
          </a:ln>
        </p:spPr>
      </p:sp>
      <p:sp>
        <p:nvSpPr>
          <p:cNvPr id="9" name="Text 7"/>
          <p:cNvSpPr/>
          <p:nvPr/>
        </p:nvSpPr>
        <p:spPr>
          <a:xfrm>
            <a:off x="457200" y="1837944"/>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0" name="Text 8"/>
          <p:cNvSpPr/>
          <p:nvPr/>
        </p:nvSpPr>
        <p:spPr>
          <a:xfrm>
            <a:off x="1097280" y="1837944"/>
            <a:ext cx="4114800" cy="256032"/>
          </a:xfrm>
          <a:prstGeom prst="rect">
            <a:avLst/>
          </a:prstGeom>
          <a:noFill/>
          <a:ln/>
        </p:spPr>
        <p:txBody>
          <a:bodyPr wrap="square" lIns="0" tIns="0" rIns="0" bIns="0"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Clean &amp; preprocess raw data</a:t>
            </a:r>
            <a:endParaRPr lang="en-US" sz="1500" dirty="0"/>
          </a:p>
        </p:txBody>
      </p:sp>
      <p:sp>
        <p:nvSpPr>
          <p:cNvPr id="11" name="Text 9"/>
          <p:cNvSpPr/>
          <p:nvPr/>
        </p:nvSpPr>
        <p:spPr>
          <a:xfrm>
            <a:off x="1097280" y="2103120"/>
            <a:ext cx="7315200" cy="25603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Handle missing values, outliers &amp; encoding</a:t>
            </a:r>
            <a:endParaRPr lang="en-US" sz="1200" dirty="0"/>
          </a:p>
        </p:txBody>
      </p:sp>
      <p:sp>
        <p:nvSpPr>
          <p:cNvPr id="12" name="Shape 10"/>
          <p:cNvSpPr/>
          <p:nvPr/>
        </p:nvSpPr>
        <p:spPr>
          <a:xfrm>
            <a:off x="457200" y="2606040"/>
            <a:ext cx="457200" cy="457200"/>
          </a:xfrm>
          <a:prstGeom prst="ellipse">
            <a:avLst/>
          </a:prstGeom>
          <a:solidFill>
            <a:srgbClr val="2E86AB"/>
          </a:solidFill>
          <a:ln w="12700">
            <a:solidFill>
              <a:srgbClr val="2E86AB"/>
            </a:solidFill>
            <a:prstDash val="solid"/>
          </a:ln>
        </p:spPr>
      </p:sp>
      <p:sp>
        <p:nvSpPr>
          <p:cNvPr id="13" name="Text 11"/>
          <p:cNvSpPr/>
          <p:nvPr/>
        </p:nvSpPr>
        <p:spPr>
          <a:xfrm>
            <a:off x="457200" y="260604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1097280" y="2606040"/>
            <a:ext cx="4114800" cy="256032"/>
          </a:xfrm>
          <a:prstGeom prst="rect">
            <a:avLst/>
          </a:prstGeom>
          <a:noFill/>
          <a:ln/>
        </p:spPr>
        <p:txBody>
          <a:bodyPr wrap="square" lIns="0" tIns="0" rIns="0" bIns="0"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Train ML model</a:t>
            </a:r>
            <a:endParaRPr lang="en-US" sz="1500" dirty="0"/>
          </a:p>
        </p:txBody>
      </p:sp>
      <p:sp>
        <p:nvSpPr>
          <p:cNvPr id="15" name="Text 13"/>
          <p:cNvSpPr/>
          <p:nvPr/>
        </p:nvSpPr>
        <p:spPr>
          <a:xfrm>
            <a:off x="1097280" y="2871216"/>
            <a:ext cx="7315200" cy="25603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Achieve high R² accuracy with Random Forest</a:t>
            </a:r>
            <a:endParaRPr lang="en-US" sz="1200" dirty="0"/>
          </a:p>
        </p:txBody>
      </p:sp>
      <p:sp>
        <p:nvSpPr>
          <p:cNvPr id="16" name="Shape 14"/>
          <p:cNvSpPr/>
          <p:nvPr/>
        </p:nvSpPr>
        <p:spPr>
          <a:xfrm>
            <a:off x="457200" y="3374136"/>
            <a:ext cx="457200" cy="457200"/>
          </a:xfrm>
          <a:prstGeom prst="ellipse">
            <a:avLst/>
          </a:prstGeom>
          <a:solidFill>
            <a:srgbClr val="2E86AB"/>
          </a:solidFill>
          <a:ln w="12700">
            <a:solidFill>
              <a:srgbClr val="2E86AB"/>
            </a:solidFill>
            <a:prstDash val="solid"/>
          </a:ln>
        </p:spPr>
      </p:sp>
      <p:sp>
        <p:nvSpPr>
          <p:cNvPr id="17" name="Text 15"/>
          <p:cNvSpPr/>
          <p:nvPr/>
        </p:nvSpPr>
        <p:spPr>
          <a:xfrm>
            <a:off x="457200" y="3374136"/>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1097280" y="3374136"/>
            <a:ext cx="4114800" cy="256032"/>
          </a:xfrm>
          <a:prstGeom prst="rect">
            <a:avLst/>
          </a:prstGeom>
          <a:noFill/>
          <a:ln/>
        </p:spPr>
        <p:txBody>
          <a:bodyPr wrap="square" lIns="0" tIns="0" rIns="0" bIns="0"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Build Streamlit application</a:t>
            </a:r>
            <a:endParaRPr lang="en-US" sz="1500" dirty="0"/>
          </a:p>
        </p:txBody>
      </p:sp>
      <p:sp>
        <p:nvSpPr>
          <p:cNvPr id="19" name="Text 17"/>
          <p:cNvSpPr/>
          <p:nvPr/>
        </p:nvSpPr>
        <p:spPr>
          <a:xfrm>
            <a:off x="1097280" y="3639312"/>
            <a:ext cx="7315200" cy="25603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Real-time price predictions with user-friendly UI</a:t>
            </a:r>
            <a:endParaRPr lang="en-US" sz="1200" dirty="0"/>
          </a:p>
        </p:txBody>
      </p:sp>
      <p:sp>
        <p:nvSpPr>
          <p:cNvPr id="20" name="Shape 18"/>
          <p:cNvSpPr/>
          <p:nvPr/>
        </p:nvSpPr>
        <p:spPr>
          <a:xfrm>
            <a:off x="457200" y="4142232"/>
            <a:ext cx="457200" cy="457200"/>
          </a:xfrm>
          <a:prstGeom prst="ellipse">
            <a:avLst/>
          </a:prstGeom>
          <a:solidFill>
            <a:srgbClr val="2E86AB"/>
          </a:solidFill>
          <a:ln w="12700">
            <a:solidFill>
              <a:srgbClr val="2E86AB"/>
            </a:solidFill>
            <a:prstDash val="solid"/>
          </a:ln>
        </p:spPr>
      </p:sp>
      <p:sp>
        <p:nvSpPr>
          <p:cNvPr id="21" name="Text 19"/>
          <p:cNvSpPr/>
          <p:nvPr/>
        </p:nvSpPr>
        <p:spPr>
          <a:xfrm>
            <a:off x="457200" y="4142232"/>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2" name="Text 20"/>
          <p:cNvSpPr/>
          <p:nvPr/>
        </p:nvSpPr>
        <p:spPr>
          <a:xfrm>
            <a:off x="1097280" y="4142232"/>
            <a:ext cx="4114800" cy="256032"/>
          </a:xfrm>
          <a:prstGeom prst="rect">
            <a:avLst/>
          </a:prstGeom>
          <a:noFill/>
          <a:ln/>
        </p:spPr>
        <p:txBody>
          <a:bodyPr wrap="square" lIns="0" tIns="0" rIns="0" bIns="0"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Generate business insights</a:t>
            </a:r>
            <a:endParaRPr lang="en-US" sz="1500" dirty="0"/>
          </a:p>
        </p:txBody>
      </p:sp>
      <p:sp>
        <p:nvSpPr>
          <p:cNvPr id="23" name="Text 21"/>
          <p:cNvSpPr/>
          <p:nvPr/>
        </p:nvSpPr>
        <p:spPr>
          <a:xfrm>
            <a:off x="1097280" y="4407408"/>
            <a:ext cx="7315200" cy="25603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Identify key price drivers in the used car market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7498080" y="-457200"/>
            <a:ext cx="2743200" cy="2743200"/>
          </a:xfrm>
          <a:prstGeom prst="ellipse">
            <a:avLst/>
          </a:prstGeom>
          <a:solidFill>
            <a:srgbClr val="2E86AB">
              <a:alpha val="25000"/>
            </a:srgbClr>
          </a:solidFill>
          <a:ln w="12700">
            <a:solidFill>
              <a:srgbClr val="2E86AB">
                <a:alpha val="25000"/>
              </a:srgbClr>
            </a:solidFill>
            <a:prstDash val="solid"/>
          </a:ln>
        </p:spPr>
      </p:sp>
      <p:sp>
        <p:nvSpPr>
          <p:cNvPr id="3" name="Text 1"/>
          <p:cNvSpPr/>
          <p:nvPr/>
        </p:nvSpPr>
        <p:spPr>
          <a:xfrm>
            <a:off x="640080" y="822960"/>
            <a:ext cx="3657600" cy="457200"/>
          </a:xfrm>
          <a:prstGeom prst="rect">
            <a:avLst/>
          </a:prstGeom>
          <a:noFill/>
          <a:ln/>
        </p:spPr>
        <p:txBody>
          <a:bodyPr wrap="square" rtlCol="0" anchor="ctr"/>
          <a:lstStyle/>
          <a:p>
            <a:pPr marL="0" indent="0">
              <a:buNone/>
            </a:pPr>
            <a:r>
              <a:rPr lang="en-US" sz="1400" i="1" dirty="0">
                <a:solidFill>
                  <a:srgbClr val="A0C4FF"/>
                </a:solidFill>
                <a:latin typeface="Calibri" pitchFamily="34" charset="0"/>
                <a:ea typeface="Calibri" pitchFamily="34" charset="-122"/>
                <a:cs typeface="Calibri" pitchFamily="34" charset="-120"/>
              </a:rPr>
              <a:t>Section 02</a:t>
            </a:r>
            <a:endParaRPr lang="en-US" sz="1400" dirty="0"/>
          </a:p>
        </p:txBody>
      </p:sp>
      <p:sp>
        <p:nvSpPr>
          <p:cNvPr id="4" name="Text 2"/>
          <p:cNvSpPr/>
          <p:nvPr/>
        </p:nvSpPr>
        <p:spPr>
          <a:xfrm>
            <a:off x="640080" y="1371600"/>
            <a:ext cx="7589520" cy="10972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Dataset Description</a:t>
            </a:r>
            <a:endParaRPr lang="en-US" sz="3600" dirty="0"/>
          </a:p>
        </p:txBody>
      </p:sp>
      <p:sp>
        <p:nvSpPr>
          <p:cNvPr id="5" name="Text 3"/>
          <p:cNvSpPr/>
          <p:nvPr/>
        </p:nvSpPr>
        <p:spPr>
          <a:xfrm>
            <a:off x="640080" y="2651760"/>
            <a:ext cx="6400800" cy="640080"/>
          </a:xfrm>
          <a:prstGeom prst="rect">
            <a:avLst/>
          </a:prstGeom>
          <a:noFill/>
          <a:ln/>
        </p:spPr>
        <p:txBody>
          <a:bodyPr wrap="square" rtlCol="0" anchor="ctr"/>
          <a:lstStyle/>
          <a:p>
            <a:pPr marL="0" indent="0">
              <a:buNone/>
            </a:pPr>
            <a:r>
              <a:rPr lang="en-US" sz="1600" dirty="0">
                <a:solidFill>
                  <a:srgbClr val="D6EAF8"/>
                </a:solidFill>
                <a:latin typeface="Calibri" pitchFamily="34" charset="0"/>
                <a:ea typeface="Calibri" pitchFamily="34" charset="-122"/>
                <a:cs typeface="Calibri" pitchFamily="34" charset="-120"/>
              </a:rPr>
              <a:t>Source, structure &amp; raw data overview</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Dataset at a Glance</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1005840"/>
            <a:ext cx="1920240" cy="1188720"/>
          </a:xfrm>
          <a:prstGeom prst="rect">
            <a:avLst/>
          </a:prstGeom>
          <a:solidFill>
            <a:srgbClr val="FFFFFF"/>
          </a:solidFill>
          <a:ln/>
          <a:effectLst>
            <a:outerShdw blurRad="76200" dist="25400" dir="8100000" algn="bl" rotWithShape="0">
              <a:srgbClr val="000000">
                <a:alpha val="10000"/>
              </a:srgbClr>
            </a:outerShdw>
          </a:effectLst>
        </p:spPr>
      </p:sp>
      <p:sp>
        <p:nvSpPr>
          <p:cNvPr id="5" name="Shape 3"/>
          <p:cNvSpPr/>
          <p:nvPr/>
        </p:nvSpPr>
        <p:spPr>
          <a:xfrm>
            <a:off x="457200" y="1005840"/>
            <a:ext cx="64008" cy="1188720"/>
          </a:xfrm>
          <a:prstGeom prst="rect">
            <a:avLst/>
          </a:prstGeom>
          <a:solidFill>
            <a:srgbClr val="2E86AB"/>
          </a:solidFill>
          <a:ln w="12700">
            <a:solidFill>
              <a:srgbClr val="2E86AB"/>
            </a:solidFill>
            <a:prstDash val="solid"/>
          </a:ln>
        </p:spPr>
      </p:sp>
      <p:sp>
        <p:nvSpPr>
          <p:cNvPr id="6" name="Text 4"/>
          <p:cNvSpPr/>
          <p:nvPr/>
        </p:nvSpPr>
        <p:spPr>
          <a:xfrm>
            <a:off x="640080" y="1143000"/>
            <a:ext cx="1645920" cy="653796"/>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9,582</a:t>
            </a:r>
            <a:endParaRPr lang="en-US" sz="2800" dirty="0"/>
          </a:p>
        </p:txBody>
      </p:sp>
      <p:sp>
        <p:nvSpPr>
          <p:cNvPr id="7" name="Text 5"/>
          <p:cNvSpPr/>
          <p:nvPr/>
        </p:nvSpPr>
        <p:spPr>
          <a:xfrm>
            <a:off x="640080" y="1719072"/>
            <a:ext cx="1645920" cy="451714"/>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Raw Records</a:t>
            </a:r>
            <a:endParaRPr lang="en-US" sz="1200" dirty="0"/>
          </a:p>
        </p:txBody>
      </p:sp>
      <p:sp>
        <p:nvSpPr>
          <p:cNvPr id="8" name="Shape 6"/>
          <p:cNvSpPr/>
          <p:nvPr/>
        </p:nvSpPr>
        <p:spPr>
          <a:xfrm>
            <a:off x="2514600" y="1005840"/>
            <a:ext cx="1920240" cy="1188720"/>
          </a:xfrm>
          <a:prstGeom prst="rect">
            <a:avLst/>
          </a:prstGeom>
          <a:solidFill>
            <a:srgbClr val="FFFFFF"/>
          </a:solidFill>
          <a:ln/>
          <a:effectLst>
            <a:outerShdw blurRad="76200" dist="25400" dir="8100000" algn="bl" rotWithShape="0">
              <a:srgbClr val="000000">
                <a:alpha val="10000"/>
              </a:srgbClr>
            </a:outerShdw>
          </a:effectLst>
        </p:spPr>
      </p:sp>
      <p:sp>
        <p:nvSpPr>
          <p:cNvPr id="9" name="Shape 7"/>
          <p:cNvSpPr/>
          <p:nvPr/>
        </p:nvSpPr>
        <p:spPr>
          <a:xfrm>
            <a:off x="2514600" y="1005840"/>
            <a:ext cx="64008" cy="1188720"/>
          </a:xfrm>
          <a:prstGeom prst="rect">
            <a:avLst/>
          </a:prstGeom>
          <a:solidFill>
            <a:srgbClr val="27AE60"/>
          </a:solidFill>
          <a:ln w="12700">
            <a:solidFill>
              <a:srgbClr val="27AE60"/>
            </a:solidFill>
            <a:prstDash val="solid"/>
          </a:ln>
        </p:spPr>
      </p:sp>
      <p:sp>
        <p:nvSpPr>
          <p:cNvPr id="10" name="Text 8"/>
          <p:cNvSpPr/>
          <p:nvPr/>
        </p:nvSpPr>
        <p:spPr>
          <a:xfrm>
            <a:off x="2697480" y="1143000"/>
            <a:ext cx="1645920" cy="653796"/>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8,812</a:t>
            </a:r>
            <a:endParaRPr lang="en-US" sz="2800" dirty="0"/>
          </a:p>
        </p:txBody>
      </p:sp>
      <p:sp>
        <p:nvSpPr>
          <p:cNvPr id="11" name="Text 9"/>
          <p:cNvSpPr/>
          <p:nvPr/>
        </p:nvSpPr>
        <p:spPr>
          <a:xfrm>
            <a:off x="2697480" y="1719072"/>
            <a:ext cx="1645920" cy="451714"/>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After Cleaning</a:t>
            </a:r>
            <a:endParaRPr lang="en-US" sz="1200" dirty="0"/>
          </a:p>
        </p:txBody>
      </p:sp>
      <p:sp>
        <p:nvSpPr>
          <p:cNvPr id="12" name="Shape 10"/>
          <p:cNvSpPr/>
          <p:nvPr/>
        </p:nvSpPr>
        <p:spPr>
          <a:xfrm>
            <a:off x="4572000" y="1005840"/>
            <a:ext cx="1920240" cy="1188720"/>
          </a:xfrm>
          <a:prstGeom prst="rect">
            <a:avLst/>
          </a:prstGeom>
          <a:solidFill>
            <a:srgbClr val="FFFFFF"/>
          </a:solidFill>
          <a:ln/>
          <a:effectLst>
            <a:outerShdw blurRad="76200" dist="25400" dir="8100000" algn="bl" rotWithShape="0">
              <a:srgbClr val="000000">
                <a:alpha val="10000"/>
              </a:srgbClr>
            </a:outerShdw>
          </a:effectLst>
        </p:spPr>
      </p:sp>
      <p:sp>
        <p:nvSpPr>
          <p:cNvPr id="13" name="Shape 11"/>
          <p:cNvSpPr/>
          <p:nvPr/>
        </p:nvSpPr>
        <p:spPr>
          <a:xfrm>
            <a:off x="4572000" y="1005840"/>
            <a:ext cx="64008" cy="1188720"/>
          </a:xfrm>
          <a:prstGeom prst="rect">
            <a:avLst/>
          </a:prstGeom>
          <a:solidFill>
            <a:srgbClr val="F39C12"/>
          </a:solidFill>
          <a:ln w="12700">
            <a:solidFill>
              <a:srgbClr val="F39C12"/>
            </a:solidFill>
            <a:prstDash val="solid"/>
          </a:ln>
        </p:spPr>
      </p:sp>
      <p:sp>
        <p:nvSpPr>
          <p:cNvPr id="14" name="Text 12"/>
          <p:cNvSpPr/>
          <p:nvPr/>
        </p:nvSpPr>
        <p:spPr>
          <a:xfrm>
            <a:off x="4754880" y="1143000"/>
            <a:ext cx="1645920" cy="653796"/>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11</a:t>
            </a:r>
            <a:endParaRPr lang="en-US" sz="2800" dirty="0"/>
          </a:p>
        </p:txBody>
      </p:sp>
      <p:sp>
        <p:nvSpPr>
          <p:cNvPr id="15" name="Text 13"/>
          <p:cNvSpPr/>
          <p:nvPr/>
        </p:nvSpPr>
        <p:spPr>
          <a:xfrm>
            <a:off x="4754880" y="1719072"/>
            <a:ext cx="1645920" cy="451714"/>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Features</a:t>
            </a:r>
            <a:endParaRPr lang="en-US" sz="1200" dirty="0"/>
          </a:p>
        </p:txBody>
      </p:sp>
      <p:sp>
        <p:nvSpPr>
          <p:cNvPr id="16" name="Shape 14"/>
          <p:cNvSpPr/>
          <p:nvPr/>
        </p:nvSpPr>
        <p:spPr>
          <a:xfrm>
            <a:off x="6629400" y="1005840"/>
            <a:ext cx="1920240" cy="1188720"/>
          </a:xfrm>
          <a:prstGeom prst="rect">
            <a:avLst/>
          </a:prstGeom>
          <a:solidFill>
            <a:srgbClr val="FFFFFF"/>
          </a:solidFill>
          <a:ln/>
          <a:effectLst>
            <a:outerShdw blurRad="76200" dist="25400" dir="8100000" algn="bl" rotWithShape="0">
              <a:srgbClr val="000000">
                <a:alpha val="10000"/>
              </a:srgbClr>
            </a:outerShdw>
          </a:effectLst>
        </p:spPr>
      </p:sp>
      <p:sp>
        <p:nvSpPr>
          <p:cNvPr id="17" name="Shape 15"/>
          <p:cNvSpPr/>
          <p:nvPr/>
        </p:nvSpPr>
        <p:spPr>
          <a:xfrm>
            <a:off x="6629400" y="1005840"/>
            <a:ext cx="64008" cy="1188720"/>
          </a:xfrm>
          <a:prstGeom prst="rect">
            <a:avLst/>
          </a:prstGeom>
          <a:solidFill>
            <a:srgbClr val="1B4F72"/>
          </a:solidFill>
          <a:ln w="12700">
            <a:solidFill>
              <a:srgbClr val="1B4F72"/>
            </a:solidFill>
            <a:prstDash val="solid"/>
          </a:ln>
        </p:spPr>
      </p:sp>
      <p:sp>
        <p:nvSpPr>
          <p:cNvPr id="18" name="Text 16"/>
          <p:cNvSpPr/>
          <p:nvPr/>
        </p:nvSpPr>
        <p:spPr>
          <a:xfrm>
            <a:off x="6812280" y="1143000"/>
            <a:ext cx="1645920" cy="653796"/>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38</a:t>
            </a:r>
            <a:endParaRPr lang="en-US" sz="2800" dirty="0"/>
          </a:p>
        </p:txBody>
      </p:sp>
      <p:sp>
        <p:nvSpPr>
          <p:cNvPr id="19" name="Text 17"/>
          <p:cNvSpPr/>
          <p:nvPr/>
        </p:nvSpPr>
        <p:spPr>
          <a:xfrm>
            <a:off x="6812280" y="1719072"/>
            <a:ext cx="1645920" cy="451714"/>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Car Brands</a:t>
            </a:r>
            <a:endParaRPr lang="en-US" sz="1200" dirty="0"/>
          </a:p>
        </p:txBody>
      </p:sp>
      <p:sp>
        <p:nvSpPr>
          <p:cNvPr id="20" name="Shape 18"/>
          <p:cNvSpPr/>
          <p:nvPr/>
        </p:nvSpPr>
        <p:spPr>
          <a:xfrm>
            <a:off x="457200" y="2377440"/>
            <a:ext cx="1920240" cy="1188720"/>
          </a:xfrm>
          <a:prstGeom prst="rect">
            <a:avLst/>
          </a:prstGeom>
          <a:solidFill>
            <a:srgbClr val="FFFFFF"/>
          </a:solidFill>
          <a:ln/>
          <a:effectLst>
            <a:outerShdw blurRad="76200" dist="25400" dir="8100000" algn="bl" rotWithShape="0">
              <a:srgbClr val="000000">
                <a:alpha val="10000"/>
              </a:srgbClr>
            </a:outerShdw>
          </a:effectLst>
        </p:spPr>
      </p:sp>
      <p:sp>
        <p:nvSpPr>
          <p:cNvPr id="21" name="Shape 19"/>
          <p:cNvSpPr/>
          <p:nvPr/>
        </p:nvSpPr>
        <p:spPr>
          <a:xfrm>
            <a:off x="457200" y="2377440"/>
            <a:ext cx="64008" cy="1188720"/>
          </a:xfrm>
          <a:prstGeom prst="rect">
            <a:avLst/>
          </a:prstGeom>
          <a:solidFill>
            <a:srgbClr val="E67E22"/>
          </a:solidFill>
          <a:ln w="12700">
            <a:solidFill>
              <a:srgbClr val="E67E22"/>
            </a:solidFill>
            <a:prstDash val="solid"/>
          </a:ln>
        </p:spPr>
      </p:sp>
      <p:sp>
        <p:nvSpPr>
          <p:cNvPr id="22" name="Text 20"/>
          <p:cNvSpPr/>
          <p:nvPr/>
        </p:nvSpPr>
        <p:spPr>
          <a:xfrm>
            <a:off x="640080" y="2514600"/>
            <a:ext cx="1645920" cy="653796"/>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1986–2024</a:t>
            </a:r>
            <a:endParaRPr lang="en-US" sz="2800" dirty="0"/>
          </a:p>
        </p:txBody>
      </p:sp>
      <p:sp>
        <p:nvSpPr>
          <p:cNvPr id="23" name="Text 21"/>
          <p:cNvSpPr/>
          <p:nvPr/>
        </p:nvSpPr>
        <p:spPr>
          <a:xfrm>
            <a:off x="640080" y="3090672"/>
            <a:ext cx="1645920" cy="451714"/>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Year Range</a:t>
            </a:r>
            <a:endParaRPr lang="en-US" sz="1200" dirty="0"/>
          </a:p>
        </p:txBody>
      </p:sp>
      <p:sp>
        <p:nvSpPr>
          <p:cNvPr id="24" name="Shape 22"/>
          <p:cNvSpPr/>
          <p:nvPr/>
        </p:nvSpPr>
        <p:spPr>
          <a:xfrm>
            <a:off x="2514600" y="2377440"/>
            <a:ext cx="1920240" cy="1188720"/>
          </a:xfrm>
          <a:prstGeom prst="rect">
            <a:avLst/>
          </a:prstGeom>
          <a:solidFill>
            <a:srgbClr val="FFFFFF"/>
          </a:solidFill>
          <a:ln/>
          <a:effectLst>
            <a:outerShdw blurRad="76200" dist="25400" dir="8100000" algn="bl" rotWithShape="0">
              <a:srgbClr val="000000">
                <a:alpha val="10000"/>
              </a:srgbClr>
            </a:outerShdw>
          </a:effectLst>
        </p:spPr>
      </p:sp>
      <p:sp>
        <p:nvSpPr>
          <p:cNvPr id="25" name="Shape 23"/>
          <p:cNvSpPr/>
          <p:nvPr/>
        </p:nvSpPr>
        <p:spPr>
          <a:xfrm>
            <a:off x="2514600" y="2377440"/>
            <a:ext cx="64008" cy="1188720"/>
          </a:xfrm>
          <a:prstGeom prst="rect">
            <a:avLst/>
          </a:prstGeom>
          <a:solidFill>
            <a:srgbClr val="4A5568"/>
          </a:solidFill>
          <a:ln w="12700">
            <a:solidFill>
              <a:srgbClr val="4A5568"/>
            </a:solidFill>
            <a:prstDash val="solid"/>
          </a:ln>
        </p:spPr>
      </p:sp>
      <p:sp>
        <p:nvSpPr>
          <p:cNvPr id="26" name="Text 24"/>
          <p:cNvSpPr/>
          <p:nvPr/>
        </p:nvSpPr>
        <p:spPr>
          <a:xfrm>
            <a:off x="2697480" y="2514600"/>
            <a:ext cx="1645920" cy="653796"/>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₹15K</a:t>
            </a:r>
            <a:endParaRPr lang="en-US" sz="2800" dirty="0"/>
          </a:p>
        </p:txBody>
      </p:sp>
      <p:sp>
        <p:nvSpPr>
          <p:cNvPr id="27" name="Text 25"/>
          <p:cNvSpPr/>
          <p:nvPr/>
        </p:nvSpPr>
        <p:spPr>
          <a:xfrm>
            <a:off x="2697480" y="3090672"/>
            <a:ext cx="1645920" cy="451714"/>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Min Price</a:t>
            </a:r>
            <a:endParaRPr lang="en-US" sz="1200" dirty="0"/>
          </a:p>
        </p:txBody>
      </p:sp>
      <p:sp>
        <p:nvSpPr>
          <p:cNvPr id="28" name="Shape 26"/>
          <p:cNvSpPr/>
          <p:nvPr/>
        </p:nvSpPr>
        <p:spPr>
          <a:xfrm>
            <a:off x="4572000" y="2377440"/>
            <a:ext cx="1920240" cy="1188720"/>
          </a:xfrm>
          <a:prstGeom prst="rect">
            <a:avLst/>
          </a:prstGeom>
          <a:solidFill>
            <a:srgbClr val="FFFFFF"/>
          </a:solidFill>
          <a:ln/>
          <a:effectLst>
            <a:outerShdw blurRad="76200" dist="25400" dir="8100000" algn="bl" rotWithShape="0">
              <a:srgbClr val="000000">
                <a:alpha val="10000"/>
              </a:srgbClr>
            </a:outerShdw>
          </a:effectLst>
        </p:spPr>
      </p:sp>
      <p:sp>
        <p:nvSpPr>
          <p:cNvPr id="29" name="Shape 27"/>
          <p:cNvSpPr/>
          <p:nvPr/>
        </p:nvSpPr>
        <p:spPr>
          <a:xfrm>
            <a:off x="4572000" y="2377440"/>
            <a:ext cx="64008" cy="1188720"/>
          </a:xfrm>
          <a:prstGeom prst="rect">
            <a:avLst/>
          </a:prstGeom>
          <a:solidFill>
            <a:srgbClr val="C0392B"/>
          </a:solidFill>
          <a:ln w="12700">
            <a:solidFill>
              <a:srgbClr val="C0392B"/>
            </a:solidFill>
            <a:prstDash val="solid"/>
          </a:ln>
        </p:spPr>
      </p:sp>
      <p:sp>
        <p:nvSpPr>
          <p:cNvPr id="30" name="Text 28"/>
          <p:cNvSpPr/>
          <p:nvPr/>
        </p:nvSpPr>
        <p:spPr>
          <a:xfrm>
            <a:off x="4754880" y="2514600"/>
            <a:ext cx="1645920" cy="653796"/>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₹4.25 Cr</a:t>
            </a:r>
            <a:endParaRPr lang="en-US" sz="2800" dirty="0"/>
          </a:p>
        </p:txBody>
      </p:sp>
      <p:sp>
        <p:nvSpPr>
          <p:cNvPr id="31" name="Text 29"/>
          <p:cNvSpPr/>
          <p:nvPr/>
        </p:nvSpPr>
        <p:spPr>
          <a:xfrm>
            <a:off x="4754880" y="3090672"/>
            <a:ext cx="1645920" cy="451714"/>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Max Price</a:t>
            </a:r>
            <a:endParaRPr lang="en-US" sz="1200" dirty="0"/>
          </a:p>
        </p:txBody>
      </p:sp>
      <p:sp>
        <p:nvSpPr>
          <p:cNvPr id="32" name="Shape 30"/>
          <p:cNvSpPr/>
          <p:nvPr/>
        </p:nvSpPr>
        <p:spPr>
          <a:xfrm>
            <a:off x="6629400" y="2377440"/>
            <a:ext cx="1920240" cy="1188720"/>
          </a:xfrm>
          <a:prstGeom prst="rect">
            <a:avLst/>
          </a:prstGeom>
          <a:solidFill>
            <a:srgbClr val="FFFFFF"/>
          </a:solidFill>
          <a:ln/>
          <a:effectLst>
            <a:outerShdw blurRad="76200" dist="25400" dir="8100000" algn="bl" rotWithShape="0">
              <a:srgbClr val="000000">
                <a:alpha val="10000"/>
              </a:srgbClr>
            </a:outerShdw>
          </a:effectLst>
        </p:spPr>
      </p:sp>
      <p:sp>
        <p:nvSpPr>
          <p:cNvPr id="33" name="Shape 31"/>
          <p:cNvSpPr/>
          <p:nvPr/>
        </p:nvSpPr>
        <p:spPr>
          <a:xfrm>
            <a:off x="6629400" y="2377440"/>
            <a:ext cx="64008" cy="1188720"/>
          </a:xfrm>
          <a:prstGeom prst="rect">
            <a:avLst/>
          </a:prstGeom>
          <a:solidFill>
            <a:srgbClr val="2E86AB"/>
          </a:solidFill>
          <a:ln w="12700">
            <a:solidFill>
              <a:srgbClr val="2E86AB"/>
            </a:solidFill>
            <a:prstDash val="solid"/>
          </a:ln>
        </p:spPr>
      </p:sp>
      <p:sp>
        <p:nvSpPr>
          <p:cNvPr id="34" name="Text 32"/>
          <p:cNvSpPr/>
          <p:nvPr/>
        </p:nvSpPr>
        <p:spPr>
          <a:xfrm>
            <a:off x="6812280" y="2514600"/>
            <a:ext cx="1645920" cy="653796"/>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₹10.4 L</a:t>
            </a:r>
            <a:endParaRPr lang="en-US" sz="2800" dirty="0"/>
          </a:p>
        </p:txBody>
      </p:sp>
      <p:sp>
        <p:nvSpPr>
          <p:cNvPr id="35" name="Text 33"/>
          <p:cNvSpPr/>
          <p:nvPr/>
        </p:nvSpPr>
        <p:spPr>
          <a:xfrm>
            <a:off x="6812280" y="3090672"/>
            <a:ext cx="1645920" cy="451714"/>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Avg Price</a:t>
            </a:r>
            <a:endParaRPr lang="en-US" sz="1200" dirty="0"/>
          </a:p>
        </p:txBody>
      </p:sp>
      <p:sp>
        <p:nvSpPr>
          <p:cNvPr id="36" name="Text 34"/>
          <p:cNvSpPr/>
          <p:nvPr/>
        </p:nvSpPr>
        <p:spPr>
          <a:xfrm>
            <a:off x="457200" y="4663440"/>
            <a:ext cx="8229600" cy="320040"/>
          </a:xfrm>
          <a:prstGeom prst="rect">
            <a:avLst/>
          </a:prstGeom>
          <a:noFill/>
          <a:ln/>
        </p:spPr>
        <p:txBody>
          <a:bodyPr wrap="square"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Source: Indian Used Car Market Dataset (cars.csv) — scraped from online classifieds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Dataset Features</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1005840"/>
            <a:ext cx="4160520" cy="612648"/>
          </a:xfrm>
          <a:prstGeom prst="rect">
            <a:avLst/>
          </a:prstGeom>
          <a:solidFill>
            <a:srgbClr val="FFFFFF"/>
          </a:solidFill>
          <a:ln/>
          <a:effectLst>
            <a:outerShdw blurRad="38100" dist="12700" dir="8100000" algn="bl" rotWithShape="0">
              <a:srgbClr val="000000">
                <a:alpha val="8000"/>
              </a:srgbClr>
            </a:outerShdw>
          </a:effectLst>
        </p:spPr>
      </p:sp>
      <p:sp>
        <p:nvSpPr>
          <p:cNvPr id="5" name="Shape 3"/>
          <p:cNvSpPr/>
          <p:nvPr/>
        </p:nvSpPr>
        <p:spPr>
          <a:xfrm>
            <a:off x="457200" y="1005840"/>
            <a:ext cx="54864" cy="612648"/>
          </a:xfrm>
          <a:prstGeom prst="rect">
            <a:avLst/>
          </a:prstGeom>
          <a:solidFill>
            <a:srgbClr val="2E86AB"/>
          </a:solidFill>
          <a:ln w="12700">
            <a:solidFill>
              <a:srgbClr val="2E86AB"/>
            </a:solidFill>
            <a:prstDash val="solid"/>
          </a:ln>
        </p:spPr>
      </p:sp>
      <p:sp>
        <p:nvSpPr>
          <p:cNvPr id="6" name="Text 4"/>
          <p:cNvSpPr/>
          <p:nvPr/>
        </p:nvSpPr>
        <p:spPr>
          <a:xfrm>
            <a:off x="621792" y="1051560"/>
            <a:ext cx="384048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Brand</a:t>
            </a:r>
            <a:endParaRPr lang="en-US" sz="1300" dirty="0"/>
          </a:p>
        </p:txBody>
      </p:sp>
      <p:sp>
        <p:nvSpPr>
          <p:cNvPr id="7" name="Text 5"/>
          <p:cNvSpPr/>
          <p:nvPr/>
        </p:nvSpPr>
        <p:spPr>
          <a:xfrm>
            <a:off x="621792" y="1298448"/>
            <a:ext cx="3840480" cy="25603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Car manufacturer (38 unique brands)</a:t>
            </a:r>
            <a:endParaRPr lang="en-US" sz="1100" dirty="0"/>
          </a:p>
        </p:txBody>
      </p:sp>
      <p:sp>
        <p:nvSpPr>
          <p:cNvPr id="8" name="Shape 6"/>
          <p:cNvSpPr/>
          <p:nvPr/>
        </p:nvSpPr>
        <p:spPr>
          <a:xfrm>
            <a:off x="457200" y="1755648"/>
            <a:ext cx="4160520" cy="612648"/>
          </a:xfrm>
          <a:prstGeom prst="rect">
            <a:avLst/>
          </a:prstGeom>
          <a:solidFill>
            <a:srgbClr val="FFFFFF"/>
          </a:solidFill>
          <a:ln/>
          <a:effectLst>
            <a:outerShdw blurRad="38100" dist="12700" dir="8100000" algn="bl" rotWithShape="0">
              <a:srgbClr val="000000">
                <a:alpha val="8000"/>
              </a:srgbClr>
            </a:outerShdw>
          </a:effectLst>
        </p:spPr>
      </p:sp>
      <p:sp>
        <p:nvSpPr>
          <p:cNvPr id="9" name="Shape 7"/>
          <p:cNvSpPr/>
          <p:nvPr/>
        </p:nvSpPr>
        <p:spPr>
          <a:xfrm>
            <a:off x="457200" y="1755648"/>
            <a:ext cx="54864" cy="612648"/>
          </a:xfrm>
          <a:prstGeom prst="rect">
            <a:avLst/>
          </a:prstGeom>
          <a:solidFill>
            <a:srgbClr val="2E86AB"/>
          </a:solidFill>
          <a:ln w="12700">
            <a:solidFill>
              <a:srgbClr val="2E86AB"/>
            </a:solidFill>
            <a:prstDash val="solid"/>
          </a:ln>
        </p:spPr>
      </p:sp>
      <p:sp>
        <p:nvSpPr>
          <p:cNvPr id="10" name="Text 8"/>
          <p:cNvSpPr/>
          <p:nvPr/>
        </p:nvSpPr>
        <p:spPr>
          <a:xfrm>
            <a:off x="621792" y="1801368"/>
            <a:ext cx="384048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Model</a:t>
            </a:r>
            <a:endParaRPr lang="en-US" sz="1300" dirty="0"/>
          </a:p>
        </p:txBody>
      </p:sp>
      <p:sp>
        <p:nvSpPr>
          <p:cNvPr id="11" name="Text 9"/>
          <p:cNvSpPr/>
          <p:nvPr/>
        </p:nvSpPr>
        <p:spPr>
          <a:xfrm>
            <a:off x="621792" y="2048256"/>
            <a:ext cx="3840480" cy="25603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Specific car model name</a:t>
            </a:r>
            <a:endParaRPr lang="en-US" sz="1100" dirty="0"/>
          </a:p>
        </p:txBody>
      </p:sp>
      <p:sp>
        <p:nvSpPr>
          <p:cNvPr id="12" name="Shape 10"/>
          <p:cNvSpPr/>
          <p:nvPr/>
        </p:nvSpPr>
        <p:spPr>
          <a:xfrm>
            <a:off x="457200" y="2505456"/>
            <a:ext cx="4160520" cy="612648"/>
          </a:xfrm>
          <a:prstGeom prst="rect">
            <a:avLst/>
          </a:prstGeom>
          <a:solidFill>
            <a:srgbClr val="FFFFFF"/>
          </a:solidFill>
          <a:ln/>
          <a:effectLst>
            <a:outerShdw blurRad="38100" dist="12700" dir="8100000" algn="bl" rotWithShape="0">
              <a:srgbClr val="000000">
                <a:alpha val="8000"/>
              </a:srgbClr>
            </a:outerShdw>
          </a:effectLst>
        </p:spPr>
      </p:sp>
      <p:sp>
        <p:nvSpPr>
          <p:cNvPr id="13" name="Shape 11"/>
          <p:cNvSpPr/>
          <p:nvPr/>
        </p:nvSpPr>
        <p:spPr>
          <a:xfrm>
            <a:off x="457200" y="2505456"/>
            <a:ext cx="54864" cy="612648"/>
          </a:xfrm>
          <a:prstGeom prst="rect">
            <a:avLst/>
          </a:prstGeom>
          <a:solidFill>
            <a:srgbClr val="2E86AB"/>
          </a:solidFill>
          <a:ln w="12700">
            <a:solidFill>
              <a:srgbClr val="2E86AB"/>
            </a:solidFill>
            <a:prstDash val="solid"/>
          </a:ln>
        </p:spPr>
      </p:sp>
      <p:sp>
        <p:nvSpPr>
          <p:cNvPr id="14" name="Text 12"/>
          <p:cNvSpPr/>
          <p:nvPr/>
        </p:nvSpPr>
        <p:spPr>
          <a:xfrm>
            <a:off x="621792" y="2551176"/>
            <a:ext cx="384048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Year</a:t>
            </a:r>
            <a:endParaRPr lang="en-US" sz="1300" dirty="0"/>
          </a:p>
        </p:txBody>
      </p:sp>
      <p:sp>
        <p:nvSpPr>
          <p:cNvPr id="15" name="Text 13"/>
          <p:cNvSpPr/>
          <p:nvPr/>
        </p:nvSpPr>
        <p:spPr>
          <a:xfrm>
            <a:off x="621792" y="2798064"/>
            <a:ext cx="3840480" cy="25603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Manufacturing year (1986–2024)</a:t>
            </a:r>
            <a:endParaRPr lang="en-US" sz="1100" dirty="0"/>
          </a:p>
        </p:txBody>
      </p:sp>
      <p:sp>
        <p:nvSpPr>
          <p:cNvPr id="16" name="Shape 14"/>
          <p:cNvSpPr/>
          <p:nvPr/>
        </p:nvSpPr>
        <p:spPr>
          <a:xfrm>
            <a:off x="457200" y="3255264"/>
            <a:ext cx="4160520" cy="612648"/>
          </a:xfrm>
          <a:prstGeom prst="rect">
            <a:avLst/>
          </a:prstGeom>
          <a:solidFill>
            <a:srgbClr val="FFFFFF"/>
          </a:solidFill>
          <a:ln/>
          <a:effectLst>
            <a:outerShdw blurRad="38100" dist="12700" dir="8100000" algn="bl" rotWithShape="0">
              <a:srgbClr val="000000">
                <a:alpha val="8000"/>
              </a:srgbClr>
            </a:outerShdw>
          </a:effectLst>
        </p:spPr>
      </p:sp>
      <p:sp>
        <p:nvSpPr>
          <p:cNvPr id="17" name="Shape 15"/>
          <p:cNvSpPr/>
          <p:nvPr/>
        </p:nvSpPr>
        <p:spPr>
          <a:xfrm>
            <a:off x="457200" y="3255264"/>
            <a:ext cx="54864" cy="612648"/>
          </a:xfrm>
          <a:prstGeom prst="rect">
            <a:avLst/>
          </a:prstGeom>
          <a:solidFill>
            <a:srgbClr val="2E86AB"/>
          </a:solidFill>
          <a:ln w="12700">
            <a:solidFill>
              <a:srgbClr val="2E86AB"/>
            </a:solidFill>
            <a:prstDash val="solid"/>
          </a:ln>
        </p:spPr>
      </p:sp>
      <p:sp>
        <p:nvSpPr>
          <p:cNvPr id="18" name="Text 16"/>
          <p:cNvSpPr/>
          <p:nvPr/>
        </p:nvSpPr>
        <p:spPr>
          <a:xfrm>
            <a:off x="621792" y="3300984"/>
            <a:ext cx="384048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Age</a:t>
            </a:r>
            <a:endParaRPr lang="en-US" sz="1300" dirty="0"/>
          </a:p>
        </p:txBody>
      </p:sp>
      <p:sp>
        <p:nvSpPr>
          <p:cNvPr id="19" name="Text 17"/>
          <p:cNvSpPr/>
          <p:nvPr/>
        </p:nvSpPr>
        <p:spPr>
          <a:xfrm>
            <a:off x="621792" y="3547872"/>
            <a:ext cx="3840480" cy="25603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Age of car in years (derived)</a:t>
            </a:r>
            <a:endParaRPr lang="en-US" sz="1100" dirty="0"/>
          </a:p>
        </p:txBody>
      </p:sp>
      <p:sp>
        <p:nvSpPr>
          <p:cNvPr id="20" name="Shape 18"/>
          <p:cNvSpPr/>
          <p:nvPr/>
        </p:nvSpPr>
        <p:spPr>
          <a:xfrm>
            <a:off x="457200" y="4005072"/>
            <a:ext cx="4160520" cy="612648"/>
          </a:xfrm>
          <a:prstGeom prst="rect">
            <a:avLst/>
          </a:prstGeom>
          <a:solidFill>
            <a:srgbClr val="FFFFFF"/>
          </a:solidFill>
          <a:ln/>
          <a:effectLst>
            <a:outerShdw blurRad="38100" dist="12700" dir="8100000" algn="bl" rotWithShape="0">
              <a:srgbClr val="000000">
                <a:alpha val="8000"/>
              </a:srgbClr>
            </a:outerShdw>
          </a:effectLst>
        </p:spPr>
      </p:sp>
      <p:sp>
        <p:nvSpPr>
          <p:cNvPr id="21" name="Shape 19"/>
          <p:cNvSpPr/>
          <p:nvPr/>
        </p:nvSpPr>
        <p:spPr>
          <a:xfrm>
            <a:off x="457200" y="4005072"/>
            <a:ext cx="54864" cy="612648"/>
          </a:xfrm>
          <a:prstGeom prst="rect">
            <a:avLst/>
          </a:prstGeom>
          <a:solidFill>
            <a:srgbClr val="2E86AB"/>
          </a:solidFill>
          <a:ln w="12700">
            <a:solidFill>
              <a:srgbClr val="2E86AB"/>
            </a:solidFill>
            <a:prstDash val="solid"/>
          </a:ln>
        </p:spPr>
      </p:sp>
      <p:sp>
        <p:nvSpPr>
          <p:cNvPr id="22" name="Text 20"/>
          <p:cNvSpPr/>
          <p:nvPr/>
        </p:nvSpPr>
        <p:spPr>
          <a:xfrm>
            <a:off x="621792" y="4050792"/>
            <a:ext cx="384048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KM Driven</a:t>
            </a:r>
            <a:endParaRPr lang="en-US" sz="1300" dirty="0"/>
          </a:p>
        </p:txBody>
      </p:sp>
      <p:sp>
        <p:nvSpPr>
          <p:cNvPr id="23" name="Text 21"/>
          <p:cNvSpPr/>
          <p:nvPr/>
        </p:nvSpPr>
        <p:spPr>
          <a:xfrm>
            <a:off x="621792" y="4297680"/>
            <a:ext cx="3840480" cy="25603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Total kilometers driven</a:t>
            </a:r>
            <a:endParaRPr lang="en-US" sz="1100" dirty="0"/>
          </a:p>
        </p:txBody>
      </p:sp>
      <p:sp>
        <p:nvSpPr>
          <p:cNvPr id="24" name="Shape 22"/>
          <p:cNvSpPr/>
          <p:nvPr/>
        </p:nvSpPr>
        <p:spPr>
          <a:xfrm>
            <a:off x="4800600" y="1005840"/>
            <a:ext cx="4160520" cy="612648"/>
          </a:xfrm>
          <a:prstGeom prst="rect">
            <a:avLst/>
          </a:prstGeom>
          <a:solidFill>
            <a:srgbClr val="FFFFFF"/>
          </a:solidFill>
          <a:ln/>
          <a:effectLst>
            <a:outerShdw blurRad="38100" dist="12700" dir="8100000" algn="bl" rotWithShape="0">
              <a:srgbClr val="000000">
                <a:alpha val="8000"/>
              </a:srgbClr>
            </a:outerShdw>
          </a:effectLst>
        </p:spPr>
      </p:sp>
      <p:sp>
        <p:nvSpPr>
          <p:cNvPr id="25" name="Shape 23"/>
          <p:cNvSpPr/>
          <p:nvPr/>
        </p:nvSpPr>
        <p:spPr>
          <a:xfrm>
            <a:off x="4800600" y="1005840"/>
            <a:ext cx="54864" cy="612648"/>
          </a:xfrm>
          <a:prstGeom prst="rect">
            <a:avLst/>
          </a:prstGeom>
          <a:solidFill>
            <a:srgbClr val="2E86AB"/>
          </a:solidFill>
          <a:ln w="12700">
            <a:solidFill>
              <a:srgbClr val="2E86AB"/>
            </a:solidFill>
            <a:prstDash val="solid"/>
          </a:ln>
        </p:spPr>
      </p:sp>
      <p:sp>
        <p:nvSpPr>
          <p:cNvPr id="26" name="Text 24"/>
          <p:cNvSpPr/>
          <p:nvPr/>
        </p:nvSpPr>
        <p:spPr>
          <a:xfrm>
            <a:off x="4965192" y="1051560"/>
            <a:ext cx="384048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Transmission</a:t>
            </a:r>
            <a:endParaRPr lang="en-US" sz="1300" dirty="0"/>
          </a:p>
        </p:txBody>
      </p:sp>
      <p:sp>
        <p:nvSpPr>
          <p:cNvPr id="27" name="Text 25"/>
          <p:cNvSpPr/>
          <p:nvPr/>
        </p:nvSpPr>
        <p:spPr>
          <a:xfrm>
            <a:off x="4965192" y="1298448"/>
            <a:ext cx="3840480" cy="25603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Manual or Automatic</a:t>
            </a:r>
            <a:endParaRPr lang="en-US" sz="1100" dirty="0"/>
          </a:p>
        </p:txBody>
      </p:sp>
      <p:sp>
        <p:nvSpPr>
          <p:cNvPr id="28" name="Shape 26"/>
          <p:cNvSpPr/>
          <p:nvPr/>
        </p:nvSpPr>
        <p:spPr>
          <a:xfrm>
            <a:off x="4800600" y="1755648"/>
            <a:ext cx="4160520" cy="612648"/>
          </a:xfrm>
          <a:prstGeom prst="rect">
            <a:avLst/>
          </a:prstGeom>
          <a:solidFill>
            <a:srgbClr val="FFFFFF"/>
          </a:solidFill>
          <a:ln/>
          <a:effectLst>
            <a:outerShdw blurRad="38100" dist="12700" dir="8100000" algn="bl" rotWithShape="0">
              <a:srgbClr val="000000">
                <a:alpha val="8000"/>
              </a:srgbClr>
            </a:outerShdw>
          </a:effectLst>
        </p:spPr>
      </p:sp>
      <p:sp>
        <p:nvSpPr>
          <p:cNvPr id="29" name="Shape 27"/>
          <p:cNvSpPr/>
          <p:nvPr/>
        </p:nvSpPr>
        <p:spPr>
          <a:xfrm>
            <a:off x="4800600" y="1755648"/>
            <a:ext cx="54864" cy="612648"/>
          </a:xfrm>
          <a:prstGeom prst="rect">
            <a:avLst/>
          </a:prstGeom>
          <a:solidFill>
            <a:srgbClr val="2E86AB"/>
          </a:solidFill>
          <a:ln w="12700">
            <a:solidFill>
              <a:srgbClr val="2E86AB"/>
            </a:solidFill>
            <a:prstDash val="solid"/>
          </a:ln>
        </p:spPr>
      </p:sp>
      <p:sp>
        <p:nvSpPr>
          <p:cNvPr id="30" name="Text 28"/>
          <p:cNvSpPr/>
          <p:nvPr/>
        </p:nvSpPr>
        <p:spPr>
          <a:xfrm>
            <a:off x="4965192" y="1801368"/>
            <a:ext cx="384048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Owner</a:t>
            </a:r>
            <a:endParaRPr lang="en-US" sz="1300" dirty="0"/>
          </a:p>
        </p:txBody>
      </p:sp>
      <p:sp>
        <p:nvSpPr>
          <p:cNvPr id="31" name="Text 29"/>
          <p:cNvSpPr/>
          <p:nvPr/>
        </p:nvSpPr>
        <p:spPr>
          <a:xfrm>
            <a:off x="4965192" y="2048256"/>
            <a:ext cx="3840480" cy="25603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First or Second owner</a:t>
            </a:r>
            <a:endParaRPr lang="en-US" sz="1100" dirty="0"/>
          </a:p>
        </p:txBody>
      </p:sp>
      <p:sp>
        <p:nvSpPr>
          <p:cNvPr id="32" name="Shape 30"/>
          <p:cNvSpPr/>
          <p:nvPr/>
        </p:nvSpPr>
        <p:spPr>
          <a:xfrm>
            <a:off x="4800600" y="2505456"/>
            <a:ext cx="4160520" cy="612648"/>
          </a:xfrm>
          <a:prstGeom prst="rect">
            <a:avLst/>
          </a:prstGeom>
          <a:solidFill>
            <a:srgbClr val="FFFFFF"/>
          </a:solidFill>
          <a:ln/>
          <a:effectLst>
            <a:outerShdw blurRad="38100" dist="12700" dir="8100000" algn="bl" rotWithShape="0">
              <a:srgbClr val="000000">
                <a:alpha val="8000"/>
              </a:srgbClr>
            </a:outerShdw>
          </a:effectLst>
        </p:spPr>
      </p:sp>
      <p:sp>
        <p:nvSpPr>
          <p:cNvPr id="33" name="Shape 31"/>
          <p:cNvSpPr/>
          <p:nvPr/>
        </p:nvSpPr>
        <p:spPr>
          <a:xfrm>
            <a:off x="4800600" y="2505456"/>
            <a:ext cx="54864" cy="612648"/>
          </a:xfrm>
          <a:prstGeom prst="rect">
            <a:avLst/>
          </a:prstGeom>
          <a:solidFill>
            <a:srgbClr val="2E86AB"/>
          </a:solidFill>
          <a:ln w="12700">
            <a:solidFill>
              <a:srgbClr val="2E86AB"/>
            </a:solidFill>
            <a:prstDash val="solid"/>
          </a:ln>
        </p:spPr>
      </p:sp>
      <p:sp>
        <p:nvSpPr>
          <p:cNvPr id="34" name="Text 32"/>
          <p:cNvSpPr/>
          <p:nvPr/>
        </p:nvSpPr>
        <p:spPr>
          <a:xfrm>
            <a:off x="4965192" y="2551176"/>
            <a:ext cx="384048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Fuel Type</a:t>
            </a:r>
            <a:endParaRPr lang="en-US" sz="1300" dirty="0"/>
          </a:p>
        </p:txBody>
      </p:sp>
      <p:sp>
        <p:nvSpPr>
          <p:cNvPr id="35" name="Text 33"/>
          <p:cNvSpPr/>
          <p:nvPr/>
        </p:nvSpPr>
        <p:spPr>
          <a:xfrm>
            <a:off x="4965192" y="2798064"/>
            <a:ext cx="3840480" cy="25603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Petrol, Diesel, Hybrid/CNG</a:t>
            </a:r>
            <a:endParaRPr lang="en-US" sz="1100" dirty="0"/>
          </a:p>
        </p:txBody>
      </p:sp>
      <p:sp>
        <p:nvSpPr>
          <p:cNvPr id="36" name="Shape 34"/>
          <p:cNvSpPr/>
          <p:nvPr/>
        </p:nvSpPr>
        <p:spPr>
          <a:xfrm>
            <a:off x="4800600" y="3255264"/>
            <a:ext cx="4160520" cy="612648"/>
          </a:xfrm>
          <a:prstGeom prst="rect">
            <a:avLst/>
          </a:prstGeom>
          <a:solidFill>
            <a:srgbClr val="FFFFFF"/>
          </a:solidFill>
          <a:ln/>
          <a:effectLst>
            <a:outerShdw blurRad="38100" dist="12700" dir="8100000" algn="bl" rotWithShape="0">
              <a:srgbClr val="000000">
                <a:alpha val="8000"/>
              </a:srgbClr>
            </a:outerShdw>
          </a:effectLst>
        </p:spPr>
      </p:sp>
      <p:sp>
        <p:nvSpPr>
          <p:cNvPr id="37" name="Shape 35"/>
          <p:cNvSpPr/>
          <p:nvPr/>
        </p:nvSpPr>
        <p:spPr>
          <a:xfrm>
            <a:off x="4800600" y="3255264"/>
            <a:ext cx="54864" cy="612648"/>
          </a:xfrm>
          <a:prstGeom prst="rect">
            <a:avLst/>
          </a:prstGeom>
          <a:solidFill>
            <a:srgbClr val="27AE60"/>
          </a:solidFill>
          <a:ln w="12700">
            <a:solidFill>
              <a:srgbClr val="27AE60"/>
            </a:solidFill>
            <a:prstDash val="solid"/>
          </a:ln>
        </p:spPr>
      </p:sp>
      <p:sp>
        <p:nvSpPr>
          <p:cNvPr id="38" name="Text 36"/>
          <p:cNvSpPr/>
          <p:nvPr/>
        </p:nvSpPr>
        <p:spPr>
          <a:xfrm>
            <a:off x="4965192" y="3300984"/>
            <a:ext cx="384048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Price (Target)</a:t>
            </a:r>
            <a:endParaRPr lang="en-US" sz="1300" dirty="0"/>
          </a:p>
        </p:txBody>
      </p:sp>
      <p:sp>
        <p:nvSpPr>
          <p:cNvPr id="39" name="Text 37"/>
          <p:cNvSpPr/>
          <p:nvPr/>
        </p:nvSpPr>
        <p:spPr>
          <a:xfrm>
            <a:off x="4965192" y="3547872"/>
            <a:ext cx="3840480" cy="25603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Asking price in Indian Rupees ₹</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7498080" y="-457200"/>
            <a:ext cx="2743200" cy="2743200"/>
          </a:xfrm>
          <a:prstGeom prst="ellipse">
            <a:avLst/>
          </a:prstGeom>
          <a:solidFill>
            <a:srgbClr val="2E86AB">
              <a:alpha val="25000"/>
            </a:srgbClr>
          </a:solidFill>
          <a:ln w="12700">
            <a:solidFill>
              <a:srgbClr val="2E86AB">
                <a:alpha val="25000"/>
              </a:srgbClr>
            </a:solidFill>
            <a:prstDash val="solid"/>
          </a:ln>
        </p:spPr>
      </p:sp>
      <p:sp>
        <p:nvSpPr>
          <p:cNvPr id="3" name="Text 1"/>
          <p:cNvSpPr/>
          <p:nvPr/>
        </p:nvSpPr>
        <p:spPr>
          <a:xfrm>
            <a:off x="640080" y="822960"/>
            <a:ext cx="3657600" cy="457200"/>
          </a:xfrm>
          <a:prstGeom prst="rect">
            <a:avLst/>
          </a:prstGeom>
          <a:noFill/>
          <a:ln/>
        </p:spPr>
        <p:txBody>
          <a:bodyPr wrap="square" rtlCol="0" anchor="ctr"/>
          <a:lstStyle/>
          <a:p>
            <a:pPr marL="0" indent="0">
              <a:buNone/>
            </a:pPr>
            <a:r>
              <a:rPr lang="en-US" sz="1400" i="1" dirty="0">
                <a:solidFill>
                  <a:srgbClr val="A0C4FF"/>
                </a:solidFill>
                <a:latin typeface="Calibri" pitchFamily="34" charset="0"/>
                <a:ea typeface="Calibri" pitchFamily="34" charset="-122"/>
                <a:cs typeface="Calibri" pitchFamily="34" charset="-120"/>
              </a:rPr>
              <a:t>Section 03</a:t>
            </a:r>
            <a:endParaRPr lang="en-US" sz="1400" dirty="0"/>
          </a:p>
        </p:txBody>
      </p:sp>
      <p:sp>
        <p:nvSpPr>
          <p:cNvPr id="4" name="Text 2"/>
          <p:cNvSpPr/>
          <p:nvPr/>
        </p:nvSpPr>
        <p:spPr>
          <a:xfrm>
            <a:off x="640080" y="1371600"/>
            <a:ext cx="7589520" cy="10972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Data Cleaning</a:t>
            </a:r>
            <a:endParaRPr lang="en-US" sz="3600" dirty="0"/>
          </a:p>
        </p:txBody>
      </p:sp>
      <p:sp>
        <p:nvSpPr>
          <p:cNvPr id="5" name="Text 3"/>
          <p:cNvSpPr/>
          <p:nvPr/>
        </p:nvSpPr>
        <p:spPr>
          <a:xfrm>
            <a:off x="640080" y="2651760"/>
            <a:ext cx="6400800" cy="640080"/>
          </a:xfrm>
          <a:prstGeom prst="rect">
            <a:avLst/>
          </a:prstGeom>
          <a:noFill/>
          <a:ln/>
        </p:spPr>
        <p:txBody>
          <a:bodyPr wrap="square" rtlCol="0" anchor="ctr"/>
          <a:lstStyle/>
          <a:p>
            <a:pPr marL="0" indent="0">
              <a:buNone/>
            </a:pPr>
            <a:r>
              <a:rPr lang="en-US" sz="1600" dirty="0">
                <a:solidFill>
                  <a:srgbClr val="D6EAF8"/>
                </a:solidFill>
                <a:latin typeface="Calibri" pitchFamily="34" charset="0"/>
                <a:ea typeface="Calibri" pitchFamily="34" charset="-122"/>
                <a:cs typeface="Calibri" pitchFamily="34" charset="-120"/>
              </a:rPr>
              <a:t>Preprocessing pipeline &amp; transformations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Data Cleaning Pipeline</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1005840"/>
            <a:ext cx="4160520" cy="1078992"/>
          </a:xfrm>
          <a:prstGeom prst="rect">
            <a:avLst/>
          </a:prstGeom>
          <a:solidFill>
            <a:srgbClr val="FFFFFF"/>
          </a:solidFill>
          <a:ln/>
          <a:effectLst>
            <a:outerShdw blurRad="50800" dist="25400" dir="8100000" algn="bl" rotWithShape="0">
              <a:srgbClr val="000000">
                <a:alpha val="9000"/>
              </a:srgbClr>
            </a:outerShdw>
          </a:effectLst>
        </p:spPr>
      </p:sp>
      <p:sp>
        <p:nvSpPr>
          <p:cNvPr id="5" name="Shape 3"/>
          <p:cNvSpPr/>
          <p:nvPr/>
        </p:nvSpPr>
        <p:spPr>
          <a:xfrm>
            <a:off x="457200" y="1005840"/>
            <a:ext cx="64008" cy="1078992"/>
          </a:xfrm>
          <a:prstGeom prst="rect">
            <a:avLst/>
          </a:prstGeom>
          <a:solidFill>
            <a:srgbClr val="C0392B"/>
          </a:solidFill>
          <a:ln w="12700">
            <a:solidFill>
              <a:srgbClr val="C0392B"/>
            </a:solidFill>
            <a:prstDash val="solid"/>
          </a:ln>
        </p:spPr>
      </p:sp>
      <p:sp>
        <p:nvSpPr>
          <p:cNvPr id="6" name="Text 4"/>
          <p:cNvSpPr/>
          <p:nvPr/>
        </p:nvSpPr>
        <p:spPr>
          <a:xfrm>
            <a:off x="621792" y="1069848"/>
            <a:ext cx="914400" cy="201168"/>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Step 1</a:t>
            </a:r>
            <a:endParaRPr lang="en-US" sz="1000" dirty="0"/>
          </a:p>
        </p:txBody>
      </p:sp>
      <p:sp>
        <p:nvSpPr>
          <p:cNvPr id="7" name="Text 5"/>
          <p:cNvSpPr/>
          <p:nvPr/>
        </p:nvSpPr>
        <p:spPr>
          <a:xfrm>
            <a:off x="621792" y="1280160"/>
            <a:ext cx="3840480" cy="27432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Drop Missing Values</a:t>
            </a:r>
            <a:endParaRPr lang="en-US" sz="1400" dirty="0"/>
          </a:p>
        </p:txBody>
      </p:sp>
      <p:sp>
        <p:nvSpPr>
          <p:cNvPr id="8" name="Text 6"/>
          <p:cNvSpPr/>
          <p:nvPr/>
        </p:nvSpPr>
        <p:spPr>
          <a:xfrm>
            <a:off x="621792" y="1572768"/>
            <a:ext cx="384048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df.dropna() — removed rows with null entries</a:t>
            </a:r>
            <a:endParaRPr lang="en-US" sz="1100" dirty="0"/>
          </a:p>
        </p:txBody>
      </p:sp>
      <p:sp>
        <p:nvSpPr>
          <p:cNvPr id="9" name="Shape 7"/>
          <p:cNvSpPr/>
          <p:nvPr/>
        </p:nvSpPr>
        <p:spPr>
          <a:xfrm>
            <a:off x="4800600" y="1005840"/>
            <a:ext cx="4160520" cy="1078992"/>
          </a:xfrm>
          <a:prstGeom prst="rect">
            <a:avLst/>
          </a:prstGeom>
          <a:solidFill>
            <a:srgbClr val="FFFFFF"/>
          </a:solidFill>
          <a:ln/>
          <a:effectLst>
            <a:outerShdw blurRad="50800" dist="25400" dir="8100000" algn="bl" rotWithShape="0">
              <a:srgbClr val="000000">
                <a:alpha val="9000"/>
              </a:srgbClr>
            </a:outerShdw>
          </a:effectLst>
        </p:spPr>
      </p:sp>
      <p:sp>
        <p:nvSpPr>
          <p:cNvPr id="10" name="Shape 8"/>
          <p:cNvSpPr/>
          <p:nvPr/>
        </p:nvSpPr>
        <p:spPr>
          <a:xfrm>
            <a:off x="4800600" y="1005840"/>
            <a:ext cx="64008" cy="1078992"/>
          </a:xfrm>
          <a:prstGeom prst="rect">
            <a:avLst/>
          </a:prstGeom>
          <a:solidFill>
            <a:srgbClr val="E67E22"/>
          </a:solidFill>
          <a:ln w="12700">
            <a:solidFill>
              <a:srgbClr val="E67E22"/>
            </a:solidFill>
            <a:prstDash val="solid"/>
          </a:ln>
        </p:spPr>
      </p:sp>
      <p:sp>
        <p:nvSpPr>
          <p:cNvPr id="11" name="Text 9"/>
          <p:cNvSpPr/>
          <p:nvPr/>
        </p:nvSpPr>
        <p:spPr>
          <a:xfrm>
            <a:off x="4965192" y="1069848"/>
            <a:ext cx="914400" cy="201168"/>
          </a:xfrm>
          <a:prstGeom prst="rect">
            <a:avLst/>
          </a:prstGeom>
          <a:noFill/>
          <a:ln/>
        </p:spPr>
        <p:txBody>
          <a:bodyPr wrap="square" lIns="0" tIns="0" rIns="0" bIns="0" rtlCol="0" anchor="ctr"/>
          <a:lstStyle/>
          <a:p>
            <a:pPr marL="0" indent="0">
              <a:buNone/>
            </a:pPr>
            <a:r>
              <a:rPr lang="en-US" sz="1000" b="1" dirty="0">
                <a:solidFill>
                  <a:srgbClr val="E67E22"/>
                </a:solidFill>
                <a:latin typeface="Calibri" pitchFamily="34" charset="0"/>
                <a:ea typeface="Calibri" pitchFamily="34" charset="-122"/>
                <a:cs typeface="Calibri" pitchFamily="34" charset="-120"/>
              </a:rPr>
              <a:t>Step 2</a:t>
            </a:r>
            <a:endParaRPr lang="en-US" sz="1000" dirty="0"/>
          </a:p>
        </p:txBody>
      </p:sp>
      <p:sp>
        <p:nvSpPr>
          <p:cNvPr id="12" name="Text 10"/>
          <p:cNvSpPr/>
          <p:nvPr/>
        </p:nvSpPr>
        <p:spPr>
          <a:xfrm>
            <a:off x="4965192" y="1280160"/>
            <a:ext cx="3840480" cy="27432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Remove Duplicates</a:t>
            </a:r>
            <a:endParaRPr lang="en-US" sz="1400" dirty="0"/>
          </a:p>
        </p:txBody>
      </p:sp>
      <p:sp>
        <p:nvSpPr>
          <p:cNvPr id="13" name="Text 11"/>
          <p:cNvSpPr/>
          <p:nvPr/>
        </p:nvSpPr>
        <p:spPr>
          <a:xfrm>
            <a:off x="4965192" y="1572768"/>
            <a:ext cx="384048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df.drop_duplicates() — eliminated redundant records</a:t>
            </a:r>
            <a:endParaRPr lang="en-US" sz="1100" dirty="0"/>
          </a:p>
        </p:txBody>
      </p:sp>
      <p:sp>
        <p:nvSpPr>
          <p:cNvPr id="14" name="Shape 12"/>
          <p:cNvSpPr/>
          <p:nvPr/>
        </p:nvSpPr>
        <p:spPr>
          <a:xfrm>
            <a:off x="457200" y="2267712"/>
            <a:ext cx="4160520" cy="1078992"/>
          </a:xfrm>
          <a:prstGeom prst="rect">
            <a:avLst/>
          </a:prstGeom>
          <a:solidFill>
            <a:srgbClr val="FFFFFF"/>
          </a:solidFill>
          <a:ln/>
          <a:effectLst>
            <a:outerShdw blurRad="50800" dist="25400" dir="8100000" algn="bl" rotWithShape="0">
              <a:srgbClr val="000000">
                <a:alpha val="9000"/>
              </a:srgbClr>
            </a:outerShdw>
          </a:effectLst>
        </p:spPr>
      </p:sp>
      <p:sp>
        <p:nvSpPr>
          <p:cNvPr id="15" name="Shape 13"/>
          <p:cNvSpPr/>
          <p:nvPr/>
        </p:nvSpPr>
        <p:spPr>
          <a:xfrm>
            <a:off x="457200" y="2267712"/>
            <a:ext cx="64008" cy="1078992"/>
          </a:xfrm>
          <a:prstGeom prst="rect">
            <a:avLst/>
          </a:prstGeom>
          <a:solidFill>
            <a:srgbClr val="F39C12"/>
          </a:solidFill>
          <a:ln w="12700">
            <a:solidFill>
              <a:srgbClr val="F39C12"/>
            </a:solidFill>
            <a:prstDash val="solid"/>
          </a:ln>
        </p:spPr>
      </p:sp>
      <p:sp>
        <p:nvSpPr>
          <p:cNvPr id="16" name="Text 14"/>
          <p:cNvSpPr/>
          <p:nvPr/>
        </p:nvSpPr>
        <p:spPr>
          <a:xfrm>
            <a:off x="621792" y="2331720"/>
            <a:ext cx="914400" cy="201168"/>
          </a:xfrm>
          <a:prstGeom prst="rect">
            <a:avLst/>
          </a:prstGeom>
          <a:noFill/>
          <a:ln/>
        </p:spPr>
        <p:txBody>
          <a:bodyPr wrap="square" lIns="0" tIns="0" rIns="0" bIns="0" rtlCol="0" anchor="ctr"/>
          <a:lstStyle/>
          <a:p>
            <a:pPr marL="0" indent="0">
              <a:buNone/>
            </a:pPr>
            <a:r>
              <a:rPr lang="en-US" sz="1000" b="1" dirty="0">
                <a:solidFill>
                  <a:srgbClr val="F39C12"/>
                </a:solidFill>
                <a:latin typeface="Calibri" pitchFamily="34" charset="0"/>
                <a:ea typeface="Calibri" pitchFamily="34" charset="-122"/>
                <a:cs typeface="Calibri" pitchFamily="34" charset="-120"/>
              </a:rPr>
              <a:t>Step 3</a:t>
            </a:r>
            <a:endParaRPr lang="en-US" sz="1000" dirty="0"/>
          </a:p>
        </p:txBody>
      </p:sp>
      <p:sp>
        <p:nvSpPr>
          <p:cNvPr id="17" name="Text 15"/>
          <p:cNvSpPr/>
          <p:nvPr/>
        </p:nvSpPr>
        <p:spPr>
          <a:xfrm>
            <a:off x="621792" y="2542032"/>
            <a:ext cx="3840480" cy="27432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Clean KM Driven</a:t>
            </a:r>
            <a:endParaRPr lang="en-US" sz="1400" dirty="0"/>
          </a:p>
        </p:txBody>
      </p:sp>
      <p:sp>
        <p:nvSpPr>
          <p:cNvPr id="18" name="Text 16"/>
          <p:cNvSpPr/>
          <p:nvPr/>
        </p:nvSpPr>
        <p:spPr>
          <a:xfrm>
            <a:off x="621792" y="2834640"/>
            <a:ext cx="384048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Stripped 'km', commas → extracted numeric value</a:t>
            </a:r>
            <a:endParaRPr lang="en-US" sz="1100" dirty="0"/>
          </a:p>
        </p:txBody>
      </p:sp>
      <p:sp>
        <p:nvSpPr>
          <p:cNvPr id="19" name="Shape 17"/>
          <p:cNvSpPr/>
          <p:nvPr/>
        </p:nvSpPr>
        <p:spPr>
          <a:xfrm>
            <a:off x="4800600" y="2267712"/>
            <a:ext cx="4160520" cy="1078992"/>
          </a:xfrm>
          <a:prstGeom prst="rect">
            <a:avLst/>
          </a:prstGeom>
          <a:solidFill>
            <a:srgbClr val="FFFFFF"/>
          </a:solidFill>
          <a:ln/>
          <a:effectLst>
            <a:outerShdw blurRad="50800" dist="25400" dir="8100000" algn="bl" rotWithShape="0">
              <a:srgbClr val="000000">
                <a:alpha val="9000"/>
              </a:srgbClr>
            </a:outerShdw>
          </a:effectLst>
        </p:spPr>
      </p:sp>
      <p:sp>
        <p:nvSpPr>
          <p:cNvPr id="20" name="Shape 18"/>
          <p:cNvSpPr/>
          <p:nvPr/>
        </p:nvSpPr>
        <p:spPr>
          <a:xfrm>
            <a:off x="4800600" y="2267712"/>
            <a:ext cx="64008" cy="1078992"/>
          </a:xfrm>
          <a:prstGeom prst="rect">
            <a:avLst/>
          </a:prstGeom>
          <a:solidFill>
            <a:srgbClr val="27AE60"/>
          </a:solidFill>
          <a:ln w="12700">
            <a:solidFill>
              <a:srgbClr val="27AE60"/>
            </a:solidFill>
            <a:prstDash val="solid"/>
          </a:ln>
        </p:spPr>
      </p:sp>
      <p:sp>
        <p:nvSpPr>
          <p:cNvPr id="21" name="Text 19"/>
          <p:cNvSpPr/>
          <p:nvPr/>
        </p:nvSpPr>
        <p:spPr>
          <a:xfrm>
            <a:off x="4965192" y="2331720"/>
            <a:ext cx="914400" cy="201168"/>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Step 4</a:t>
            </a:r>
            <a:endParaRPr lang="en-US" sz="1000" dirty="0"/>
          </a:p>
        </p:txBody>
      </p:sp>
      <p:sp>
        <p:nvSpPr>
          <p:cNvPr id="22" name="Text 20"/>
          <p:cNvSpPr/>
          <p:nvPr/>
        </p:nvSpPr>
        <p:spPr>
          <a:xfrm>
            <a:off x="4965192" y="2542032"/>
            <a:ext cx="3840480" cy="27432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Clean Price Column</a:t>
            </a:r>
            <a:endParaRPr lang="en-US" sz="1400" dirty="0"/>
          </a:p>
        </p:txBody>
      </p:sp>
      <p:sp>
        <p:nvSpPr>
          <p:cNvPr id="23" name="Text 21"/>
          <p:cNvSpPr/>
          <p:nvPr/>
        </p:nvSpPr>
        <p:spPr>
          <a:xfrm>
            <a:off x="4965192" y="2834640"/>
            <a:ext cx="384048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Removed ₹ symbol and commas → numeric conversion</a:t>
            </a:r>
            <a:endParaRPr lang="en-US" sz="1100" dirty="0"/>
          </a:p>
        </p:txBody>
      </p:sp>
      <p:sp>
        <p:nvSpPr>
          <p:cNvPr id="24" name="Shape 22"/>
          <p:cNvSpPr/>
          <p:nvPr/>
        </p:nvSpPr>
        <p:spPr>
          <a:xfrm>
            <a:off x="457200" y="3529584"/>
            <a:ext cx="4160520" cy="1078992"/>
          </a:xfrm>
          <a:prstGeom prst="rect">
            <a:avLst/>
          </a:prstGeom>
          <a:solidFill>
            <a:srgbClr val="FFFFFF"/>
          </a:solidFill>
          <a:ln/>
          <a:effectLst>
            <a:outerShdw blurRad="50800" dist="25400" dir="8100000" algn="bl" rotWithShape="0">
              <a:srgbClr val="000000">
                <a:alpha val="9000"/>
              </a:srgbClr>
            </a:outerShdw>
          </a:effectLst>
        </p:spPr>
      </p:sp>
      <p:sp>
        <p:nvSpPr>
          <p:cNvPr id="25" name="Shape 23"/>
          <p:cNvSpPr/>
          <p:nvPr/>
        </p:nvSpPr>
        <p:spPr>
          <a:xfrm>
            <a:off x="457200" y="3529584"/>
            <a:ext cx="64008" cy="1078992"/>
          </a:xfrm>
          <a:prstGeom prst="rect">
            <a:avLst/>
          </a:prstGeom>
          <a:solidFill>
            <a:srgbClr val="2E86AB"/>
          </a:solidFill>
          <a:ln w="12700">
            <a:solidFill>
              <a:srgbClr val="2E86AB"/>
            </a:solidFill>
            <a:prstDash val="solid"/>
          </a:ln>
        </p:spPr>
      </p:sp>
      <p:sp>
        <p:nvSpPr>
          <p:cNvPr id="26" name="Text 24"/>
          <p:cNvSpPr/>
          <p:nvPr/>
        </p:nvSpPr>
        <p:spPr>
          <a:xfrm>
            <a:off x="621792" y="3593592"/>
            <a:ext cx="914400" cy="201168"/>
          </a:xfrm>
          <a:prstGeom prst="rect">
            <a:avLst/>
          </a:prstGeom>
          <a:noFill/>
          <a:ln/>
        </p:spPr>
        <p:txBody>
          <a:bodyPr wrap="square" lIns="0" tIns="0" rIns="0" bIns="0" rtlCol="0" anchor="ctr"/>
          <a:lstStyle/>
          <a:p>
            <a:pPr marL="0" indent="0">
              <a:buNone/>
            </a:pPr>
            <a:r>
              <a:rPr lang="en-US" sz="1000" b="1" dirty="0">
                <a:solidFill>
                  <a:srgbClr val="2E86AB"/>
                </a:solidFill>
                <a:latin typeface="Calibri" pitchFamily="34" charset="0"/>
                <a:ea typeface="Calibri" pitchFamily="34" charset="-122"/>
                <a:cs typeface="Calibri" pitchFamily="34" charset="-120"/>
              </a:rPr>
              <a:t>Step 5</a:t>
            </a:r>
            <a:endParaRPr lang="en-US" sz="1000" dirty="0"/>
          </a:p>
        </p:txBody>
      </p:sp>
      <p:sp>
        <p:nvSpPr>
          <p:cNvPr id="27" name="Text 25"/>
          <p:cNvSpPr/>
          <p:nvPr/>
        </p:nvSpPr>
        <p:spPr>
          <a:xfrm>
            <a:off x="621792" y="3803904"/>
            <a:ext cx="3840480" cy="27432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Drop Irrelevant Cols</a:t>
            </a:r>
            <a:endParaRPr lang="en-US" sz="1400" dirty="0"/>
          </a:p>
        </p:txBody>
      </p:sp>
      <p:sp>
        <p:nvSpPr>
          <p:cNvPr id="28" name="Text 26"/>
          <p:cNvSpPr/>
          <p:nvPr/>
        </p:nvSpPr>
        <p:spPr>
          <a:xfrm>
            <a:off x="621792" y="4096512"/>
            <a:ext cx="384048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Removed PostedDate and AdditionalInfo columns</a:t>
            </a:r>
            <a:endParaRPr lang="en-US" sz="1100" dirty="0"/>
          </a:p>
        </p:txBody>
      </p:sp>
      <p:sp>
        <p:nvSpPr>
          <p:cNvPr id="29" name="Shape 27"/>
          <p:cNvSpPr/>
          <p:nvPr/>
        </p:nvSpPr>
        <p:spPr>
          <a:xfrm>
            <a:off x="4800600" y="3529584"/>
            <a:ext cx="4160520" cy="1078992"/>
          </a:xfrm>
          <a:prstGeom prst="rect">
            <a:avLst/>
          </a:prstGeom>
          <a:solidFill>
            <a:srgbClr val="FFFFFF"/>
          </a:solidFill>
          <a:ln/>
          <a:effectLst>
            <a:outerShdw blurRad="50800" dist="25400" dir="8100000" algn="bl" rotWithShape="0">
              <a:srgbClr val="000000">
                <a:alpha val="9000"/>
              </a:srgbClr>
            </a:outerShdw>
          </a:effectLst>
        </p:spPr>
      </p:sp>
      <p:sp>
        <p:nvSpPr>
          <p:cNvPr id="30" name="Shape 28"/>
          <p:cNvSpPr/>
          <p:nvPr/>
        </p:nvSpPr>
        <p:spPr>
          <a:xfrm>
            <a:off x="4800600" y="3529584"/>
            <a:ext cx="64008" cy="1078992"/>
          </a:xfrm>
          <a:prstGeom prst="rect">
            <a:avLst/>
          </a:prstGeom>
          <a:solidFill>
            <a:srgbClr val="1B4F72"/>
          </a:solidFill>
          <a:ln w="12700">
            <a:solidFill>
              <a:srgbClr val="1B4F72"/>
            </a:solidFill>
            <a:prstDash val="solid"/>
          </a:ln>
        </p:spPr>
      </p:sp>
      <p:sp>
        <p:nvSpPr>
          <p:cNvPr id="31" name="Text 29"/>
          <p:cNvSpPr/>
          <p:nvPr/>
        </p:nvSpPr>
        <p:spPr>
          <a:xfrm>
            <a:off x="4965192" y="3593592"/>
            <a:ext cx="914400" cy="201168"/>
          </a:xfrm>
          <a:prstGeom prst="rect">
            <a:avLst/>
          </a:prstGeom>
          <a:noFill/>
          <a:ln/>
        </p:spPr>
        <p:txBody>
          <a:bodyPr wrap="square" lIns="0" tIns="0" rIns="0" bIns="0" rtlCol="0" anchor="ctr"/>
          <a:lstStyle/>
          <a:p>
            <a:pPr marL="0" indent="0">
              <a:buNone/>
            </a:pPr>
            <a:r>
              <a:rPr lang="en-US" sz="1000" b="1" dirty="0">
                <a:solidFill>
                  <a:srgbClr val="1B4F72"/>
                </a:solidFill>
                <a:latin typeface="Calibri" pitchFamily="34" charset="0"/>
                <a:ea typeface="Calibri" pitchFamily="34" charset="-122"/>
                <a:cs typeface="Calibri" pitchFamily="34" charset="-120"/>
              </a:rPr>
              <a:t>Step 6</a:t>
            </a:r>
            <a:endParaRPr lang="en-US" sz="1000" dirty="0"/>
          </a:p>
        </p:txBody>
      </p:sp>
      <p:sp>
        <p:nvSpPr>
          <p:cNvPr id="32" name="Text 30"/>
          <p:cNvSpPr/>
          <p:nvPr/>
        </p:nvSpPr>
        <p:spPr>
          <a:xfrm>
            <a:off x="4965192" y="3803904"/>
            <a:ext cx="3840480" cy="27432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Fix Data Types</a:t>
            </a:r>
            <a:endParaRPr lang="en-US" sz="1400" dirty="0"/>
          </a:p>
        </p:txBody>
      </p:sp>
      <p:sp>
        <p:nvSpPr>
          <p:cNvPr id="33" name="Text 31"/>
          <p:cNvSpPr/>
          <p:nvPr/>
        </p:nvSpPr>
        <p:spPr>
          <a:xfrm>
            <a:off x="4965192" y="4096512"/>
            <a:ext cx="384048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Year &amp; Age cast to int; Price &amp; KM to float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Before vs After Cleaning</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960120"/>
            <a:ext cx="3840480" cy="3657600"/>
          </a:xfrm>
          <a:prstGeom prst="rect">
            <a:avLst/>
          </a:prstGeom>
          <a:solidFill>
            <a:srgbClr val="FEF9F0"/>
          </a:solidFill>
          <a:ln/>
          <a:effectLst>
            <a:outerShdw blurRad="63500" dist="25400" dir="8100000" algn="bl" rotWithShape="0">
              <a:srgbClr val="000000">
                <a:alpha val="8000"/>
              </a:srgbClr>
            </a:outerShdw>
          </a:effectLst>
        </p:spPr>
      </p:sp>
      <p:sp>
        <p:nvSpPr>
          <p:cNvPr id="5" name="Shape 3"/>
          <p:cNvSpPr/>
          <p:nvPr/>
        </p:nvSpPr>
        <p:spPr>
          <a:xfrm>
            <a:off x="457200" y="960120"/>
            <a:ext cx="3840480" cy="457200"/>
          </a:xfrm>
          <a:prstGeom prst="rect">
            <a:avLst/>
          </a:prstGeom>
          <a:solidFill>
            <a:srgbClr val="E67E22"/>
          </a:solidFill>
          <a:ln w="12700">
            <a:solidFill>
              <a:srgbClr val="E67E22"/>
            </a:solidFill>
            <a:prstDash val="solid"/>
          </a:ln>
        </p:spPr>
      </p:sp>
      <p:sp>
        <p:nvSpPr>
          <p:cNvPr id="6" name="Text 4"/>
          <p:cNvSpPr/>
          <p:nvPr/>
        </p:nvSpPr>
        <p:spPr>
          <a:xfrm>
            <a:off x="457200" y="960120"/>
            <a:ext cx="3840480" cy="457200"/>
          </a:xfrm>
          <a:prstGeom prst="rect">
            <a:avLst/>
          </a:prstGeom>
          <a:noFill/>
          <a:ln/>
        </p:spPr>
        <p:txBody>
          <a:bodyPr wrap="square" lIns="0" tIns="0" rIns="0" bIns="0" rtlCol="0" anchor="ctr"/>
          <a:lstStyle/>
          <a:p>
            <a:pPr marL="0" indent="0" algn="ctr">
              <a:buNone/>
            </a:pPr>
            <a:r>
              <a:rPr lang="en-US" sz="1500" b="1" dirty="0">
                <a:solidFill>
                  <a:srgbClr val="FFFFFF"/>
                </a:solidFill>
              </a:rPr>
              <a:t>BEFORE</a:t>
            </a:r>
            <a:endParaRPr lang="en-US" sz="1500" dirty="0"/>
          </a:p>
        </p:txBody>
      </p:sp>
      <p:sp>
        <p:nvSpPr>
          <p:cNvPr id="7" name="Text 5"/>
          <p:cNvSpPr/>
          <p:nvPr/>
        </p:nvSpPr>
        <p:spPr>
          <a:xfrm>
            <a:off x="640080" y="1508760"/>
            <a:ext cx="3474720" cy="2926080"/>
          </a:xfrm>
          <a:prstGeom prst="rect">
            <a:avLst/>
          </a:prstGeom>
          <a:noFill/>
          <a:ln/>
        </p:spPr>
        <p:txBody>
          <a:bodyPr wrap="square" rtlCol="0" anchor="ctr"/>
          <a:lstStyle/>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9,582 total records</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Mixed text in KM column (e.g. '98,000 km')</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Price as string with ₹ symbol</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Missing values present</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Duplicate entries</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PostedDate &amp; AdditionInfo columns</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Inconsistent dtypes</a:t>
            </a:r>
            <a:endParaRPr lang="en-US" sz="1200" dirty="0"/>
          </a:p>
        </p:txBody>
      </p:sp>
      <p:sp>
        <p:nvSpPr>
          <p:cNvPr id="8" name="Shape 6"/>
          <p:cNvSpPr/>
          <p:nvPr/>
        </p:nvSpPr>
        <p:spPr>
          <a:xfrm>
            <a:off x="4846320" y="960120"/>
            <a:ext cx="3840480" cy="3657600"/>
          </a:xfrm>
          <a:prstGeom prst="rect">
            <a:avLst/>
          </a:prstGeom>
          <a:solidFill>
            <a:srgbClr val="EAFAF1"/>
          </a:solidFill>
          <a:ln/>
          <a:effectLst>
            <a:outerShdw blurRad="63500" dist="25400" dir="8100000" algn="bl" rotWithShape="0">
              <a:srgbClr val="000000">
                <a:alpha val="8000"/>
              </a:srgbClr>
            </a:outerShdw>
          </a:effectLst>
        </p:spPr>
      </p:sp>
      <p:sp>
        <p:nvSpPr>
          <p:cNvPr id="9" name="Shape 7"/>
          <p:cNvSpPr/>
          <p:nvPr/>
        </p:nvSpPr>
        <p:spPr>
          <a:xfrm>
            <a:off x="4846320" y="960120"/>
            <a:ext cx="3840480" cy="457200"/>
          </a:xfrm>
          <a:prstGeom prst="rect">
            <a:avLst/>
          </a:prstGeom>
          <a:solidFill>
            <a:srgbClr val="27AE60"/>
          </a:solidFill>
          <a:ln w="12700">
            <a:solidFill>
              <a:srgbClr val="27AE60"/>
            </a:solidFill>
            <a:prstDash val="solid"/>
          </a:ln>
        </p:spPr>
      </p:sp>
      <p:sp>
        <p:nvSpPr>
          <p:cNvPr id="10" name="Text 8"/>
          <p:cNvSpPr/>
          <p:nvPr/>
        </p:nvSpPr>
        <p:spPr>
          <a:xfrm>
            <a:off x="4846320" y="960120"/>
            <a:ext cx="3840480" cy="457200"/>
          </a:xfrm>
          <a:prstGeom prst="rect">
            <a:avLst/>
          </a:prstGeom>
          <a:noFill/>
          <a:ln/>
        </p:spPr>
        <p:txBody>
          <a:bodyPr wrap="square" lIns="0" tIns="0" rIns="0" bIns="0" rtlCol="0" anchor="ctr"/>
          <a:lstStyle/>
          <a:p>
            <a:pPr marL="0" indent="0" algn="ctr">
              <a:buNone/>
            </a:pPr>
            <a:r>
              <a:rPr lang="en-US" sz="1500" b="1" dirty="0">
                <a:solidFill>
                  <a:srgbClr val="FFFFFF"/>
                </a:solidFill>
              </a:rPr>
              <a:t>AFTER</a:t>
            </a:r>
            <a:endParaRPr lang="en-US" sz="1500" dirty="0"/>
          </a:p>
        </p:txBody>
      </p:sp>
      <p:sp>
        <p:nvSpPr>
          <p:cNvPr id="11" name="Text 9"/>
          <p:cNvSpPr/>
          <p:nvPr/>
        </p:nvSpPr>
        <p:spPr>
          <a:xfrm>
            <a:off x="5029200" y="1508760"/>
            <a:ext cx="3474720" cy="2926080"/>
          </a:xfrm>
          <a:prstGeom prst="rect">
            <a:avLst/>
          </a:prstGeom>
          <a:noFill/>
          <a:ln/>
        </p:spPr>
        <p:txBody>
          <a:bodyPr wrap="square" rtlCol="0" anchor="ctr"/>
          <a:lstStyle/>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8,812 clean records</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KM as numeric integer</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Price as clean numeric ₹</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No missing values</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No duplicates</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9 relevant columns only</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Correct integer/float dtypes</a:t>
            </a:r>
            <a:endParaRPr lang="en-US" sz="1200" dirty="0"/>
          </a:p>
        </p:txBody>
      </p:sp>
      <p:sp>
        <p:nvSpPr>
          <p:cNvPr id="12" name="Shape 10"/>
          <p:cNvSpPr/>
          <p:nvPr/>
        </p:nvSpPr>
        <p:spPr>
          <a:xfrm>
            <a:off x="4352544" y="2514600"/>
            <a:ext cx="438912" cy="73152"/>
          </a:xfrm>
          <a:prstGeom prst="rect">
            <a:avLst/>
          </a:prstGeom>
          <a:solidFill>
            <a:srgbClr val="2E86AB"/>
          </a:solidFill>
          <a:ln w="12700">
            <a:solidFill>
              <a:srgbClr val="2E86AB"/>
            </a:solidFill>
            <a:prstDash val="solid"/>
          </a:ln>
        </p:spPr>
      </p:sp>
      <p:sp>
        <p:nvSpPr>
          <p:cNvPr id="13" name="Text 11"/>
          <p:cNvSpPr/>
          <p:nvPr/>
        </p:nvSpPr>
        <p:spPr>
          <a:xfrm>
            <a:off x="4315968" y="2331720"/>
            <a:ext cx="512064" cy="457200"/>
          </a:xfrm>
          <a:prstGeom prst="rect">
            <a:avLst/>
          </a:prstGeom>
          <a:noFill/>
          <a:ln/>
        </p:spPr>
        <p:txBody>
          <a:bodyPr wrap="square" rtlCol="0" anchor="ctr"/>
          <a:lstStyle/>
          <a:p>
            <a:pPr marL="0" indent="0" algn="ctr">
              <a:buNone/>
            </a:pPr>
            <a:r>
              <a:rPr lang="en-US" sz="2400" b="1" dirty="0">
                <a:solidFill>
                  <a:srgbClr val="2E86AB"/>
                </a:solidFill>
              </a:rPr>
              <a:t>→</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7498080" y="-457200"/>
            <a:ext cx="2743200" cy="2743200"/>
          </a:xfrm>
          <a:prstGeom prst="ellipse">
            <a:avLst/>
          </a:prstGeom>
          <a:solidFill>
            <a:srgbClr val="2E86AB">
              <a:alpha val="25000"/>
            </a:srgbClr>
          </a:solidFill>
          <a:ln w="12700">
            <a:solidFill>
              <a:srgbClr val="2E86AB">
                <a:alpha val="25000"/>
              </a:srgbClr>
            </a:solidFill>
            <a:prstDash val="solid"/>
          </a:ln>
        </p:spPr>
      </p:sp>
      <p:sp>
        <p:nvSpPr>
          <p:cNvPr id="3" name="Text 1"/>
          <p:cNvSpPr/>
          <p:nvPr/>
        </p:nvSpPr>
        <p:spPr>
          <a:xfrm>
            <a:off x="640080" y="822960"/>
            <a:ext cx="3657600" cy="457200"/>
          </a:xfrm>
          <a:prstGeom prst="rect">
            <a:avLst/>
          </a:prstGeom>
          <a:noFill/>
          <a:ln/>
        </p:spPr>
        <p:txBody>
          <a:bodyPr wrap="square" rtlCol="0" anchor="ctr"/>
          <a:lstStyle/>
          <a:p>
            <a:pPr marL="0" indent="0">
              <a:buNone/>
            </a:pPr>
            <a:r>
              <a:rPr lang="en-US" sz="1400" i="1" dirty="0">
                <a:solidFill>
                  <a:srgbClr val="A0C4FF"/>
                </a:solidFill>
                <a:latin typeface="Calibri" pitchFamily="34" charset="0"/>
                <a:ea typeface="Calibri" pitchFamily="34" charset="-122"/>
                <a:cs typeface="Calibri" pitchFamily="34" charset="-120"/>
              </a:rPr>
              <a:t>Section 04</a:t>
            </a:r>
            <a:endParaRPr lang="en-US" sz="1400" dirty="0"/>
          </a:p>
        </p:txBody>
      </p:sp>
      <p:sp>
        <p:nvSpPr>
          <p:cNvPr id="4" name="Text 2"/>
          <p:cNvSpPr/>
          <p:nvPr/>
        </p:nvSpPr>
        <p:spPr>
          <a:xfrm>
            <a:off x="640080" y="1371600"/>
            <a:ext cx="7589520" cy="10972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Exploratory Data Analysis</a:t>
            </a:r>
            <a:endParaRPr lang="en-US" sz="3600" dirty="0"/>
          </a:p>
        </p:txBody>
      </p:sp>
      <p:sp>
        <p:nvSpPr>
          <p:cNvPr id="5" name="Text 3"/>
          <p:cNvSpPr/>
          <p:nvPr/>
        </p:nvSpPr>
        <p:spPr>
          <a:xfrm>
            <a:off x="640080" y="2651760"/>
            <a:ext cx="6400800" cy="640080"/>
          </a:xfrm>
          <a:prstGeom prst="rect">
            <a:avLst/>
          </a:prstGeom>
          <a:noFill/>
          <a:ln/>
        </p:spPr>
        <p:txBody>
          <a:bodyPr wrap="square" rtlCol="0" anchor="ctr"/>
          <a:lstStyle/>
          <a:p>
            <a:pPr marL="0" indent="0">
              <a:buNone/>
            </a:pPr>
            <a:r>
              <a:rPr lang="en-US" sz="1600" dirty="0">
                <a:solidFill>
                  <a:srgbClr val="D6EAF8"/>
                </a:solidFill>
                <a:latin typeface="Calibri" pitchFamily="34" charset="0"/>
                <a:ea typeface="Calibri" pitchFamily="34" charset="-122"/>
                <a:cs typeface="Calibri" pitchFamily="34" charset="-120"/>
              </a:rPr>
              <a:t>15 business questions answered with data insights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Q1–Q3: Pricing &amp; Fuel Overview</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960120"/>
            <a:ext cx="8229600" cy="1005840"/>
          </a:xfrm>
          <a:prstGeom prst="rect">
            <a:avLst/>
          </a:prstGeom>
          <a:solidFill>
            <a:srgbClr val="FFFFFF"/>
          </a:solidFill>
          <a:ln/>
          <a:effectLst>
            <a:outerShdw blurRad="50800" dist="12700" dir="8100000" algn="bl" rotWithShape="0">
              <a:srgbClr val="000000">
                <a:alpha val="8000"/>
              </a:srgbClr>
            </a:outerShdw>
          </a:effectLst>
        </p:spPr>
      </p:sp>
      <p:sp>
        <p:nvSpPr>
          <p:cNvPr id="5" name="Shape 3"/>
          <p:cNvSpPr/>
          <p:nvPr/>
        </p:nvSpPr>
        <p:spPr>
          <a:xfrm>
            <a:off x="457200" y="960120"/>
            <a:ext cx="64008" cy="1005840"/>
          </a:xfrm>
          <a:prstGeom prst="rect">
            <a:avLst/>
          </a:prstGeom>
          <a:solidFill>
            <a:srgbClr val="2E86AB"/>
          </a:solidFill>
          <a:ln w="12700">
            <a:solidFill>
              <a:srgbClr val="2E86AB"/>
            </a:solidFill>
            <a:prstDash val="solid"/>
          </a:ln>
        </p:spPr>
      </p:sp>
      <p:sp>
        <p:nvSpPr>
          <p:cNvPr id="6" name="Text 4"/>
          <p:cNvSpPr/>
          <p:nvPr/>
        </p:nvSpPr>
        <p:spPr>
          <a:xfrm>
            <a:off x="640080" y="1005840"/>
            <a:ext cx="457200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Q1. What is the average price of cars?</a:t>
            </a:r>
            <a:endParaRPr lang="en-US" sz="1300" dirty="0"/>
          </a:p>
        </p:txBody>
      </p:sp>
      <p:sp>
        <p:nvSpPr>
          <p:cNvPr id="7" name="Text 5"/>
          <p:cNvSpPr/>
          <p:nvPr/>
        </p:nvSpPr>
        <p:spPr>
          <a:xfrm>
            <a:off x="640080" y="1307592"/>
            <a:ext cx="7863840" cy="5029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Average: ₹10,42,024  |  Median: ₹5,90,000  |  Range: ₹15,000 – ₹4.25 Cr</a:t>
            </a:r>
            <a:endParaRPr lang="en-US" sz="1200" dirty="0"/>
          </a:p>
        </p:txBody>
      </p:sp>
      <p:sp>
        <p:nvSpPr>
          <p:cNvPr id="8" name="Shape 6"/>
          <p:cNvSpPr/>
          <p:nvPr/>
        </p:nvSpPr>
        <p:spPr>
          <a:xfrm>
            <a:off x="457200" y="2148840"/>
            <a:ext cx="8229600" cy="1143000"/>
          </a:xfrm>
          <a:prstGeom prst="rect">
            <a:avLst/>
          </a:prstGeom>
          <a:solidFill>
            <a:srgbClr val="FFFFFF"/>
          </a:solidFill>
          <a:ln/>
          <a:effectLst>
            <a:outerShdw blurRad="50800" dist="12700" dir="8100000" algn="bl" rotWithShape="0">
              <a:srgbClr val="000000">
                <a:alpha val="8000"/>
              </a:srgbClr>
            </a:outerShdw>
          </a:effectLst>
        </p:spPr>
      </p:sp>
      <p:sp>
        <p:nvSpPr>
          <p:cNvPr id="9" name="Shape 7"/>
          <p:cNvSpPr/>
          <p:nvPr/>
        </p:nvSpPr>
        <p:spPr>
          <a:xfrm>
            <a:off x="457200" y="2148840"/>
            <a:ext cx="64008" cy="1143000"/>
          </a:xfrm>
          <a:prstGeom prst="rect">
            <a:avLst/>
          </a:prstGeom>
          <a:solidFill>
            <a:srgbClr val="F39C12"/>
          </a:solidFill>
          <a:ln w="12700">
            <a:solidFill>
              <a:srgbClr val="F39C12"/>
            </a:solidFill>
            <a:prstDash val="solid"/>
          </a:ln>
        </p:spPr>
      </p:sp>
      <p:sp>
        <p:nvSpPr>
          <p:cNvPr id="10" name="Text 8"/>
          <p:cNvSpPr/>
          <p:nvPr/>
        </p:nvSpPr>
        <p:spPr>
          <a:xfrm>
            <a:off x="640080" y="2203704"/>
            <a:ext cx="5486400" cy="25603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Q2. Which brand has the highest average price?</a:t>
            </a:r>
            <a:endParaRPr lang="en-US" sz="1300" dirty="0"/>
          </a:p>
        </p:txBody>
      </p:sp>
      <p:sp>
        <p:nvSpPr>
          <p:cNvPr id="11" name="Text 9"/>
          <p:cNvSpPr/>
          <p:nvPr/>
        </p:nvSpPr>
        <p:spPr>
          <a:xfrm>
            <a:off x="731520" y="2514600"/>
            <a:ext cx="1508760" cy="621792"/>
          </a:xfrm>
          <a:prstGeom prst="rect">
            <a:avLst/>
          </a:prstGeom>
          <a:noFill/>
          <a:ln/>
        </p:spPr>
        <p:txBody>
          <a:bodyPr wrap="square" lIns="0" tIns="0" rIns="0" bIns="0" rtlCol="0" anchor="ctr"/>
          <a:lstStyle/>
          <a:p>
            <a:pPr marL="0" indent="0" algn="ctr">
              <a:buNone/>
            </a:pPr>
            <a:r>
              <a:rPr lang="en-US" sz="1000" dirty="0">
                <a:solidFill>
                  <a:srgbClr val="0D1B2A"/>
                </a:solidFill>
                <a:latin typeface="Calibri" pitchFamily="34" charset="0"/>
                <a:ea typeface="Calibri" pitchFamily="34" charset="-122"/>
                <a:cs typeface="Calibri" pitchFamily="34" charset="-120"/>
              </a:rPr>
              <a:t>Aston Martin: ₹2.64 Cr</a:t>
            </a:r>
            <a:endParaRPr lang="en-US" sz="1000" dirty="0"/>
          </a:p>
        </p:txBody>
      </p:sp>
      <p:sp>
        <p:nvSpPr>
          <p:cNvPr id="12" name="Shape 10"/>
          <p:cNvSpPr/>
          <p:nvPr/>
        </p:nvSpPr>
        <p:spPr>
          <a:xfrm>
            <a:off x="731520" y="2971800"/>
            <a:ext cx="1280160" cy="201168"/>
          </a:xfrm>
          <a:prstGeom prst="rect">
            <a:avLst/>
          </a:prstGeom>
          <a:solidFill>
            <a:srgbClr val="F39C12"/>
          </a:solidFill>
          <a:ln w="12700">
            <a:solidFill>
              <a:srgbClr val="F39C12"/>
            </a:solidFill>
            <a:prstDash val="solid"/>
          </a:ln>
        </p:spPr>
      </p:sp>
      <p:sp>
        <p:nvSpPr>
          <p:cNvPr id="13" name="Text 11"/>
          <p:cNvSpPr/>
          <p:nvPr/>
        </p:nvSpPr>
        <p:spPr>
          <a:xfrm>
            <a:off x="2322576" y="2514600"/>
            <a:ext cx="1508760" cy="621792"/>
          </a:xfrm>
          <a:prstGeom prst="rect">
            <a:avLst/>
          </a:prstGeom>
          <a:noFill/>
          <a:ln/>
        </p:spPr>
        <p:txBody>
          <a:bodyPr wrap="square" lIns="0" tIns="0" rIns="0" bIns="0" rtlCol="0" anchor="ctr"/>
          <a:lstStyle/>
          <a:p>
            <a:pPr marL="0" indent="0" algn="ctr">
              <a:buNone/>
            </a:pPr>
            <a:r>
              <a:rPr lang="en-US" sz="1000" dirty="0">
                <a:solidFill>
                  <a:srgbClr val="0D1B2A"/>
                </a:solidFill>
                <a:latin typeface="Calibri" pitchFamily="34" charset="0"/>
                <a:ea typeface="Calibri" pitchFamily="34" charset="-122"/>
                <a:cs typeface="Calibri" pitchFamily="34" charset="-120"/>
              </a:rPr>
              <a:t>Rolls-Royce: ₹2.14 Cr</a:t>
            </a:r>
            <a:endParaRPr lang="en-US" sz="1000" dirty="0"/>
          </a:p>
        </p:txBody>
      </p:sp>
      <p:sp>
        <p:nvSpPr>
          <p:cNvPr id="14" name="Shape 12"/>
          <p:cNvSpPr/>
          <p:nvPr/>
        </p:nvSpPr>
        <p:spPr>
          <a:xfrm>
            <a:off x="2322576" y="2971800"/>
            <a:ext cx="1280160" cy="201168"/>
          </a:xfrm>
          <a:prstGeom prst="rect">
            <a:avLst/>
          </a:prstGeom>
          <a:solidFill>
            <a:srgbClr val="F39C12"/>
          </a:solidFill>
          <a:ln w="12700">
            <a:solidFill>
              <a:srgbClr val="F39C12"/>
            </a:solidFill>
            <a:prstDash val="solid"/>
          </a:ln>
        </p:spPr>
      </p:sp>
      <p:sp>
        <p:nvSpPr>
          <p:cNvPr id="15" name="Text 13"/>
          <p:cNvSpPr/>
          <p:nvPr/>
        </p:nvSpPr>
        <p:spPr>
          <a:xfrm>
            <a:off x="3913632" y="2514600"/>
            <a:ext cx="1508760" cy="621792"/>
          </a:xfrm>
          <a:prstGeom prst="rect">
            <a:avLst/>
          </a:prstGeom>
          <a:noFill/>
          <a:ln/>
        </p:spPr>
        <p:txBody>
          <a:bodyPr wrap="square" lIns="0" tIns="0" rIns="0" bIns="0" rtlCol="0" anchor="ctr"/>
          <a:lstStyle/>
          <a:p>
            <a:pPr marL="0" indent="0" algn="ctr">
              <a:buNone/>
            </a:pPr>
            <a:r>
              <a:rPr lang="en-US" sz="1000" dirty="0">
                <a:solidFill>
                  <a:srgbClr val="0D1B2A"/>
                </a:solidFill>
                <a:latin typeface="Calibri" pitchFamily="34" charset="0"/>
                <a:ea typeface="Calibri" pitchFamily="34" charset="-122"/>
                <a:cs typeface="Calibri" pitchFamily="34" charset="-120"/>
              </a:rPr>
              <a:t>Bentley: ₹1.85 Cr</a:t>
            </a:r>
            <a:endParaRPr lang="en-US" sz="1000" dirty="0"/>
          </a:p>
        </p:txBody>
      </p:sp>
      <p:sp>
        <p:nvSpPr>
          <p:cNvPr id="16" name="Shape 14"/>
          <p:cNvSpPr/>
          <p:nvPr/>
        </p:nvSpPr>
        <p:spPr>
          <a:xfrm>
            <a:off x="3913632" y="2971800"/>
            <a:ext cx="1280160" cy="201168"/>
          </a:xfrm>
          <a:prstGeom prst="rect">
            <a:avLst/>
          </a:prstGeom>
          <a:solidFill>
            <a:srgbClr val="F39C12"/>
          </a:solidFill>
          <a:ln w="12700">
            <a:solidFill>
              <a:srgbClr val="F39C12"/>
            </a:solidFill>
            <a:prstDash val="solid"/>
          </a:ln>
        </p:spPr>
      </p:sp>
      <p:sp>
        <p:nvSpPr>
          <p:cNvPr id="17" name="Text 15"/>
          <p:cNvSpPr/>
          <p:nvPr/>
        </p:nvSpPr>
        <p:spPr>
          <a:xfrm>
            <a:off x="5504688" y="2514600"/>
            <a:ext cx="1508760" cy="621792"/>
          </a:xfrm>
          <a:prstGeom prst="rect">
            <a:avLst/>
          </a:prstGeom>
          <a:noFill/>
          <a:ln/>
        </p:spPr>
        <p:txBody>
          <a:bodyPr wrap="square" lIns="0" tIns="0" rIns="0" bIns="0" rtlCol="0" anchor="ctr"/>
          <a:lstStyle/>
          <a:p>
            <a:pPr marL="0" indent="0" algn="ctr">
              <a:buNone/>
            </a:pPr>
            <a:r>
              <a:rPr lang="en-US" sz="1000" dirty="0">
                <a:solidFill>
                  <a:srgbClr val="0D1B2A"/>
                </a:solidFill>
                <a:latin typeface="Calibri" pitchFamily="34" charset="0"/>
                <a:ea typeface="Calibri" pitchFamily="34" charset="-122"/>
                <a:cs typeface="Calibri" pitchFamily="34" charset="-120"/>
              </a:rPr>
              <a:t>Maserati: ₹80 L</a:t>
            </a:r>
            <a:endParaRPr lang="en-US" sz="1000" dirty="0"/>
          </a:p>
        </p:txBody>
      </p:sp>
      <p:sp>
        <p:nvSpPr>
          <p:cNvPr id="18" name="Shape 16"/>
          <p:cNvSpPr/>
          <p:nvPr/>
        </p:nvSpPr>
        <p:spPr>
          <a:xfrm>
            <a:off x="5504688" y="2971800"/>
            <a:ext cx="1280160" cy="201168"/>
          </a:xfrm>
          <a:prstGeom prst="rect">
            <a:avLst/>
          </a:prstGeom>
          <a:solidFill>
            <a:srgbClr val="F39C12"/>
          </a:solidFill>
          <a:ln w="12700">
            <a:solidFill>
              <a:srgbClr val="F39C12"/>
            </a:solidFill>
            <a:prstDash val="solid"/>
          </a:ln>
        </p:spPr>
      </p:sp>
      <p:sp>
        <p:nvSpPr>
          <p:cNvPr id="19" name="Text 17"/>
          <p:cNvSpPr/>
          <p:nvPr/>
        </p:nvSpPr>
        <p:spPr>
          <a:xfrm>
            <a:off x="7095744" y="2514600"/>
            <a:ext cx="1508760" cy="621792"/>
          </a:xfrm>
          <a:prstGeom prst="rect">
            <a:avLst/>
          </a:prstGeom>
          <a:noFill/>
          <a:ln/>
        </p:spPr>
        <p:txBody>
          <a:bodyPr wrap="square" lIns="0" tIns="0" rIns="0" bIns="0" rtlCol="0" anchor="ctr"/>
          <a:lstStyle/>
          <a:p>
            <a:pPr marL="0" indent="0" algn="ctr">
              <a:buNone/>
            </a:pPr>
            <a:r>
              <a:rPr lang="en-US" sz="1000" dirty="0">
                <a:solidFill>
                  <a:srgbClr val="0D1B2A"/>
                </a:solidFill>
                <a:latin typeface="Calibri" pitchFamily="34" charset="0"/>
                <a:ea typeface="Calibri" pitchFamily="34" charset="-122"/>
                <a:cs typeface="Calibri" pitchFamily="34" charset="-120"/>
              </a:rPr>
              <a:t>Porsche: ₹77 L</a:t>
            </a:r>
            <a:endParaRPr lang="en-US" sz="1000" dirty="0"/>
          </a:p>
        </p:txBody>
      </p:sp>
      <p:sp>
        <p:nvSpPr>
          <p:cNvPr id="20" name="Shape 18"/>
          <p:cNvSpPr/>
          <p:nvPr/>
        </p:nvSpPr>
        <p:spPr>
          <a:xfrm>
            <a:off x="7095744" y="2971800"/>
            <a:ext cx="1280160" cy="201168"/>
          </a:xfrm>
          <a:prstGeom prst="rect">
            <a:avLst/>
          </a:prstGeom>
          <a:solidFill>
            <a:srgbClr val="F39C12"/>
          </a:solidFill>
          <a:ln w="12700">
            <a:solidFill>
              <a:srgbClr val="F39C12"/>
            </a:solidFill>
            <a:prstDash val="solid"/>
          </a:ln>
        </p:spPr>
      </p:sp>
      <p:sp>
        <p:nvSpPr>
          <p:cNvPr id="21" name="Shape 19"/>
          <p:cNvSpPr/>
          <p:nvPr/>
        </p:nvSpPr>
        <p:spPr>
          <a:xfrm>
            <a:off x="457200" y="3429000"/>
            <a:ext cx="8229600" cy="1417320"/>
          </a:xfrm>
          <a:prstGeom prst="rect">
            <a:avLst/>
          </a:prstGeom>
          <a:solidFill>
            <a:srgbClr val="FFFFFF"/>
          </a:solidFill>
          <a:ln/>
          <a:effectLst>
            <a:outerShdw blurRad="50800" dist="12700" dir="8100000" algn="bl" rotWithShape="0">
              <a:srgbClr val="000000">
                <a:alpha val="8000"/>
              </a:srgbClr>
            </a:outerShdw>
          </a:effectLst>
        </p:spPr>
      </p:sp>
      <p:sp>
        <p:nvSpPr>
          <p:cNvPr id="22" name="Shape 20"/>
          <p:cNvSpPr/>
          <p:nvPr/>
        </p:nvSpPr>
        <p:spPr>
          <a:xfrm>
            <a:off x="457200" y="3429000"/>
            <a:ext cx="64008" cy="1417320"/>
          </a:xfrm>
          <a:prstGeom prst="rect">
            <a:avLst/>
          </a:prstGeom>
          <a:solidFill>
            <a:srgbClr val="27AE60"/>
          </a:solidFill>
          <a:ln w="12700">
            <a:solidFill>
              <a:srgbClr val="27AE60"/>
            </a:solidFill>
            <a:prstDash val="solid"/>
          </a:ln>
        </p:spPr>
      </p:sp>
      <p:sp>
        <p:nvSpPr>
          <p:cNvPr id="23" name="Text 21"/>
          <p:cNvSpPr/>
          <p:nvPr/>
        </p:nvSpPr>
        <p:spPr>
          <a:xfrm>
            <a:off x="640080" y="3474720"/>
            <a:ext cx="548640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Q3. Which fuel type is most common?</a:t>
            </a:r>
            <a:endParaRPr lang="en-US" sz="1300" dirty="0"/>
          </a:p>
        </p:txBody>
      </p:sp>
      <p:sp>
        <p:nvSpPr>
          <p:cNvPr id="24" name="Shape 22"/>
          <p:cNvSpPr/>
          <p:nvPr/>
        </p:nvSpPr>
        <p:spPr>
          <a:xfrm>
            <a:off x="731520" y="3822192"/>
            <a:ext cx="2377440" cy="822960"/>
          </a:xfrm>
          <a:prstGeom prst="rect">
            <a:avLst/>
          </a:prstGeom>
          <a:solidFill>
            <a:srgbClr val="1B4F72">
              <a:alpha val="15000"/>
            </a:srgbClr>
          </a:solidFill>
          <a:ln w="12700">
            <a:solidFill>
              <a:srgbClr val="1B4F72"/>
            </a:solidFill>
            <a:prstDash val="solid"/>
          </a:ln>
        </p:spPr>
      </p:sp>
      <p:sp>
        <p:nvSpPr>
          <p:cNvPr id="25" name="Text 23"/>
          <p:cNvSpPr/>
          <p:nvPr/>
        </p:nvSpPr>
        <p:spPr>
          <a:xfrm>
            <a:off x="731520" y="3858768"/>
            <a:ext cx="2377440" cy="274320"/>
          </a:xfrm>
          <a:prstGeom prst="rect">
            <a:avLst/>
          </a:prstGeom>
          <a:noFill/>
          <a:ln/>
        </p:spPr>
        <p:txBody>
          <a:bodyPr wrap="square" lIns="0" tIns="0" rIns="0" bIns="0" rtlCol="0" anchor="ctr"/>
          <a:lstStyle/>
          <a:p>
            <a:pPr marL="0" indent="0" algn="ctr">
              <a:buNone/>
            </a:pPr>
            <a:r>
              <a:rPr lang="en-US" sz="1200" b="1" dirty="0">
                <a:solidFill>
                  <a:srgbClr val="0D1B2A"/>
                </a:solidFill>
              </a:rPr>
              <a:t>Diesel</a:t>
            </a:r>
            <a:endParaRPr lang="en-US" sz="1200" dirty="0"/>
          </a:p>
        </p:txBody>
      </p:sp>
      <p:sp>
        <p:nvSpPr>
          <p:cNvPr id="26" name="Text 24"/>
          <p:cNvSpPr/>
          <p:nvPr/>
        </p:nvSpPr>
        <p:spPr>
          <a:xfrm>
            <a:off x="731520" y="4160520"/>
            <a:ext cx="2377440" cy="274320"/>
          </a:xfrm>
          <a:prstGeom prst="rect">
            <a:avLst/>
          </a:prstGeom>
          <a:noFill/>
          <a:ln/>
        </p:spPr>
        <p:txBody>
          <a:bodyPr wrap="square" lIns="0" tIns="0" rIns="0" bIns="0" rtlCol="0" anchor="ctr"/>
          <a:lstStyle/>
          <a:p>
            <a:pPr marL="0" indent="0" algn="ctr">
              <a:buNone/>
            </a:pPr>
            <a:r>
              <a:rPr lang="en-US" sz="1100" dirty="0">
                <a:solidFill>
                  <a:srgbClr val="4A5568"/>
                </a:solidFill>
              </a:rPr>
              <a:t>3,508 (39.8%)</a:t>
            </a:r>
            <a:endParaRPr lang="en-US" sz="1100" dirty="0"/>
          </a:p>
        </p:txBody>
      </p:sp>
      <p:sp>
        <p:nvSpPr>
          <p:cNvPr id="27" name="Shape 25"/>
          <p:cNvSpPr/>
          <p:nvPr/>
        </p:nvSpPr>
        <p:spPr>
          <a:xfrm>
            <a:off x="3383280" y="3822192"/>
            <a:ext cx="2377440" cy="822960"/>
          </a:xfrm>
          <a:prstGeom prst="rect">
            <a:avLst/>
          </a:prstGeom>
          <a:solidFill>
            <a:srgbClr val="E67E22">
              <a:alpha val="15000"/>
            </a:srgbClr>
          </a:solidFill>
          <a:ln w="12700">
            <a:solidFill>
              <a:srgbClr val="E67E22"/>
            </a:solidFill>
            <a:prstDash val="solid"/>
          </a:ln>
        </p:spPr>
      </p:sp>
      <p:sp>
        <p:nvSpPr>
          <p:cNvPr id="28" name="Text 26"/>
          <p:cNvSpPr/>
          <p:nvPr/>
        </p:nvSpPr>
        <p:spPr>
          <a:xfrm>
            <a:off x="3383280" y="3858768"/>
            <a:ext cx="2377440" cy="274320"/>
          </a:xfrm>
          <a:prstGeom prst="rect">
            <a:avLst/>
          </a:prstGeom>
          <a:noFill/>
          <a:ln/>
        </p:spPr>
        <p:txBody>
          <a:bodyPr wrap="square" lIns="0" tIns="0" rIns="0" bIns="0" rtlCol="0" anchor="ctr"/>
          <a:lstStyle/>
          <a:p>
            <a:pPr marL="0" indent="0" algn="ctr">
              <a:buNone/>
            </a:pPr>
            <a:r>
              <a:rPr lang="en-US" sz="1200" b="1" dirty="0">
                <a:solidFill>
                  <a:srgbClr val="0D1B2A"/>
                </a:solidFill>
              </a:rPr>
              <a:t>Petrol</a:t>
            </a:r>
            <a:endParaRPr lang="en-US" sz="1200" dirty="0"/>
          </a:p>
        </p:txBody>
      </p:sp>
      <p:sp>
        <p:nvSpPr>
          <p:cNvPr id="29" name="Text 27"/>
          <p:cNvSpPr/>
          <p:nvPr/>
        </p:nvSpPr>
        <p:spPr>
          <a:xfrm>
            <a:off x="3383280" y="4160520"/>
            <a:ext cx="2377440" cy="274320"/>
          </a:xfrm>
          <a:prstGeom prst="rect">
            <a:avLst/>
          </a:prstGeom>
          <a:noFill/>
          <a:ln/>
        </p:spPr>
        <p:txBody>
          <a:bodyPr wrap="square" lIns="0" tIns="0" rIns="0" bIns="0" rtlCol="0" anchor="ctr"/>
          <a:lstStyle/>
          <a:p>
            <a:pPr marL="0" indent="0" algn="ctr">
              <a:buNone/>
            </a:pPr>
            <a:r>
              <a:rPr lang="en-US" sz="1100" dirty="0">
                <a:solidFill>
                  <a:srgbClr val="4A5568"/>
                </a:solidFill>
              </a:rPr>
              <a:t>3,497 (39.7%)</a:t>
            </a:r>
            <a:endParaRPr lang="en-US" sz="1100" dirty="0"/>
          </a:p>
        </p:txBody>
      </p:sp>
      <p:sp>
        <p:nvSpPr>
          <p:cNvPr id="30" name="Shape 28"/>
          <p:cNvSpPr/>
          <p:nvPr/>
        </p:nvSpPr>
        <p:spPr>
          <a:xfrm>
            <a:off x="6035040" y="3822192"/>
            <a:ext cx="2377440" cy="822960"/>
          </a:xfrm>
          <a:prstGeom prst="rect">
            <a:avLst/>
          </a:prstGeom>
          <a:solidFill>
            <a:srgbClr val="27AE60">
              <a:alpha val="15000"/>
            </a:srgbClr>
          </a:solidFill>
          <a:ln w="12700">
            <a:solidFill>
              <a:srgbClr val="27AE60"/>
            </a:solidFill>
            <a:prstDash val="solid"/>
          </a:ln>
        </p:spPr>
      </p:sp>
      <p:sp>
        <p:nvSpPr>
          <p:cNvPr id="31" name="Text 29"/>
          <p:cNvSpPr/>
          <p:nvPr/>
        </p:nvSpPr>
        <p:spPr>
          <a:xfrm>
            <a:off x="6035040" y="3858768"/>
            <a:ext cx="2377440" cy="274320"/>
          </a:xfrm>
          <a:prstGeom prst="rect">
            <a:avLst/>
          </a:prstGeom>
          <a:noFill/>
          <a:ln/>
        </p:spPr>
        <p:txBody>
          <a:bodyPr wrap="square" lIns="0" tIns="0" rIns="0" bIns="0" rtlCol="0" anchor="ctr"/>
          <a:lstStyle/>
          <a:p>
            <a:pPr marL="0" indent="0" algn="ctr">
              <a:buNone/>
            </a:pPr>
            <a:r>
              <a:rPr lang="en-US" sz="1200" b="1" dirty="0">
                <a:solidFill>
                  <a:srgbClr val="0D1B2A"/>
                </a:solidFill>
              </a:rPr>
              <a:t>Hybrid/CNG</a:t>
            </a:r>
            <a:endParaRPr lang="en-US" sz="1200" dirty="0"/>
          </a:p>
        </p:txBody>
      </p:sp>
      <p:sp>
        <p:nvSpPr>
          <p:cNvPr id="32" name="Text 30"/>
          <p:cNvSpPr/>
          <p:nvPr/>
        </p:nvSpPr>
        <p:spPr>
          <a:xfrm>
            <a:off x="6035040" y="4160520"/>
            <a:ext cx="2377440" cy="274320"/>
          </a:xfrm>
          <a:prstGeom prst="rect">
            <a:avLst/>
          </a:prstGeom>
          <a:noFill/>
          <a:ln/>
        </p:spPr>
        <p:txBody>
          <a:bodyPr wrap="square" lIns="0" tIns="0" rIns="0" bIns="0" rtlCol="0" anchor="ctr"/>
          <a:lstStyle/>
          <a:p>
            <a:pPr marL="0" indent="0" algn="ctr">
              <a:buNone/>
            </a:pPr>
            <a:r>
              <a:rPr lang="en-US" sz="1100" dirty="0">
                <a:solidFill>
                  <a:srgbClr val="4A5568"/>
                </a:solidFill>
              </a:rPr>
              <a:t>1,807 (20.5%)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Q4–Q5: Age, KM &amp; Transmission</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960120"/>
            <a:ext cx="4023360" cy="3886200"/>
          </a:xfrm>
          <a:prstGeom prst="rect">
            <a:avLst/>
          </a:prstGeom>
          <a:solidFill>
            <a:srgbClr val="FFFFFF"/>
          </a:solidFill>
          <a:ln/>
          <a:effectLst>
            <a:outerShdw blurRad="50800" dist="12700" dir="8100000" algn="bl" rotWithShape="0">
              <a:srgbClr val="000000">
                <a:alpha val="8000"/>
              </a:srgbClr>
            </a:outerShdw>
          </a:effectLst>
        </p:spPr>
      </p:sp>
      <p:sp>
        <p:nvSpPr>
          <p:cNvPr id="5" name="Text 3"/>
          <p:cNvSpPr/>
          <p:nvPr/>
        </p:nvSpPr>
        <p:spPr>
          <a:xfrm>
            <a:off x="594360" y="1024128"/>
            <a:ext cx="374904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Q4. Car Age vs Price (Correlation: -0.31)</a:t>
            </a:r>
            <a:endParaRPr lang="en-US" sz="1200" dirty="0"/>
          </a:p>
        </p:txBody>
      </p:sp>
      <p:sp>
        <p:nvSpPr>
          <p:cNvPr id="6" name="Shape 4"/>
          <p:cNvSpPr/>
          <p:nvPr/>
        </p:nvSpPr>
        <p:spPr>
          <a:xfrm>
            <a:off x="640080" y="2834640"/>
            <a:ext cx="548640" cy="1280160"/>
          </a:xfrm>
          <a:prstGeom prst="rect">
            <a:avLst/>
          </a:prstGeom>
          <a:solidFill>
            <a:srgbClr val="2E86AB"/>
          </a:solidFill>
          <a:ln w="12700">
            <a:solidFill>
              <a:srgbClr val="2E86AB"/>
            </a:solidFill>
            <a:prstDash val="solid"/>
          </a:ln>
        </p:spPr>
      </p:sp>
      <p:sp>
        <p:nvSpPr>
          <p:cNvPr id="7" name="Text 5"/>
          <p:cNvSpPr/>
          <p:nvPr/>
        </p:nvSpPr>
        <p:spPr>
          <a:xfrm>
            <a:off x="594360" y="4160520"/>
            <a:ext cx="640080" cy="274320"/>
          </a:xfrm>
          <a:prstGeom prst="rect">
            <a:avLst/>
          </a:prstGeom>
          <a:noFill/>
          <a:ln/>
        </p:spPr>
        <p:txBody>
          <a:bodyPr wrap="square" lIns="0" tIns="0" rIns="0" bIns="0" rtlCol="0" anchor="ctr"/>
          <a:lstStyle/>
          <a:p>
            <a:pPr marL="0" indent="0" algn="ctr">
              <a:buNone/>
            </a:pPr>
            <a:r>
              <a:rPr lang="en-US" sz="900" dirty="0">
                <a:solidFill>
                  <a:srgbClr val="4A5568"/>
                </a:solidFill>
              </a:rPr>
              <a:t>0-5yr</a:t>
            </a:r>
            <a:endParaRPr lang="en-US" sz="900" dirty="0"/>
          </a:p>
        </p:txBody>
      </p:sp>
      <p:sp>
        <p:nvSpPr>
          <p:cNvPr id="8" name="Text 6"/>
          <p:cNvSpPr/>
          <p:nvPr/>
        </p:nvSpPr>
        <p:spPr>
          <a:xfrm>
            <a:off x="566928" y="2560320"/>
            <a:ext cx="685800" cy="256032"/>
          </a:xfrm>
          <a:prstGeom prst="rect">
            <a:avLst/>
          </a:prstGeom>
          <a:noFill/>
          <a:ln/>
        </p:spPr>
        <p:txBody>
          <a:bodyPr wrap="square" lIns="0" tIns="0" rIns="0" bIns="0" rtlCol="0" anchor="ctr"/>
          <a:lstStyle/>
          <a:p>
            <a:pPr marL="0" indent="0" algn="ctr">
              <a:buNone/>
            </a:pPr>
            <a:r>
              <a:rPr lang="en-US" sz="900" dirty="0">
                <a:solidFill>
                  <a:srgbClr val="0D1B2A"/>
                </a:solidFill>
              </a:rPr>
              <a:t>₹17.2L</a:t>
            </a:r>
            <a:endParaRPr lang="en-US" sz="900" dirty="0"/>
          </a:p>
        </p:txBody>
      </p:sp>
      <p:sp>
        <p:nvSpPr>
          <p:cNvPr id="9" name="Shape 7"/>
          <p:cNvSpPr/>
          <p:nvPr/>
        </p:nvSpPr>
        <p:spPr>
          <a:xfrm>
            <a:off x="1335024" y="3429000"/>
            <a:ext cx="548640" cy="685800"/>
          </a:xfrm>
          <a:prstGeom prst="rect">
            <a:avLst/>
          </a:prstGeom>
          <a:solidFill>
            <a:srgbClr val="2E86AB"/>
          </a:solidFill>
          <a:ln w="12700">
            <a:solidFill>
              <a:srgbClr val="2E86AB"/>
            </a:solidFill>
            <a:prstDash val="solid"/>
          </a:ln>
        </p:spPr>
      </p:sp>
      <p:sp>
        <p:nvSpPr>
          <p:cNvPr id="10" name="Text 8"/>
          <p:cNvSpPr/>
          <p:nvPr/>
        </p:nvSpPr>
        <p:spPr>
          <a:xfrm>
            <a:off x="1289304" y="4160520"/>
            <a:ext cx="640080" cy="274320"/>
          </a:xfrm>
          <a:prstGeom prst="rect">
            <a:avLst/>
          </a:prstGeom>
          <a:noFill/>
          <a:ln/>
        </p:spPr>
        <p:txBody>
          <a:bodyPr wrap="square" lIns="0" tIns="0" rIns="0" bIns="0" rtlCol="0" anchor="ctr"/>
          <a:lstStyle/>
          <a:p>
            <a:pPr marL="0" indent="0" algn="ctr">
              <a:buNone/>
            </a:pPr>
            <a:r>
              <a:rPr lang="en-US" sz="900" dirty="0">
                <a:solidFill>
                  <a:srgbClr val="4A5568"/>
                </a:solidFill>
              </a:rPr>
              <a:t>6-10yr</a:t>
            </a:r>
            <a:endParaRPr lang="en-US" sz="900" dirty="0"/>
          </a:p>
        </p:txBody>
      </p:sp>
      <p:sp>
        <p:nvSpPr>
          <p:cNvPr id="11" name="Text 9"/>
          <p:cNvSpPr/>
          <p:nvPr/>
        </p:nvSpPr>
        <p:spPr>
          <a:xfrm>
            <a:off x="1261872" y="3154680"/>
            <a:ext cx="685800" cy="256032"/>
          </a:xfrm>
          <a:prstGeom prst="rect">
            <a:avLst/>
          </a:prstGeom>
          <a:noFill/>
          <a:ln/>
        </p:spPr>
        <p:txBody>
          <a:bodyPr wrap="square" lIns="0" tIns="0" rIns="0" bIns="0" rtlCol="0" anchor="ctr"/>
          <a:lstStyle/>
          <a:p>
            <a:pPr marL="0" indent="0" algn="ctr">
              <a:buNone/>
            </a:pPr>
            <a:r>
              <a:rPr lang="en-US" sz="900" dirty="0">
                <a:solidFill>
                  <a:srgbClr val="0D1B2A"/>
                </a:solidFill>
              </a:rPr>
              <a:t>₹7.5L</a:t>
            </a:r>
            <a:endParaRPr lang="en-US" sz="900" dirty="0"/>
          </a:p>
        </p:txBody>
      </p:sp>
      <p:sp>
        <p:nvSpPr>
          <p:cNvPr id="12" name="Shape 10"/>
          <p:cNvSpPr/>
          <p:nvPr/>
        </p:nvSpPr>
        <p:spPr>
          <a:xfrm>
            <a:off x="2029968" y="3730752"/>
            <a:ext cx="548640" cy="384048"/>
          </a:xfrm>
          <a:prstGeom prst="rect">
            <a:avLst/>
          </a:prstGeom>
          <a:solidFill>
            <a:srgbClr val="2E86AB"/>
          </a:solidFill>
          <a:ln w="12700">
            <a:solidFill>
              <a:srgbClr val="2E86AB"/>
            </a:solidFill>
            <a:prstDash val="solid"/>
          </a:ln>
        </p:spPr>
      </p:sp>
      <p:sp>
        <p:nvSpPr>
          <p:cNvPr id="13" name="Text 11"/>
          <p:cNvSpPr/>
          <p:nvPr/>
        </p:nvSpPr>
        <p:spPr>
          <a:xfrm>
            <a:off x="1984248" y="4160520"/>
            <a:ext cx="640080" cy="274320"/>
          </a:xfrm>
          <a:prstGeom prst="rect">
            <a:avLst/>
          </a:prstGeom>
          <a:noFill/>
          <a:ln/>
        </p:spPr>
        <p:txBody>
          <a:bodyPr wrap="square" lIns="0" tIns="0" rIns="0" bIns="0" rtlCol="0" anchor="ctr"/>
          <a:lstStyle/>
          <a:p>
            <a:pPr marL="0" indent="0" algn="ctr">
              <a:buNone/>
            </a:pPr>
            <a:r>
              <a:rPr lang="en-US" sz="900" dirty="0">
                <a:solidFill>
                  <a:srgbClr val="4A5568"/>
                </a:solidFill>
              </a:rPr>
              <a:t>11-15yr</a:t>
            </a:r>
            <a:endParaRPr lang="en-US" sz="900" dirty="0"/>
          </a:p>
        </p:txBody>
      </p:sp>
      <p:sp>
        <p:nvSpPr>
          <p:cNvPr id="14" name="Text 12"/>
          <p:cNvSpPr/>
          <p:nvPr/>
        </p:nvSpPr>
        <p:spPr>
          <a:xfrm>
            <a:off x="1956816" y="3456432"/>
            <a:ext cx="685800" cy="256032"/>
          </a:xfrm>
          <a:prstGeom prst="rect">
            <a:avLst/>
          </a:prstGeom>
          <a:noFill/>
          <a:ln/>
        </p:spPr>
        <p:txBody>
          <a:bodyPr wrap="square" lIns="0" tIns="0" rIns="0" bIns="0" rtlCol="0" anchor="ctr"/>
          <a:lstStyle/>
          <a:p>
            <a:pPr marL="0" indent="0" algn="ctr">
              <a:buNone/>
            </a:pPr>
            <a:r>
              <a:rPr lang="en-US" sz="900" dirty="0">
                <a:solidFill>
                  <a:srgbClr val="0D1B2A"/>
                </a:solidFill>
              </a:rPr>
              <a:t>₹4.1L</a:t>
            </a:r>
            <a:endParaRPr lang="en-US" sz="900" dirty="0"/>
          </a:p>
        </p:txBody>
      </p:sp>
      <p:sp>
        <p:nvSpPr>
          <p:cNvPr id="15" name="Shape 13"/>
          <p:cNvSpPr/>
          <p:nvPr/>
        </p:nvSpPr>
        <p:spPr>
          <a:xfrm>
            <a:off x="2724912" y="3895344"/>
            <a:ext cx="548640" cy="219456"/>
          </a:xfrm>
          <a:prstGeom prst="rect">
            <a:avLst/>
          </a:prstGeom>
          <a:solidFill>
            <a:srgbClr val="2E86AB"/>
          </a:solidFill>
          <a:ln w="12700">
            <a:solidFill>
              <a:srgbClr val="2E86AB"/>
            </a:solidFill>
            <a:prstDash val="solid"/>
          </a:ln>
        </p:spPr>
      </p:sp>
      <p:sp>
        <p:nvSpPr>
          <p:cNvPr id="16" name="Text 14"/>
          <p:cNvSpPr/>
          <p:nvPr/>
        </p:nvSpPr>
        <p:spPr>
          <a:xfrm>
            <a:off x="2679192" y="4160520"/>
            <a:ext cx="640080" cy="274320"/>
          </a:xfrm>
          <a:prstGeom prst="rect">
            <a:avLst/>
          </a:prstGeom>
          <a:noFill/>
          <a:ln/>
        </p:spPr>
        <p:txBody>
          <a:bodyPr wrap="square" lIns="0" tIns="0" rIns="0" bIns="0" rtlCol="0" anchor="ctr"/>
          <a:lstStyle/>
          <a:p>
            <a:pPr marL="0" indent="0" algn="ctr">
              <a:buNone/>
            </a:pPr>
            <a:r>
              <a:rPr lang="en-US" sz="900" dirty="0">
                <a:solidFill>
                  <a:srgbClr val="4A5568"/>
                </a:solidFill>
              </a:rPr>
              <a:t>16-20yr</a:t>
            </a:r>
            <a:endParaRPr lang="en-US" sz="900" dirty="0"/>
          </a:p>
        </p:txBody>
      </p:sp>
      <p:sp>
        <p:nvSpPr>
          <p:cNvPr id="17" name="Text 15"/>
          <p:cNvSpPr/>
          <p:nvPr/>
        </p:nvSpPr>
        <p:spPr>
          <a:xfrm>
            <a:off x="2651760" y="3621024"/>
            <a:ext cx="685800" cy="256032"/>
          </a:xfrm>
          <a:prstGeom prst="rect">
            <a:avLst/>
          </a:prstGeom>
          <a:noFill/>
          <a:ln/>
        </p:spPr>
        <p:txBody>
          <a:bodyPr wrap="square" lIns="0" tIns="0" rIns="0" bIns="0" rtlCol="0" anchor="ctr"/>
          <a:lstStyle/>
          <a:p>
            <a:pPr marL="0" indent="0" algn="ctr">
              <a:buNone/>
            </a:pPr>
            <a:r>
              <a:rPr lang="en-US" sz="900" dirty="0">
                <a:solidFill>
                  <a:srgbClr val="0D1B2A"/>
                </a:solidFill>
              </a:rPr>
              <a:t>₹2.3L</a:t>
            </a:r>
            <a:endParaRPr lang="en-US" sz="900" dirty="0"/>
          </a:p>
        </p:txBody>
      </p:sp>
      <p:sp>
        <p:nvSpPr>
          <p:cNvPr id="18" name="Shape 16"/>
          <p:cNvSpPr/>
          <p:nvPr/>
        </p:nvSpPr>
        <p:spPr>
          <a:xfrm>
            <a:off x="3419856" y="3977640"/>
            <a:ext cx="548640" cy="137160"/>
          </a:xfrm>
          <a:prstGeom prst="rect">
            <a:avLst/>
          </a:prstGeom>
          <a:solidFill>
            <a:srgbClr val="2E86AB"/>
          </a:solidFill>
          <a:ln w="12700">
            <a:solidFill>
              <a:srgbClr val="2E86AB"/>
            </a:solidFill>
            <a:prstDash val="solid"/>
          </a:ln>
        </p:spPr>
      </p:sp>
      <p:sp>
        <p:nvSpPr>
          <p:cNvPr id="19" name="Text 17"/>
          <p:cNvSpPr/>
          <p:nvPr/>
        </p:nvSpPr>
        <p:spPr>
          <a:xfrm>
            <a:off x="3374136" y="4160520"/>
            <a:ext cx="640080" cy="274320"/>
          </a:xfrm>
          <a:prstGeom prst="rect">
            <a:avLst/>
          </a:prstGeom>
          <a:noFill/>
          <a:ln/>
        </p:spPr>
        <p:txBody>
          <a:bodyPr wrap="square" lIns="0" tIns="0" rIns="0" bIns="0" rtlCol="0" anchor="ctr"/>
          <a:lstStyle/>
          <a:p>
            <a:pPr marL="0" indent="0" algn="ctr">
              <a:buNone/>
            </a:pPr>
            <a:r>
              <a:rPr lang="en-US" sz="900" dirty="0">
                <a:solidFill>
                  <a:srgbClr val="4A5568"/>
                </a:solidFill>
              </a:rPr>
              <a:t>20+yr</a:t>
            </a:r>
            <a:endParaRPr lang="en-US" sz="900" dirty="0"/>
          </a:p>
        </p:txBody>
      </p:sp>
      <p:sp>
        <p:nvSpPr>
          <p:cNvPr id="20" name="Text 18"/>
          <p:cNvSpPr/>
          <p:nvPr/>
        </p:nvSpPr>
        <p:spPr>
          <a:xfrm>
            <a:off x="3346704" y="3703320"/>
            <a:ext cx="685800" cy="256032"/>
          </a:xfrm>
          <a:prstGeom prst="rect">
            <a:avLst/>
          </a:prstGeom>
          <a:noFill/>
          <a:ln/>
        </p:spPr>
        <p:txBody>
          <a:bodyPr wrap="square" lIns="0" tIns="0" rIns="0" bIns="0" rtlCol="0" anchor="ctr"/>
          <a:lstStyle/>
          <a:p>
            <a:pPr marL="0" indent="0" algn="ctr">
              <a:buNone/>
            </a:pPr>
            <a:r>
              <a:rPr lang="en-US" sz="900" dirty="0">
                <a:solidFill>
                  <a:srgbClr val="0D1B2A"/>
                </a:solidFill>
              </a:rPr>
              <a:t>₹1.4L</a:t>
            </a:r>
            <a:endParaRPr lang="en-US" sz="900" dirty="0"/>
          </a:p>
        </p:txBody>
      </p:sp>
      <p:sp>
        <p:nvSpPr>
          <p:cNvPr id="21" name="Text 19"/>
          <p:cNvSpPr/>
          <p:nvPr/>
        </p:nvSpPr>
        <p:spPr>
          <a:xfrm>
            <a:off x="548640" y="4480560"/>
            <a:ext cx="3840480" cy="256032"/>
          </a:xfrm>
          <a:prstGeom prst="rect">
            <a:avLst/>
          </a:prstGeom>
          <a:noFill/>
          <a:ln/>
        </p:spPr>
        <p:txBody>
          <a:bodyPr wrap="square" lIns="0" tIns="0" rIns="0" bIns="0" rtlCol="0" anchor="ctr"/>
          <a:lstStyle/>
          <a:p>
            <a:pPr marL="0" indent="0">
              <a:buNone/>
            </a:pPr>
            <a:r>
              <a:rPr lang="en-US" sz="1000" i="1" dirty="0">
                <a:solidFill>
                  <a:srgbClr val="2E86AB"/>
                </a:solidFill>
              </a:rPr>
              <a:t>💡 Newer cars are significantly pricier — strong negative correlation</a:t>
            </a:r>
            <a:endParaRPr lang="en-US" sz="1000" dirty="0"/>
          </a:p>
        </p:txBody>
      </p:sp>
      <p:sp>
        <p:nvSpPr>
          <p:cNvPr id="22" name="Shape 20"/>
          <p:cNvSpPr/>
          <p:nvPr/>
        </p:nvSpPr>
        <p:spPr>
          <a:xfrm>
            <a:off x="4663440" y="960120"/>
            <a:ext cx="4023360" cy="3886200"/>
          </a:xfrm>
          <a:prstGeom prst="rect">
            <a:avLst/>
          </a:prstGeom>
          <a:solidFill>
            <a:srgbClr val="FFFFFF"/>
          </a:solidFill>
          <a:ln/>
          <a:effectLst>
            <a:outerShdw blurRad="50800" dist="12700" dir="8100000" algn="bl" rotWithShape="0">
              <a:srgbClr val="000000">
                <a:alpha val="8000"/>
              </a:srgbClr>
            </a:outerShdw>
          </a:effectLst>
        </p:spPr>
      </p:sp>
      <p:sp>
        <p:nvSpPr>
          <p:cNvPr id="23" name="Text 21"/>
          <p:cNvSpPr/>
          <p:nvPr/>
        </p:nvSpPr>
        <p:spPr>
          <a:xfrm>
            <a:off x="4800600" y="1024128"/>
            <a:ext cx="374904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Q5. Transmission Type Distribution</a:t>
            </a:r>
            <a:endParaRPr lang="en-US" sz="1200" dirty="0"/>
          </a:p>
        </p:txBody>
      </p:sp>
      <p:sp>
        <p:nvSpPr>
          <p:cNvPr id="24" name="Shape 22"/>
          <p:cNvSpPr/>
          <p:nvPr/>
        </p:nvSpPr>
        <p:spPr>
          <a:xfrm>
            <a:off x="5669280" y="1554480"/>
            <a:ext cx="2194560" cy="2194560"/>
          </a:xfrm>
          <a:prstGeom prst="ellipse">
            <a:avLst/>
          </a:prstGeom>
          <a:solidFill>
            <a:srgbClr val="1B4F72"/>
          </a:solidFill>
          <a:ln w="12700">
            <a:solidFill>
              <a:srgbClr val="1B4F72"/>
            </a:solidFill>
            <a:prstDash val="solid"/>
          </a:ln>
        </p:spPr>
      </p:sp>
      <p:sp>
        <p:nvSpPr>
          <p:cNvPr id="25" name="Shape 23"/>
          <p:cNvSpPr/>
          <p:nvPr/>
        </p:nvSpPr>
        <p:spPr>
          <a:xfrm>
            <a:off x="6080760" y="1965960"/>
            <a:ext cx="1371600" cy="1371600"/>
          </a:xfrm>
          <a:prstGeom prst="ellipse">
            <a:avLst/>
          </a:prstGeom>
          <a:solidFill>
            <a:srgbClr val="FFFFFF"/>
          </a:solidFill>
          <a:ln w="12700">
            <a:solidFill>
              <a:srgbClr val="FFFFFF"/>
            </a:solidFill>
            <a:prstDash val="solid"/>
          </a:ln>
        </p:spPr>
      </p:sp>
      <p:sp>
        <p:nvSpPr>
          <p:cNvPr id="26" name="Text 24"/>
          <p:cNvSpPr/>
          <p:nvPr/>
        </p:nvSpPr>
        <p:spPr>
          <a:xfrm>
            <a:off x="6080760" y="1965960"/>
            <a:ext cx="1371600" cy="1371600"/>
          </a:xfrm>
          <a:prstGeom prst="rect">
            <a:avLst/>
          </a:prstGeom>
          <a:noFill/>
          <a:ln/>
        </p:spPr>
        <p:txBody>
          <a:bodyPr wrap="square" lIns="0" tIns="0" rIns="0" bIns="0" rtlCol="0" anchor="ctr"/>
          <a:lstStyle/>
          <a:p>
            <a:pPr marL="0" indent="0" algn="ctr">
              <a:buNone/>
            </a:pPr>
            <a:r>
              <a:rPr lang="en-US" sz="1100" b="1" dirty="0">
                <a:solidFill>
                  <a:srgbClr val="0D1B2A"/>
                </a:solidFill>
              </a:rPr>
              <a:t>52.6%</a:t>
            </a:r>
            <a:endParaRPr lang="en-US" sz="1100" dirty="0"/>
          </a:p>
          <a:p>
            <a:pPr marL="0" indent="0" algn="ctr">
              <a:buNone/>
            </a:pPr>
            <a:r>
              <a:rPr lang="en-US" sz="1100" b="1" dirty="0">
                <a:solidFill>
                  <a:srgbClr val="0D1B2A"/>
                </a:solidFill>
              </a:rPr>
              <a:t>Manual</a:t>
            </a:r>
            <a:endParaRPr lang="en-US" sz="1100" dirty="0"/>
          </a:p>
        </p:txBody>
      </p:sp>
      <p:sp>
        <p:nvSpPr>
          <p:cNvPr id="27" name="Shape 25"/>
          <p:cNvSpPr/>
          <p:nvPr/>
        </p:nvSpPr>
        <p:spPr>
          <a:xfrm>
            <a:off x="4800600" y="3931920"/>
            <a:ext cx="182880" cy="182880"/>
          </a:xfrm>
          <a:prstGeom prst="rect">
            <a:avLst/>
          </a:prstGeom>
          <a:solidFill>
            <a:srgbClr val="1B4F72"/>
          </a:solidFill>
          <a:ln w="12700">
            <a:solidFill>
              <a:srgbClr val="1B4F72"/>
            </a:solidFill>
            <a:prstDash val="solid"/>
          </a:ln>
        </p:spPr>
      </p:sp>
      <p:sp>
        <p:nvSpPr>
          <p:cNvPr id="28" name="Text 26"/>
          <p:cNvSpPr/>
          <p:nvPr/>
        </p:nvSpPr>
        <p:spPr>
          <a:xfrm>
            <a:off x="5047488" y="3913632"/>
            <a:ext cx="3474720" cy="228600"/>
          </a:xfrm>
          <a:prstGeom prst="rect">
            <a:avLst/>
          </a:prstGeom>
          <a:noFill/>
          <a:ln/>
        </p:spPr>
        <p:txBody>
          <a:bodyPr wrap="square" lIns="0" tIns="0" rIns="0" bIns="0" rtlCol="0" anchor="ctr"/>
          <a:lstStyle/>
          <a:p>
            <a:pPr marL="0" indent="0">
              <a:buNone/>
            </a:pPr>
            <a:r>
              <a:rPr lang="en-US" sz="1200" dirty="0">
                <a:solidFill>
                  <a:srgbClr val="0D1B2A"/>
                </a:solidFill>
              </a:rPr>
              <a:t>Manual: 4,640 (52.6%)</a:t>
            </a:r>
            <a:endParaRPr lang="en-US" sz="1200" dirty="0"/>
          </a:p>
        </p:txBody>
      </p:sp>
      <p:sp>
        <p:nvSpPr>
          <p:cNvPr id="29" name="Shape 27"/>
          <p:cNvSpPr/>
          <p:nvPr/>
        </p:nvSpPr>
        <p:spPr>
          <a:xfrm>
            <a:off x="4800600" y="4224528"/>
            <a:ext cx="182880" cy="182880"/>
          </a:xfrm>
          <a:prstGeom prst="rect">
            <a:avLst/>
          </a:prstGeom>
          <a:solidFill>
            <a:srgbClr val="E67E22"/>
          </a:solidFill>
          <a:ln w="12700">
            <a:solidFill>
              <a:srgbClr val="E67E22"/>
            </a:solidFill>
            <a:prstDash val="solid"/>
          </a:ln>
        </p:spPr>
      </p:sp>
      <p:sp>
        <p:nvSpPr>
          <p:cNvPr id="30" name="Text 28"/>
          <p:cNvSpPr/>
          <p:nvPr/>
        </p:nvSpPr>
        <p:spPr>
          <a:xfrm>
            <a:off x="5047488" y="4206240"/>
            <a:ext cx="3474720" cy="228600"/>
          </a:xfrm>
          <a:prstGeom prst="rect">
            <a:avLst/>
          </a:prstGeom>
          <a:noFill/>
          <a:ln/>
        </p:spPr>
        <p:txBody>
          <a:bodyPr wrap="square" lIns="0" tIns="0" rIns="0" bIns="0" rtlCol="0" anchor="ctr"/>
          <a:lstStyle/>
          <a:p>
            <a:pPr marL="0" indent="0">
              <a:buNone/>
            </a:pPr>
            <a:r>
              <a:rPr lang="en-US" sz="1200" dirty="0">
                <a:solidFill>
                  <a:srgbClr val="0D1B2A"/>
                </a:solidFill>
              </a:rPr>
              <a:t>Automatic: 4,172 (47.4%)</a:t>
            </a:r>
            <a:endParaRPr lang="en-US" sz="1200" dirty="0"/>
          </a:p>
        </p:txBody>
      </p:sp>
      <p:sp>
        <p:nvSpPr>
          <p:cNvPr id="31" name="Text 29"/>
          <p:cNvSpPr/>
          <p:nvPr/>
        </p:nvSpPr>
        <p:spPr>
          <a:xfrm>
            <a:off x="4754880" y="4507992"/>
            <a:ext cx="3840480" cy="256032"/>
          </a:xfrm>
          <a:prstGeom prst="rect">
            <a:avLst/>
          </a:prstGeom>
          <a:noFill/>
          <a:ln/>
        </p:spPr>
        <p:txBody>
          <a:bodyPr wrap="square" lIns="0" tIns="0" rIns="0" bIns="0" rtlCol="0" anchor="ctr"/>
          <a:lstStyle/>
          <a:p>
            <a:pPr marL="0" indent="0">
              <a:buNone/>
            </a:pPr>
            <a:r>
              <a:rPr lang="en-US" sz="1000" i="1" dirty="0">
                <a:solidFill>
                  <a:srgbClr val="2E86AB"/>
                </a:solidFill>
              </a:rPr>
              <a:t>💡 Automatic cars avg ₹15.8L vs Manual ₹5.6L</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Q6–Q8: Owner, Brands &amp; KM Driven</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960120"/>
            <a:ext cx="2651760" cy="1828800"/>
          </a:xfrm>
          <a:prstGeom prst="rect">
            <a:avLst/>
          </a:prstGeom>
          <a:solidFill>
            <a:srgbClr val="FFFFFF"/>
          </a:solidFill>
          <a:ln/>
          <a:effectLst>
            <a:outerShdw blurRad="50800" dist="12700" dir="8100000" algn="bl" rotWithShape="0">
              <a:srgbClr val="000000">
                <a:alpha val="8000"/>
              </a:srgbClr>
            </a:outerShdw>
          </a:effectLst>
        </p:spPr>
      </p:sp>
      <p:sp>
        <p:nvSpPr>
          <p:cNvPr id="5" name="Text 3"/>
          <p:cNvSpPr/>
          <p:nvPr/>
        </p:nvSpPr>
        <p:spPr>
          <a:xfrm>
            <a:off x="594360" y="1024128"/>
            <a:ext cx="2377440" cy="274320"/>
          </a:xfrm>
          <a:prstGeom prst="rect">
            <a:avLst/>
          </a:prstGeom>
          <a:noFill/>
          <a:ln/>
        </p:spPr>
        <p:txBody>
          <a:bodyPr wrap="square" lIns="0" tIns="0" rIns="0" bIns="0" rtlCol="0" anchor="ctr"/>
          <a:lstStyle/>
          <a:p>
            <a:pPr marL="0" indent="0">
              <a:buNone/>
            </a:pPr>
            <a:r>
              <a:rPr lang="en-US" sz="1100" b="1" dirty="0">
                <a:solidFill>
                  <a:srgbClr val="0D1B2A"/>
                </a:solidFill>
              </a:rPr>
              <a:t>Q6. Owner vs Avg Price</a:t>
            </a:r>
            <a:endParaRPr lang="en-US" sz="1100" dirty="0"/>
          </a:p>
        </p:txBody>
      </p:sp>
      <p:sp>
        <p:nvSpPr>
          <p:cNvPr id="6" name="Shape 4"/>
          <p:cNvSpPr/>
          <p:nvPr/>
        </p:nvSpPr>
        <p:spPr>
          <a:xfrm>
            <a:off x="640080" y="1417320"/>
            <a:ext cx="1097280" cy="914400"/>
          </a:xfrm>
          <a:prstGeom prst="rect">
            <a:avLst/>
          </a:prstGeom>
          <a:solidFill>
            <a:srgbClr val="2E86AB">
              <a:alpha val="70000"/>
            </a:srgbClr>
          </a:solidFill>
          <a:ln w="12700">
            <a:solidFill>
              <a:srgbClr val="2E86AB"/>
            </a:solidFill>
            <a:prstDash val="solid"/>
          </a:ln>
        </p:spPr>
      </p:sp>
      <p:sp>
        <p:nvSpPr>
          <p:cNvPr id="7" name="Text 5"/>
          <p:cNvSpPr/>
          <p:nvPr/>
        </p:nvSpPr>
        <p:spPr>
          <a:xfrm>
            <a:off x="640080" y="1417320"/>
            <a:ext cx="1097280" cy="914400"/>
          </a:xfrm>
          <a:prstGeom prst="rect">
            <a:avLst/>
          </a:prstGeom>
          <a:noFill/>
          <a:ln/>
        </p:spPr>
        <p:txBody>
          <a:bodyPr wrap="square" lIns="0" tIns="0" rIns="0" bIns="0" rtlCol="0" anchor="ctr"/>
          <a:lstStyle/>
          <a:p>
            <a:pPr marL="0" indent="0" algn="ctr">
              <a:buNone/>
            </a:pPr>
            <a:r>
              <a:rPr lang="en-US" sz="1200" b="1" dirty="0">
                <a:solidFill>
                  <a:srgbClr val="FFFFFF"/>
                </a:solidFill>
              </a:rPr>
              <a:t>First Owner</a:t>
            </a:r>
            <a:endParaRPr lang="en-US" sz="1200" dirty="0"/>
          </a:p>
          <a:p>
            <a:pPr marL="0" indent="0" algn="ctr">
              <a:buNone/>
            </a:pPr>
            <a:r>
              <a:rPr lang="en-US" sz="1200" b="1" dirty="0">
                <a:solidFill>
                  <a:srgbClr val="FFFFFF"/>
                </a:solidFill>
              </a:rPr>
              <a:t>₹12.6 L avg</a:t>
            </a:r>
            <a:endParaRPr lang="en-US" sz="1200" dirty="0"/>
          </a:p>
        </p:txBody>
      </p:sp>
      <p:sp>
        <p:nvSpPr>
          <p:cNvPr id="8" name="Shape 6"/>
          <p:cNvSpPr/>
          <p:nvPr/>
        </p:nvSpPr>
        <p:spPr>
          <a:xfrm>
            <a:off x="1920240" y="1600200"/>
            <a:ext cx="1005840" cy="731520"/>
          </a:xfrm>
          <a:prstGeom prst="rect">
            <a:avLst/>
          </a:prstGeom>
          <a:solidFill>
            <a:srgbClr val="1B4F72">
              <a:alpha val="70000"/>
            </a:srgbClr>
          </a:solidFill>
          <a:ln w="12700">
            <a:solidFill>
              <a:srgbClr val="1B4F72"/>
            </a:solidFill>
            <a:prstDash val="solid"/>
          </a:ln>
        </p:spPr>
      </p:sp>
      <p:sp>
        <p:nvSpPr>
          <p:cNvPr id="9" name="Text 7"/>
          <p:cNvSpPr/>
          <p:nvPr/>
        </p:nvSpPr>
        <p:spPr>
          <a:xfrm>
            <a:off x="1920240" y="1600200"/>
            <a:ext cx="1005840" cy="731520"/>
          </a:xfrm>
          <a:prstGeom prst="rect">
            <a:avLst/>
          </a:prstGeom>
          <a:noFill/>
          <a:ln/>
        </p:spPr>
        <p:txBody>
          <a:bodyPr wrap="square" lIns="0" tIns="0" rIns="0" bIns="0" rtlCol="0" anchor="ctr"/>
          <a:lstStyle/>
          <a:p>
            <a:pPr marL="0" indent="0" algn="ctr">
              <a:buNone/>
            </a:pPr>
            <a:r>
              <a:rPr lang="en-US" sz="1100" b="1" dirty="0">
                <a:solidFill>
                  <a:srgbClr val="FFFFFF"/>
                </a:solidFill>
              </a:rPr>
              <a:t>Second</a:t>
            </a:r>
            <a:endParaRPr lang="en-US" sz="1100" dirty="0"/>
          </a:p>
          <a:p>
            <a:pPr marL="0" indent="0" algn="ctr">
              <a:buNone/>
            </a:pPr>
            <a:r>
              <a:rPr lang="en-US" sz="1100" b="1" dirty="0">
                <a:solidFill>
                  <a:srgbClr val="FFFFFF"/>
                </a:solidFill>
              </a:rPr>
              <a:t>₹8.1 L avg</a:t>
            </a:r>
            <a:endParaRPr lang="en-US" sz="1100" dirty="0"/>
          </a:p>
        </p:txBody>
      </p:sp>
      <p:sp>
        <p:nvSpPr>
          <p:cNvPr id="10" name="Shape 8"/>
          <p:cNvSpPr/>
          <p:nvPr/>
        </p:nvSpPr>
        <p:spPr>
          <a:xfrm>
            <a:off x="457200" y="2926080"/>
            <a:ext cx="8229600" cy="1920240"/>
          </a:xfrm>
          <a:prstGeom prst="rect">
            <a:avLst/>
          </a:prstGeom>
          <a:solidFill>
            <a:srgbClr val="FFFFFF"/>
          </a:solidFill>
          <a:ln/>
          <a:effectLst>
            <a:outerShdw blurRad="50800" dist="12700" dir="8100000" algn="bl" rotWithShape="0">
              <a:srgbClr val="000000">
                <a:alpha val="8000"/>
              </a:srgbClr>
            </a:outerShdw>
          </a:effectLst>
        </p:spPr>
      </p:sp>
      <p:sp>
        <p:nvSpPr>
          <p:cNvPr id="11" name="Text 9"/>
          <p:cNvSpPr/>
          <p:nvPr/>
        </p:nvSpPr>
        <p:spPr>
          <a:xfrm>
            <a:off x="594360" y="2990088"/>
            <a:ext cx="4572000" cy="274320"/>
          </a:xfrm>
          <a:prstGeom prst="rect">
            <a:avLst/>
          </a:prstGeom>
          <a:noFill/>
          <a:ln/>
        </p:spPr>
        <p:txBody>
          <a:bodyPr wrap="square" lIns="0" tIns="0" rIns="0" bIns="0" rtlCol="0" anchor="ctr"/>
          <a:lstStyle/>
          <a:p>
            <a:pPr marL="0" indent="0">
              <a:buNone/>
            </a:pPr>
            <a:r>
              <a:rPr lang="en-US" sz="1200" b="1" dirty="0">
                <a:solidFill>
                  <a:srgbClr val="0D1B2A"/>
                </a:solidFill>
              </a:rPr>
              <a:t>Q7. Top 10 Brands by Listing Count</a:t>
            </a:r>
            <a:endParaRPr lang="en-US" sz="1200" dirty="0"/>
          </a:p>
        </p:txBody>
      </p:sp>
      <p:sp>
        <p:nvSpPr>
          <p:cNvPr id="12" name="Shape 10"/>
          <p:cNvSpPr/>
          <p:nvPr/>
        </p:nvSpPr>
        <p:spPr>
          <a:xfrm>
            <a:off x="594360" y="3291840"/>
            <a:ext cx="621792" cy="1188720"/>
          </a:xfrm>
          <a:prstGeom prst="rect">
            <a:avLst/>
          </a:prstGeom>
          <a:solidFill>
            <a:srgbClr val="2E86AB"/>
          </a:solidFill>
          <a:ln w="12700">
            <a:solidFill>
              <a:srgbClr val="2E86AB"/>
            </a:solidFill>
            <a:prstDash val="solid"/>
          </a:ln>
        </p:spPr>
      </p:sp>
      <p:sp>
        <p:nvSpPr>
          <p:cNvPr id="13" name="Text 11"/>
          <p:cNvSpPr/>
          <p:nvPr/>
        </p:nvSpPr>
        <p:spPr>
          <a:xfrm>
            <a:off x="557784" y="4507992"/>
            <a:ext cx="694944" cy="274320"/>
          </a:xfrm>
          <a:prstGeom prst="rect">
            <a:avLst/>
          </a:prstGeom>
          <a:noFill/>
          <a:ln/>
        </p:spPr>
        <p:txBody>
          <a:bodyPr wrap="square" lIns="0" tIns="0" rIns="0" bIns="0" rtlCol="0" anchor="ctr"/>
          <a:lstStyle/>
          <a:p>
            <a:pPr marL="0" indent="0" algn="ctr">
              <a:buNone/>
            </a:pPr>
            <a:r>
              <a:rPr lang="en-US" sz="800" dirty="0">
                <a:solidFill>
                  <a:srgbClr val="4A5568"/>
                </a:solidFill>
              </a:rPr>
              <a:t>Maruti</a:t>
            </a:r>
            <a:endParaRPr lang="en-US" sz="800" dirty="0"/>
          </a:p>
        </p:txBody>
      </p:sp>
      <p:sp>
        <p:nvSpPr>
          <p:cNvPr id="14" name="Text 12"/>
          <p:cNvSpPr/>
          <p:nvPr/>
        </p:nvSpPr>
        <p:spPr>
          <a:xfrm>
            <a:off x="594360" y="3035808"/>
            <a:ext cx="621792" cy="228600"/>
          </a:xfrm>
          <a:prstGeom prst="rect">
            <a:avLst/>
          </a:prstGeom>
          <a:noFill/>
          <a:ln/>
        </p:spPr>
        <p:txBody>
          <a:bodyPr wrap="square" lIns="0" tIns="0" rIns="0" bIns="0" rtlCol="0" anchor="ctr"/>
          <a:lstStyle/>
          <a:p>
            <a:pPr marL="0" indent="0" algn="ctr">
              <a:buNone/>
            </a:pPr>
            <a:r>
              <a:rPr lang="en-US" sz="900" b="1" dirty="0">
                <a:solidFill>
                  <a:srgbClr val="0D1B2A"/>
                </a:solidFill>
              </a:rPr>
              <a:t>2,570</a:t>
            </a:r>
            <a:endParaRPr lang="en-US" sz="900" dirty="0"/>
          </a:p>
        </p:txBody>
      </p:sp>
      <p:sp>
        <p:nvSpPr>
          <p:cNvPr id="15" name="Shape 13"/>
          <p:cNvSpPr/>
          <p:nvPr/>
        </p:nvSpPr>
        <p:spPr>
          <a:xfrm>
            <a:off x="1389888" y="3818670"/>
            <a:ext cx="621792" cy="661890"/>
          </a:xfrm>
          <a:prstGeom prst="rect">
            <a:avLst/>
          </a:prstGeom>
          <a:solidFill>
            <a:srgbClr val="2E86AB"/>
          </a:solidFill>
          <a:ln w="12700">
            <a:solidFill>
              <a:srgbClr val="2E86AB"/>
            </a:solidFill>
            <a:prstDash val="solid"/>
          </a:ln>
        </p:spPr>
      </p:sp>
      <p:sp>
        <p:nvSpPr>
          <p:cNvPr id="16" name="Text 14"/>
          <p:cNvSpPr/>
          <p:nvPr/>
        </p:nvSpPr>
        <p:spPr>
          <a:xfrm>
            <a:off x="1353312" y="4507992"/>
            <a:ext cx="694944" cy="274320"/>
          </a:xfrm>
          <a:prstGeom prst="rect">
            <a:avLst/>
          </a:prstGeom>
          <a:noFill/>
          <a:ln/>
        </p:spPr>
        <p:txBody>
          <a:bodyPr wrap="square" lIns="0" tIns="0" rIns="0" bIns="0" rtlCol="0" anchor="ctr"/>
          <a:lstStyle/>
          <a:p>
            <a:pPr marL="0" indent="0" algn="ctr">
              <a:buNone/>
            </a:pPr>
            <a:r>
              <a:rPr lang="en-US" sz="800" dirty="0">
                <a:solidFill>
                  <a:srgbClr val="4A5568"/>
                </a:solidFill>
              </a:rPr>
              <a:t>Hyundai</a:t>
            </a:r>
            <a:endParaRPr lang="en-US" sz="800" dirty="0"/>
          </a:p>
        </p:txBody>
      </p:sp>
      <p:sp>
        <p:nvSpPr>
          <p:cNvPr id="17" name="Text 15"/>
          <p:cNvSpPr/>
          <p:nvPr/>
        </p:nvSpPr>
        <p:spPr>
          <a:xfrm>
            <a:off x="1389888" y="3562638"/>
            <a:ext cx="621792" cy="228600"/>
          </a:xfrm>
          <a:prstGeom prst="rect">
            <a:avLst/>
          </a:prstGeom>
          <a:noFill/>
          <a:ln/>
        </p:spPr>
        <p:txBody>
          <a:bodyPr wrap="square" lIns="0" tIns="0" rIns="0" bIns="0" rtlCol="0" anchor="ctr"/>
          <a:lstStyle/>
          <a:p>
            <a:pPr marL="0" indent="0" algn="ctr">
              <a:buNone/>
            </a:pPr>
            <a:r>
              <a:rPr lang="en-US" sz="900" b="1" dirty="0">
                <a:solidFill>
                  <a:srgbClr val="0D1B2A"/>
                </a:solidFill>
              </a:rPr>
              <a:t>1,431</a:t>
            </a:r>
            <a:endParaRPr lang="en-US" sz="900" dirty="0"/>
          </a:p>
        </p:txBody>
      </p:sp>
      <p:sp>
        <p:nvSpPr>
          <p:cNvPr id="18" name="Shape 16"/>
          <p:cNvSpPr/>
          <p:nvPr/>
        </p:nvSpPr>
        <p:spPr>
          <a:xfrm>
            <a:off x="2185416" y="4144296"/>
            <a:ext cx="621792" cy="336264"/>
          </a:xfrm>
          <a:prstGeom prst="rect">
            <a:avLst/>
          </a:prstGeom>
          <a:solidFill>
            <a:srgbClr val="2E86AB"/>
          </a:solidFill>
          <a:ln w="12700">
            <a:solidFill>
              <a:srgbClr val="2E86AB"/>
            </a:solidFill>
            <a:prstDash val="solid"/>
          </a:ln>
        </p:spPr>
      </p:sp>
      <p:sp>
        <p:nvSpPr>
          <p:cNvPr id="19" name="Text 17"/>
          <p:cNvSpPr/>
          <p:nvPr/>
        </p:nvSpPr>
        <p:spPr>
          <a:xfrm>
            <a:off x="2148840" y="4507992"/>
            <a:ext cx="694944" cy="274320"/>
          </a:xfrm>
          <a:prstGeom prst="rect">
            <a:avLst/>
          </a:prstGeom>
          <a:noFill/>
          <a:ln/>
        </p:spPr>
        <p:txBody>
          <a:bodyPr wrap="square" lIns="0" tIns="0" rIns="0" bIns="0" rtlCol="0" anchor="ctr"/>
          <a:lstStyle/>
          <a:p>
            <a:pPr marL="0" indent="0" algn="ctr">
              <a:buNone/>
            </a:pPr>
            <a:r>
              <a:rPr lang="en-US" sz="800" dirty="0">
                <a:solidFill>
                  <a:srgbClr val="4A5568"/>
                </a:solidFill>
              </a:rPr>
              <a:t>Honda</a:t>
            </a:r>
            <a:endParaRPr lang="en-US" sz="800" dirty="0"/>
          </a:p>
        </p:txBody>
      </p:sp>
      <p:sp>
        <p:nvSpPr>
          <p:cNvPr id="20" name="Text 18"/>
          <p:cNvSpPr/>
          <p:nvPr/>
        </p:nvSpPr>
        <p:spPr>
          <a:xfrm>
            <a:off x="2185416" y="3888264"/>
            <a:ext cx="621792" cy="228600"/>
          </a:xfrm>
          <a:prstGeom prst="rect">
            <a:avLst/>
          </a:prstGeom>
          <a:noFill/>
          <a:ln/>
        </p:spPr>
        <p:txBody>
          <a:bodyPr wrap="square" lIns="0" tIns="0" rIns="0" bIns="0" rtlCol="0" anchor="ctr"/>
          <a:lstStyle/>
          <a:p>
            <a:pPr marL="0" indent="0" algn="ctr">
              <a:buNone/>
            </a:pPr>
            <a:r>
              <a:rPr lang="en-US" sz="900" b="1" dirty="0">
                <a:solidFill>
                  <a:srgbClr val="0D1B2A"/>
                </a:solidFill>
              </a:rPr>
              <a:t>727</a:t>
            </a:r>
            <a:endParaRPr lang="en-US" sz="900" dirty="0"/>
          </a:p>
        </p:txBody>
      </p:sp>
      <p:sp>
        <p:nvSpPr>
          <p:cNvPr id="21" name="Shape 19"/>
          <p:cNvSpPr/>
          <p:nvPr/>
        </p:nvSpPr>
        <p:spPr>
          <a:xfrm>
            <a:off x="2980944" y="4147996"/>
            <a:ext cx="621792" cy="332564"/>
          </a:xfrm>
          <a:prstGeom prst="rect">
            <a:avLst/>
          </a:prstGeom>
          <a:solidFill>
            <a:srgbClr val="1B4F72">
              <a:alpha val="60000"/>
            </a:srgbClr>
          </a:solidFill>
          <a:ln w="12700">
            <a:solidFill>
              <a:srgbClr val="2E86AB"/>
            </a:solidFill>
            <a:prstDash val="solid"/>
          </a:ln>
        </p:spPr>
      </p:sp>
      <p:sp>
        <p:nvSpPr>
          <p:cNvPr id="22" name="Text 20"/>
          <p:cNvSpPr/>
          <p:nvPr/>
        </p:nvSpPr>
        <p:spPr>
          <a:xfrm>
            <a:off x="2944368" y="4507992"/>
            <a:ext cx="694944" cy="274320"/>
          </a:xfrm>
          <a:prstGeom prst="rect">
            <a:avLst/>
          </a:prstGeom>
          <a:noFill/>
          <a:ln/>
        </p:spPr>
        <p:txBody>
          <a:bodyPr wrap="square" lIns="0" tIns="0" rIns="0" bIns="0" rtlCol="0" anchor="ctr"/>
          <a:lstStyle/>
          <a:p>
            <a:pPr marL="0" indent="0" algn="ctr">
              <a:buNone/>
            </a:pPr>
            <a:r>
              <a:rPr lang="en-US" sz="800" dirty="0">
                <a:solidFill>
                  <a:srgbClr val="4A5568"/>
                </a:solidFill>
              </a:rPr>
              <a:t>Toyota</a:t>
            </a:r>
            <a:endParaRPr lang="en-US" sz="800" dirty="0"/>
          </a:p>
        </p:txBody>
      </p:sp>
      <p:sp>
        <p:nvSpPr>
          <p:cNvPr id="23" name="Shape 21"/>
          <p:cNvSpPr/>
          <p:nvPr/>
        </p:nvSpPr>
        <p:spPr>
          <a:xfrm>
            <a:off x="3776472" y="4229865"/>
            <a:ext cx="621792" cy="250695"/>
          </a:xfrm>
          <a:prstGeom prst="rect">
            <a:avLst/>
          </a:prstGeom>
          <a:solidFill>
            <a:srgbClr val="1B4F72">
              <a:alpha val="60000"/>
            </a:srgbClr>
          </a:solidFill>
          <a:ln w="12700">
            <a:solidFill>
              <a:srgbClr val="2E86AB"/>
            </a:solidFill>
            <a:prstDash val="solid"/>
          </a:ln>
        </p:spPr>
      </p:sp>
      <p:sp>
        <p:nvSpPr>
          <p:cNvPr id="24" name="Text 22"/>
          <p:cNvSpPr/>
          <p:nvPr/>
        </p:nvSpPr>
        <p:spPr>
          <a:xfrm>
            <a:off x="3739896" y="4507992"/>
            <a:ext cx="694944" cy="274320"/>
          </a:xfrm>
          <a:prstGeom prst="rect">
            <a:avLst/>
          </a:prstGeom>
          <a:noFill/>
          <a:ln/>
        </p:spPr>
        <p:txBody>
          <a:bodyPr wrap="square" lIns="0" tIns="0" rIns="0" bIns="0" rtlCol="0" anchor="ctr"/>
          <a:lstStyle/>
          <a:p>
            <a:pPr marL="0" indent="0" algn="ctr">
              <a:buNone/>
            </a:pPr>
            <a:r>
              <a:rPr lang="en-US" sz="800" dirty="0">
                <a:solidFill>
                  <a:srgbClr val="4A5568"/>
                </a:solidFill>
              </a:rPr>
              <a:t>Mahindra</a:t>
            </a:r>
            <a:endParaRPr lang="en-US" sz="800" dirty="0"/>
          </a:p>
        </p:txBody>
      </p:sp>
      <p:sp>
        <p:nvSpPr>
          <p:cNvPr id="25" name="Shape 23"/>
          <p:cNvSpPr/>
          <p:nvPr/>
        </p:nvSpPr>
        <p:spPr>
          <a:xfrm>
            <a:off x="4572000" y="4310809"/>
            <a:ext cx="621792" cy="169751"/>
          </a:xfrm>
          <a:prstGeom prst="rect">
            <a:avLst/>
          </a:prstGeom>
          <a:solidFill>
            <a:srgbClr val="1B4F72">
              <a:alpha val="60000"/>
            </a:srgbClr>
          </a:solidFill>
          <a:ln w="12700">
            <a:solidFill>
              <a:srgbClr val="2E86AB"/>
            </a:solidFill>
            <a:prstDash val="solid"/>
          </a:ln>
        </p:spPr>
      </p:sp>
      <p:sp>
        <p:nvSpPr>
          <p:cNvPr id="26" name="Text 24"/>
          <p:cNvSpPr/>
          <p:nvPr/>
        </p:nvSpPr>
        <p:spPr>
          <a:xfrm>
            <a:off x="4535424" y="4507992"/>
            <a:ext cx="694944" cy="274320"/>
          </a:xfrm>
          <a:prstGeom prst="rect">
            <a:avLst/>
          </a:prstGeom>
          <a:noFill/>
          <a:ln/>
        </p:spPr>
        <p:txBody>
          <a:bodyPr wrap="square" lIns="0" tIns="0" rIns="0" bIns="0" rtlCol="0" anchor="ctr"/>
          <a:lstStyle/>
          <a:p>
            <a:pPr marL="0" indent="0" algn="ctr">
              <a:buNone/>
            </a:pPr>
            <a:r>
              <a:rPr lang="en-US" sz="800" dirty="0">
                <a:solidFill>
                  <a:srgbClr val="4A5568"/>
                </a:solidFill>
              </a:rPr>
              <a:t>Tata</a:t>
            </a:r>
            <a:endParaRPr lang="en-US" sz="800" dirty="0"/>
          </a:p>
        </p:txBody>
      </p:sp>
      <p:sp>
        <p:nvSpPr>
          <p:cNvPr id="27" name="Shape 25"/>
          <p:cNvSpPr/>
          <p:nvPr/>
        </p:nvSpPr>
        <p:spPr>
          <a:xfrm>
            <a:off x="5367528" y="4320060"/>
            <a:ext cx="621792" cy="160500"/>
          </a:xfrm>
          <a:prstGeom prst="rect">
            <a:avLst/>
          </a:prstGeom>
          <a:solidFill>
            <a:srgbClr val="1B4F72">
              <a:alpha val="60000"/>
            </a:srgbClr>
          </a:solidFill>
          <a:ln w="12700">
            <a:solidFill>
              <a:srgbClr val="2E86AB"/>
            </a:solidFill>
            <a:prstDash val="solid"/>
          </a:ln>
        </p:spPr>
      </p:sp>
      <p:sp>
        <p:nvSpPr>
          <p:cNvPr id="28" name="Text 26"/>
          <p:cNvSpPr/>
          <p:nvPr/>
        </p:nvSpPr>
        <p:spPr>
          <a:xfrm>
            <a:off x="5330952" y="4507992"/>
            <a:ext cx="694944" cy="274320"/>
          </a:xfrm>
          <a:prstGeom prst="rect">
            <a:avLst/>
          </a:prstGeom>
          <a:noFill/>
          <a:ln/>
        </p:spPr>
        <p:txBody>
          <a:bodyPr wrap="square" lIns="0" tIns="0" rIns="0" bIns="0" rtlCol="0" anchor="ctr"/>
          <a:lstStyle/>
          <a:p>
            <a:pPr marL="0" indent="0" algn="ctr">
              <a:buNone/>
            </a:pPr>
            <a:r>
              <a:rPr lang="en-US" sz="800" dirty="0">
                <a:solidFill>
                  <a:srgbClr val="4A5568"/>
                </a:solidFill>
              </a:rPr>
              <a:t>Mercedes</a:t>
            </a:r>
            <a:endParaRPr lang="en-US" sz="800" dirty="0"/>
          </a:p>
        </p:txBody>
      </p:sp>
      <p:sp>
        <p:nvSpPr>
          <p:cNvPr id="29" name="Shape 27"/>
          <p:cNvSpPr/>
          <p:nvPr/>
        </p:nvSpPr>
        <p:spPr>
          <a:xfrm>
            <a:off x="6163056" y="4352437"/>
            <a:ext cx="621792" cy="128123"/>
          </a:xfrm>
          <a:prstGeom prst="rect">
            <a:avLst/>
          </a:prstGeom>
          <a:solidFill>
            <a:srgbClr val="1B4F72">
              <a:alpha val="60000"/>
            </a:srgbClr>
          </a:solidFill>
          <a:ln w="12700">
            <a:solidFill>
              <a:srgbClr val="2E86AB"/>
            </a:solidFill>
            <a:prstDash val="solid"/>
          </a:ln>
        </p:spPr>
      </p:sp>
      <p:sp>
        <p:nvSpPr>
          <p:cNvPr id="30" name="Text 28"/>
          <p:cNvSpPr/>
          <p:nvPr/>
        </p:nvSpPr>
        <p:spPr>
          <a:xfrm>
            <a:off x="6126480" y="4507992"/>
            <a:ext cx="694944" cy="274320"/>
          </a:xfrm>
          <a:prstGeom prst="rect">
            <a:avLst/>
          </a:prstGeom>
          <a:noFill/>
          <a:ln/>
        </p:spPr>
        <p:txBody>
          <a:bodyPr wrap="square" lIns="0" tIns="0" rIns="0" bIns="0" rtlCol="0" anchor="ctr"/>
          <a:lstStyle/>
          <a:p>
            <a:pPr marL="0" indent="0" algn="ctr">
              <a:buNone/>
            </a:pPr>
            <a:r>
              <a:rPr lang="en-US" sz="800" dirty="0">
                <a:solidFill>
                  <a:srgbClr val="4A5568"/>
                </a:solidFill>
              </a:rPr>
              <a:t>Volkswagen</a:t>
            </a:r>
            <a:endParaRPr lang="en-US" sz="800" dirty="0"/>
          </a:p>
        </p:txBody>
      </p:sp>
      <p:sp>
        <p:nvSpPr>
          <p:cNvPr id="31" name="Shape 29"/>
          <p:cNvSpPr/>
          <p:nvPr/>
        </p:nvSpPr>
        <p:spPr>
          <a:xfrm>
            <a:off x="6958584" y="4362151"/>
            <a:ext cx="621792" cy="118409"/>
          </a:xfrm>
          <a:prstGeom prst="rect">
            <a:avLst/>
          </a:prstGeom>
          <a:solidFill>
            <a:srgbClr val="1B4F72">
              <a:alpha val="60000"/>
            </a:srgbClr>
          </a:solidFill>
          <a:ln w="12700">
            <a:solidFill>
              <a:srgbClr val="2E86AB"/>
            </a:solidFill>
            <a:prstDash val="solid"/>
          </a:ln>
        </p:spPr>
      </p:sp>
      <p:sp>
        <p:nvSpPr>
          <p:cNvPr id="32" name="Text 30"/>
          <p:cNvSpPr/>
          <p:nvPr/>
        </p:nvSpPr>
        <p:spPr>
          <a:xfrm>
            <a:off x="6922008" y="4507992"/>
            <a:ext cx="694944" cy="274320"/>
          </a:xfrm>
          <a:prstGeom prst="rect">
            <a:avLst/>
          </a:prstGeom>
          <a:noFill/>
          <a:ln/>
        </p:spPr>
        <p:txBody>
          <a:bodyPr wrap="square" lIns="0" tIns="0" rIns="0" bIns="0" rtlCol="0" anchor="ctr"/>
          <a:lstStyle/>
          <a:p>
            <a:pPr marL="0" indent="0" algn="ctr">
              <a:buNone/>
            </a:pPr>
            <a:r>
              <a:rPr lang="en-US" sz="800" dirty="0">
                <a:solidFill>
                  <a:srgbClr val="4A5568"/>
                </a:solidFill>
              </a:rPr>
              <a:t>BMW</a:t>
            </a:r>
            <a:endParaRPr lang="en-US" sz="800" dirty="0"/>
          </a:p>
        </p:txBody>
      </p:sp>
      <p:sp>
        <p:nvSpPr>
          <p:cNvPr id="33" name="Shape 31"/>
          <p:cNvSpPr/>
          <p:nvPr/>
        </p:nvSpPr>
        <p:spPr>
          <a:xfrm>
            <a:off x="7754112" y="4373714"/>
            <a:ext cx="621792" cy="106846"/>
          </a:xfrm>
          <a:prstGeom prst="rect">
            <a:avLst/>
          </a:prstGeom>
          <a:solidFill>
            <a:srgbClr val="1B4F72">
              <a:alpha val="60000"/>
            </a:srgbClr>
          </a:solidFill>
          <a:ln w="12700">
            <a:solidFill>
              <a:srgbClr val="2E86AB"/>
            </a:solidFill>
            <a:prstDash val="solid"/>
          </a:ln>
        </p:spPr>
      </p:sp>
      <p:sp>
        <p:nvSpPr>
          <p:cNvPr id="34" name="Text 32"/>
          <p:cNvSpPr/>
          <p:nvPr/>
        </p:nvSpPr>
        <p:spPr>
          <a:xfrm>
            <a:off x="7717536" y="4507992"/>
            <a:ext cx="694944" cy="274320"/>
          </a:xfrm>
          <a:prstGeom prst="rect">
            <a:avLst/>
          </a:prstGeom>
          <a:noFill/>
          <a:ln/>
        </p:spPr>
        <p:txBody>
          <a:bodyPr wrap="square" lIns="0" tIns="0" rIns="0" bIns="0" rtlCol="0" anchor="ctr"/>
          <a:lstStyle/>
          <a:p>
            <a:pPr marL="0" indent="0" algn="ctr">
              <a:buNone/>
            </a:pPr>
            <a:r>
              <a:rPr lang="en-US" sz="800" dirty="0">
                <a:solidFill>
                  <a:srgbClr val="4A5568"/>
                </a:solidFill>
              </a:rPr>
              <a:t>Ford</a:t>
            </a:r>
            <a:endParaRPr lang="en-US" sz="800" dirty="0"/>
          </a:p>
        </p:txBody>
      </p:sp>
      <p:sp>
        <p:nvSpPr>
          <p:cNvPr id="35" name="Shape 33"/>
          <p:cNvSpPr/>
          <p:nvPr/>
        </p:nvSpPr>
        <p:spPr>
          <a:xfrm>
            <a:off x="3291840" y="960120"/>
            <a:ext cx="5394960" cy="1828800"/>
          </a:xfrm>
          <a:prstGeom prst="rect">
            <a:avLst/>
          </a:prstGeom>
          <a:solidFill>
            <a:srgbClr val="FFFFFF"/>
          </a:solidFill>
          <a:ln/>
          <a:effectLst>
            <a:outerShdw blurRad="50800" dist="12700" dir="8100000" algn="bl" rotWithShape="0">
              <a:srgbClr val="000000">
                <a:alpha val="8000"/>
              </a:srgbClr>
            </a:outerShdw>
          </a:effectLst>
        </p:spPr>
      </p:sp>
      <p:sp>
        <p:nvSpPr>
          <p:cNvPr id="36" name="Text 34"/>
          <p:cNvSpPr/>
          <p:nvPr/>
        </p:nvSpPr>
        <p:spPr>
          <a:xfrm>
            <a:off x="3429000" y="1024128"/>
            <a:ext cx="5029200" cy="274320"/>
          </a:xfrm>
          <a:prstGeom prst="rect">
            <a:avLst/>
          </a:prstGeom>
          <a:noFill/>
          <a:ln/>
        </p:spPr>
        <p:txBody>
          <a:bodyPr wrap="square" lIns="0" tIns="0" rIns="0" bIns="0" rtlCol="0" anchor="ctr"/>
          <a:lstStyle/>
          <a:p>
            <a:pPr marL="0" indent="0">
              <a:buNone/>
            </a:pPr>
            <a:r>
              <a:rPr lang="en-US" sz="1100" b="1" dirty="0">
                <a:solidFill>
                  <a:srgbClr val="0D1B2A"/>
                </a:solidFill>
              </a:rPr>
              <a:t>Q8. KM Driven vs Price (Correlation: -0.14)</a:t>
            </a:r>
            <a:endParaRPr lang="en-US" sz="1100" dirty="0"/>
          </a:p>
        </p:txBody>
      </p:sp>
      <p:sp>
        <p:nvSpPr>
          <p:cNvPr id="37" name="Text 35"/>
          <p:cNvSpPr/>
          <p:nvPr/>
        </p:nvSpPr>
        <p:spPr>
          <a:xfrm>
            <a:off x="3429000" y="1371600"/>
            <a:ext cx="5120640" cy="128016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Weak negative correlation </a:t>
            </a:r>
            <a:r>
              <a:rPr lang="en-US" sz="1200" b="1" dirty="0">
                <a:solidFill>
                  <a:srgbClr val="C0392B"/>
                </a:solidFill>
                <a:latin typeface="Calibri" pitchFamily="34" charset="0"/>
                <a:ea typeface="Calibri" pitchFamily="34" charset="-122"/>
                <a:cs typeface="Calibri" pitchFamily="34" charset="-120"/>
              </a:rPr>
              <a:t>(-0.14)</a:t>
            </a:r>
            <a:r>
              <a:rPr lang="en-US" sz="1200" dirty="0">
                <a:solidFill>
                  <a:srgbClr val="0D1B2A"/>
                </a:solidFill>
                <a:latin typeface="Calibri" pitchFamily="34" charset="0"/>
                <a:ea typeface="Calibri" pitchFamily="34" charset="-122"/>
                <a:cs typeface="Calibri" pitchFamily="34" charset="-120"/>
              </a:rPr>
              <a:t> between km driven and price.</a:t>
            </a:r>
            <a:endParaRPr lang="en-US" sz="1200" dirty="0"/>
          </a:p>
          <a:p>
            <a:pPr marL="0" indent="0">
              <a:buNone/>
            </a:pPr>
            <a:endParaRPr lang="en-US" sz="1200" dirty="0"/>
          </a:p>
          <a:p>
            <a:pPr marL="0" indent="0">
              <a:buNone/>
            </a:pPr>
            <a:r>
              <a:rPr lang="en-US" sz="1200" dirty="0">
                <a:solidFill>
                  <a:srgbClr val="0D1B2A"/>
                </a:solidFill>
                <a:latin typeface="Calibri" pitchFamily="34" charset="0"/>
                <a:ea typeface="Calibri" pitchFamily="34" charset="-122"/>
                <a:cs typeface="Calibri" pitchFamily="34" charset="-120"/>
              </a:rPr>
              <a:t>Cars with lower mileage tend to command higher prices, but KM driven is NOT the strongest predictor — </a:t>
            </a:r>
            <a:endParaRPr lang="en-US" sz="1200" dirty="0"/>
          </a:p>
          <a:p>
            <a:pPr marL="0" indent="0">
              <a:buNone/>
            </a:pPr>
            <a:r>
              <a:rPr lang="en-US" sz="1200" b="1" dirty="0">
                <a:solidFill>
                  <a:srgbClr val="0D1B2A"/>
                </a:solidFill>
                <a:latin typeface="Calibri" pitchFamily="34" charset="0"/>
                <a:ea typeface="Calibri" pitchFamily="34" charset="-122"/>
                <a:cs typeface="Calibri" pitchFamily="34" charset="-120"/>
              </a:rPr>
              <a:t>year and brand matter more.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Q9–Q11: Year Trends &amp; Premium Cars</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960120"/>
            <a:ext cx="8229600" cy="1463040"/>
          </a:xfrm>
          <a:prstGeom prst="rect">
            <a:avLst/>
          </a:prstGeom>
          <a:solidFill>
            <a:srgbClr val="FFFFFF"/>
          </a:solidFill>
          <a:ln/>
          <a:effectLst>
            <a:outerShdw blurRad="50800" dist="12700" dir="8100000" algn="bl" rotWithShape="0">
              <a:srgbClr val="000000">
                <a:alpha val="8000"/>
              </a:srgbClr>
            </a:outerShdw>
          </a:effectLst>
        </p:spPr>
      </p:sp>
      <p:sp>
        <p:nvSpPr>
          <p:cNvPr id="5" name="Text 3"/>
          <p:cNvSpPr/>
          <p:nvPr/>
        </p:nvSpPr>
        <p:spPr>
          <a:xfrm>
            <a:off x="594360" y="1024128"/>
            <a:ext cx="4572000" cy="256032"/>
          </a:xfrm>
          <a:prstGeom prst="rect">
            <a:avLst/>
          </a:prstGeom>
          <a:noFill/>
          <a:ln/>
        </p:spPr>
        <p:txBody>
          <a:bodyPr wrap="square" lIns="0" tIns="0" rIns="0" bIns="0" rtlCol="0" anchor="ctr"/>
          <a:lstStyle/>
          <a:p>
            <a:pPr marL="0" indent="0">
              <a:buNone/>
            </a:pPr>
            <a:r>
              <a:rPr lang="en-US" sz="1200" b="1" dirty="0">
                <a:solidFill>
                  <a:srgbClr val="0D1B2A"/>
                </a:solidFill>
              </a:rPr>
              <a:t>Q9. Peak Manufacturing Year</a:t>
            </a:r>
            <a:endParaRPr lang="en-US" sz="1200" dirty="0"/>
          </a:p>
        </p:txBody>
      </p:sp>
      <p:sp>
        <p:nvSpPr>
          <p:cNvPr id="6" name="Shape 4"/>
          <p:cNvSpPr/>
          <p:nvPr/>
        </p:nvSpPr>
        <p:spPr>
          <a:xfrm>
            <a:off x="594360" y="1824060"/>
            <a:ext cx="621792" cy="416220"/>
          </a:xfrm>
          <a:prstGeom prst="rect">
            <a:avLst/>
          </a:prstGeom>
          <a:solidFill>
            <a:srgbClr val="1B4F72">
              <a:alpha val="50000"/>
            </a:srgbClr>
          </a:solidFill>
          <a:ln w="12700">
            <a:solidFill>
              <a:srgbClr val="2E86AB"/>
            </a:solidFill>
            <a:prstDash val="solid"/>
          </a:ln>
        </p:spPr>
      </p:sp>
      <p:sp>
        <p:nvSpPr>
          <p:cNvPr id="7" name="Text 5"/>
          <p:cNvSpPr/>
          <p:nvPr/>
        </p:nvSpPr>
        <p:spPr>
          <a:xfrm>
            <a:off x="539496" y="2276856"/>
            <a:ext cx="731520" cy="182880"/>
          </a:xfrm>
          <a:prstGeom prst="rect">
            <a:avLst/>
          </a:prstGeom>
          <a:noFill/>
          <a:ln/>
        </p:spPr>
        <p:txBody>
          <a:bodyPr wrap="square" lIns="0" tIns="0" rIns="0" bIns="0" rtlCol="0" anchor="ctr"/>
          <a:lstStyle/>
          <a:p>
            <a:pPr marL="0" indent="0" algn="ctr">
              <a:buNone/>
            </a:pPr>
            <a:r>
              <a:rPr lang="en-US" sz="800" dirty="0">
                <a:solidFill>
                  <a:srgbClr val="4A5568"/>
                </a:solidFill>
              </a:rPr>
              <a:t>2013</a:t>
            </a:r>
            <a:endParaRPr lang="en-US" sz="800" dirty="0"/>
          </a:p>
        </p:txBody>
      </p:sp>
      <p:sp>
        <p:nvSpPr>
          <p:cNvPr id="8" name="Shape 6"/>
          <p:cNvSpPr/>
          <p:nvPr/>
        </p:nvSpPr>
        <p:spPr>
          <a:xfrm>
            <a:off x="1389888" y="1730993"/>
            <a:ext cx="621792" cy="509287"/>
          </a:xfrm>
          <a:prstGeom prst="rect">
            <a:avLst/>
          </a:prstGeom>
          <a:solidFill>
            <a:srgbClr val="1B4F72">
              <a:alpha val="50000"/>
            </a:srgbClr>
          </a:solidFill>
          <a:ln w="12700">
            <a:solidFill>
              <a:srgbClr val="2E86AB"/>
            </a:solidFill>
            <a:prstDash val="solid"/>
          </a:ln>
        </p:spPr>
      </p:sp>
      <p:sp>
        <p:nvSpPr>
          <p:cNvPr id="9" name="Text 7"/>
          <p:cNvSpPr/>
          <p:nvPr/>
        </p:nvSpPr>
        <p:spPr>
          <a:xfrm>
            <a:off x="1335024" y="2276856"/>
            <a:ext cx="731520" cy="182880"/>
          </a:xfrm>
          <a:prstGeom prst="rect">
            <a:avLst/>
          </a:prstGeom>
          <a:noFill/>
          <a:ln/>
        </p:spPr>
        <p:txBody>
          <a:bodyPr wrap="square" lIns="0" tIns="0" rIns="0" bIns="0" rtlCol="0" anchor="ctr"/>
          <a:lstStyle/>
          <a:p>
            <a:pPr marL="0" indent="0" algn="ctr">
              <a:buNone/>
            </a:pPr>
            <a:r>
              <a:rPr lang="en-US" sz="800" dirty="0">
                <a:solidFill>
                  <a:srgbClr val="4A5568"/>
                </a:solidFill>
              </a:rPr>
              <a:t>2014</a:t>
            </a:r>
            <a:endParaRPr lang="en-US" sz="800" dirty="0"/>
          </a:p>
        </p:txBody>
      </p:sp>
      <p:sp>
        <p:nvSpPr>
          <p:cNvPr id="10" name="Shape 8"/>
          <p:cNvSpPr/>
          <p:nvPr/>
        </p:nvSpPr>
        <p:spPr>
          <a:xfrm>
            <a:off x="2185416" y="1572433"/>
            <a:ext cx="621792" cy="667847"/>
          </a:xfrm>
          <a:prstGeom prst="rect">
            <a:avLst/>
          </a:prstGeom>
          <a:solidFill>
            <a:srgbClr val="1B4F72">
              <a:alpha val="50000"/>
            </a:srgbClr>
          </a:solidFill>
          <a:ln w="12700">
            <a:solidFill>
              <a:srgbClr val="2E86AB"/>
            </a:solidFill>
            <a:prstDash val="solid"/>
          </a:ln>
        </p:spPr>
      </p:sp>
      <p:sp>
        <p:nvSpPr>
          <p:cNvPr id="11" name="Text 9"/>
          <p:cNvSpPr/>
          <p:nvPr/>
        </p:nvSpPr>
        <p:spPr>
          <a:xfrm>
            <a:off x="2130552" y="2276856"/>
            <a:ext cx="731520" cy="182880"/>
          </a:xfrm>
          <a:prstGeom prst="rect">
            <a:avLst/>
          </a:prstGeom>
          <a:noFill/>
          <a:ln/>
        </p:spPr>
        <p:txBody>
          <a:bodyPr wrap="square" lIns="0" tIns="0" rIns="0" bIns="0" rtlCol="0" anchor="ctr"/>
          <a:lstStyle/>
          <a:p>
            <a:pPr marL="0" indent="0" algn="ctr">
              <a:buNone/>
            </a:pPr>
            <a:r>
              <a:rPr lang="en-US" sz="800" dirty="0">
                <a:solidFill>
                  <a:srgbClr val="4A5568"/>
                </a:solidFill>
              </a:rPr>
              <a:t>2015</a:t>
            </a:r>
            <a:endParaRPr lang="en-US" sz="800" dirty="0"/>
          </a:p>
        </p:txBody>
      </p:sp>
      <p:sp>
        <p:nvSpPr>
          <p:cNvPr id="12" name="Shape 10"/>
          <p:cNvSpPr/>
          <p:nvPr/>
        </p:nvSpPr>
        <p:spPr>
          <a:xfrm>
            <a:off x="2980944" y="1547442"/>
            <a:ext cx="621792" cy="692838"/>
          </a:xfrm>
          <a:prstGeom prst="rect">
            <a:avLst/>
          </a:prstGeom>
          <a:solidFill>
            <a:srgbClr val="1B4F72">
              <a:alpha val="50000"/>
            </a:srgbClr>
          </a:solidFill>
          <a:ln w="12700">
            <a:solidFill>
              <a:srgbClr val="2E86AB"/>
            </a:solidFill>
            <a:prstDash val="solid"/>
          </a:ln>
        </p:spPr>
      </p:sp>
      <p:sp>
        <p:nvSpPr>
          <p:cNvPr id="13" name="Text 11"/>
          <p:cNvSpPr/>
          <p:nvPr/>
        </p:nvSpPr>
        <p:spPr>
          <a:xfrm>
            <a:off x="2926080" y="2276856"/>
            <a:ext cx="731520" cy="182880"/>
          </a:xfrm>
          <a:prstGeom prst="rect">
            <a:avLst/>
          </a:prstGeom>
          <a:noFill/>
          <a:ln/>
        </p:spPr>
        <p:txBody>
          <a:bodyPr wrap="square" lIns="0" tIns="0" rIns="0" bIns="0" rtlCol="0" anchor="ctr"/>
          <a:lstStyle/>
          <a:p>
            <a:pPr marL="0" indent="0" algn="ctr">
              <a:buNone/>
            </a:pPr>
            <a:r>
              <a:rPr lang="en-US" sz="800" dirty="0">
                <a:solidFill>
                  <a:srgbClr val="4A5568"/>
                </a:solidFill>
              </a:rPr>
              <a:t>2016</a:t>
            </a:r>
            <a:endParaRPr lang="en-US" sz="800" dirty="0"/>
          </a:p>
        </p:txBody>
      </p:sp>
      <p:sp>
        <p:nvSpPr>
          <p:cNvPr id="14" name="Shape 12"/>
          <p:cNvSpPr/>
          <p:nvPr/>
        </p:nvSpPr>
        <p:spPr>
          <a:xfrm>
            <a:off x="3776472" y="1417320"/>
            <a:ext cx="621792" cy="822960"/>
          </a:xfrm>
          <a:prstGeom prst="rect">
            <a:avLst/>
          </a:prstGeom>
          <a:solidFill>
            <a:srgbClr val="2E86AB"/>
          </a:solidFill>
          <a:ln w="12700">
            <a:solidFill>
              <a:srgbClr val="2E86AB"/>
            </a:solidFill>
            <a:prstDash val="solid"/>
          </a:ln>
        </p:spPr>
      </p:sp>
      <p:sp>
        <p:nvSpPr>
          <p:cNvPr id="15" name="Text 13"/>
          <p:cNvSpPr/>
          <p:nvPr/>
        </p:nvSpPr>
        <p:spPr>
          <a:xfrm>
            <a:off x="3721608" y="2276856"/>
            <a:ext cx="731520" cy="182880"/>
          </a:xfrm>
          <a:prstGeom prst="rect">
            <a:avLst/>
          </a:prstGeom>
          <a:noFill/>
          <a:ln/>
        </p:spPr>
        <p:txBody>
          <a:bodyPr wrap="square" lIns="0" tIns="0" rIns="0" bIns="0" rtlCol="0" anchor="ctr"/>
          <a:lstStyle/>
          <a:p>
            <a:pPr marL="0" indent="0" algn="ctr">
              <a:buNone/>
            </a:pPr>
            <a:r>
              <a:rPr lang="en-US" sz="800" dirty="0">
                <a:solidFill>
                  <a:srgbClr val="4A5568"/>
                </a:solidFill>
              </a:rPr>
              <a:t>2017</a:t>
            </a:r>
            <a:endParaRPr lang="en-US" sz="800" dirty="0"/>
          </a:p>
        </p:txBody>
      </p:sp>
      <p:sp>
        <p:nvSpPr>
          <p:cNvPr id="16" name="Shape 14"/>
          <p:cNvSpPr/>
          <p:nvPr/>
        </p:nvSpPr>
        <p:spPr>
          <a:xfrm>
            <a:off x="4572000" y="1507803"/>
            <a:ext cx="621792" cy="732477"/>
          </a:xfrm>
          <a:prstGeom prst="rect">
            <a:avLst/>
          </a:prstGeom>
          <a:solidFill>
            <a:srgbClr val="1B4F72">
              <a:alpha val="50000"/>
            </a:srgbClr>
          </a:solidFill>
          <a:ln w="12700">
            <a:solidFill>
              <a:srgbClr val="2E86AB"/>
            </a:solidFill>
            <a:prstDash val="solid"/>
          </a:ln>
        </p:spPr>
      </p:sp>
      <p:sp>
        <p:nvSpPr>
          <p:cNvPr id="17" name="Text 15"/>
          <p:cNvSpPr/>
          <p:nvPr/>
        </p:nvSpPr>
        <p:spPr>
          <a:xfrm>
            <a:off x="4517136" y="2276856"/>
            <a:ext cx="731520" cy="182880"/>
          </a:xfrm>
          <a:prstGeom prst="rect">
            <a:avLst/>
          </a:prstGeom>
          <a:noFill/>
          <a:ln/>
        </p:spPr>
        <p:txBody>
          <a:bodyPr wrap="square" lIns="0" tIns="0" rIns="0" bIns="0" rtlCol="0" anchor="ctr"/>
          <a:lstStyle/>
          <a:p>
            <a:pPr marL="0" indent="0" algn="ctr">
              <a:buNone/>
            </a:pPr>
            <a:r>
              <a:rPr lang="en-US" sz="800" dirty="0">
                <a:solidFill>
                  <a:srgbClr val="4A5568"/>
                </a:solidFill>
              </a:rPr>
              <a:t>2018</a:t>
            </a:r>
            <a:endParaRPr lang="en-US" sz="800" dirty="0"/>
          </a:p>
        </p:txBody>
      </p:sp>
      <p:sp>
        <p:nvSpPr>
          <p:cNvPr id="18" name="Shape 16"/>
          <p:cNvSpPr/>
          <p:nvPr/>
        </p:nvSpPr>
        <p:spPr>
          <a:xfrm>
            <a:off x="5367528" y="1576742"/>
            <a:ext cx="621792" cy="663538"/>
          </a:xfrm>
          <a:prstGeom prst="rect">
            <a:avLst/>
          </a:prstGeom>
          <a:solidFill>
            <a:srgbClr val="1B4F72">
              <a:alpha val="50000"/>
            </a:srgbClr>
          </a:solidFill>
          <a:ln w="12700">
            <a:solidFill>
              <a:srgbClr val="2E86AB"/>
            </a:solidFill>
            <a:prstDash val="solid"/>
          </a:ln>
        </p:spPr>
      </p:sp>
      <p:sp>
        <p:nvSpPr>
          <p:cNvPr id="19" name="Text 17"/>
          <p:cNvSpPr/>
          <p:nvPr/>
        </p:nvSpPr>
        <p:spPr>
          <a:xfrm>
            <a:off x="5312664" y="2276856"/>
            <a:ext cx="731520" cy="182880"/>
          </a:xfrm>
          <a:prstGeom prst="rect">
            <a:avLst/>
          </a:prstGeom>
          <a:noFill/>
          <a:ln/>
        </p:spPr>
        <p:txBody>
          <a:bodyPr wrap="square" lIns="0" tIns="0" rIns="0" bIns="0" rtlCol="0" anchor="ctr"/>
          <a:lstStyle/>
          <a:p>
            <a:pPr marL="0" indent="0" algn="ctr">
              <a:buNone/>
            </a:pPr>
            <a:r>
              <a:rPr lang="en-US" sz="800" dirty="0">
                <a:solidFill>
                  <a:srgbClr val="4A5568"/>
                </a:solidFill>
              </a:rPr>
              <a:t>2019</a:t>
            </a:r>
            <a:endParaRPr lang="en-US" sz="800" dirty="0"/>
          </a:p>
        </p:txBody>
      </p:sp>
      <p:sp>
        <p:nvSpPr>
          <p:cNvPr id="20" name="Shape 18"/>
          <p:cNvSpPr/>
          <p:nvPr/>
        </p:nvSpPr>
        <p:spPr>
          <a:xfrm>
            <a:off x="6163056" y="1783559"/>
            <a:ext cx="621792" cy="456721"/>
          </a:xfrm>
          <a:prstGeom prst="rect">
            <a:avLst/>
          </a:prstGeom>
          <a:solidFill>
            <a:srgbClr val="1B4F72">
              <a:alpha val="50000"/>
            </a:srgbClr>
          </a:solidFill>
          <a:ln w="12700">
            <a:solidFill>
              <a:srgbClr val="2E86AB"/>
            </a:solidFill>
            <a:prstDash val="solid"/>
          </a:ln>
        </p:spPr>
      </p:sp>
      <p:sp>
        <p:nvSpPr>
          <p:cNvPr id="21" name="Text 19"/>
          <p:cNvSpPr/>
          <p:nvPr/>
        </p:nvSpPr>
        <p:spPr>
          <a:xfrm>
            <a:off x="6108192" y="2276856"/>
            <a:ext cx="731520" cy="182880"/>
          </a:xfrm>
          <a:prstGeom prst="rect">
            <a:avLst/>
          </a:prstGeom>
          <a:noFill/>
          <a:ln/>
        </p:spPr>
        <p:txBody>
          <a:bodyPr wrap="square" lIns="0" tIns="0" rIns="0" bIns="0" rtlCol="0" anchor="ctr"/>
          <a:lstStyle/>
          <a:p>
            <a:pPr marL="0" indent="0" algn="ctr">
              <a:buNone/>
            </a:pPr>
            <a:r>
              <a:rPr lang="en-US" sz="800" dirty="0">
                <a:solidFill>
                  <a:srgbClr val="4A5568"/>
                </a:solidFill>
              </a:rPr>
              <a:t>2020</a:t>
            </a:r>
            <a:endParaRPr lang="en-US" sz="800" dirty="0"/>
          </a:p>
        </p:txBody>
      </p:sp>
      <p:sp>
        <p:nvSpPr>
          <p:cNvPr id="22" name="Shape 20"/>
          <p:cNvSpPr/>
          <p:nvPr/>
        </p:nvSpPr>
        <p:spPr>
          <a:xfrm>
            <a:off x="6958584" y="1782697"/>
            <a:ext cx="621792" cy="457583"/>
          </a:xfrm>
          <a:prstGeom prst="rect">
            <a:avLst/>
          </a:prstGeom>
          <a:solidFill>
            <a:srgbClr val="1B4F72">
              <a:alpha val="50000"/>
            </a:srgbClr>
          </a:solidFill>
          <a:ln w="12700">
            <a:solidFill>
              <a:srgbClr val="2E86AB"/>
            </a:solidFill>
            <a:prstDash val="solid"/>
          </a:ln>
        </p:spPr>
      </p:sp>
      <p:sp>
        <p:nvSpPr>
          <p:cNvPr id="23" name="Text 21"/>
          <p:cNvSpPr/>
          <p:nvPr/>
        </p:nvSpPr>
        <p:spPr>
          <a:xfrm>
            <a:off x="6903720" y="2276856"/>
            <a:ext cx="731520" cy="182880"/>
          </a:xfrm>
          <a:prstGeom prst="rect">
            <a:avLst/>
          </a:prstGeom>
          <a:noFill/>
          <a:ln/>
        </p:spPr>
        <p:txBody>
          <a:bodyPr wrap="square" lIns="0" tIns="0" rIns="0" bIns="0" rtlCol="0" anchor="ctr"/>
          <a:lstStyle/>
          <a:p>
            <a:pPr marL="0" indent="0" algn="ctr">
              <a:buNone/>
            </a:pPr>
            <a:r>
              <a:rPr lang="en-US" sz="800" dirty="0">
                <a:solidFill>
                  <a:srgbClr val="4A5568"/>
                </a:solidFill>
              </a:rPr>
              <a:t>2021</a:t>
            </a:r>
            <a:endParaRPr lang="en-US" sz="800" dirty="0"/>
          </a:p>
        </p:txBody>
      </p:sp>
      <p:sp>
        <p:nvSpPr>
          <p:cNvPr id="24" name="Shape 22"/>
          <p:cNvSpPr/>
          <p:nvPr/>
        </p:nvSpPr>
        <p:spPr>
          <a:xfrm>
            <a:off x="7754112" y="1793038"/>
            <a:ext cx="621792" cy="447242"/>
          </a:xfrm>
          <a:prstGeom prst="rect">
            <a:avLst/>
          </a:prstGeom>
          <a:solidFill>
            <a:srgbClr val="1B4F72">
              <a:alpha val="50000"/>
            </a:srgbClr>
          </a:solidFill>
          <a:ln w="12700">
            <a:solidFill>
              <a:srgbClr val="2E86AB"/>
            </a:solidFill>
            <a:prstDash val="solid"/>
          </a:ln>
        </p:spPr>
      </p:sp>
      <p:sp>
        <p:nvSpPr>
          <p:cNvPr id="25" name="Text 23"/>
          <p:cNvSpPr/>
          <p:nvPr/>
        </p:nvSpPr>
        <p:spPr>
          <a:xfrm>
            <a:off x="7699248" y="2276856"/>
            <a:ext cx="731520" cy="182880"/>
          </a:xfrm>
          <a:prstGeom prst="rect">
            <a:avLst/>
          </a:prstGeom>
          <a:noFill/>
          <a:ln/>
        </p:spPr>
        <p:txBody>
          <a:bodyPr wrap="square" lIns="0" tIns="0" rIns="0" bIns="0" rtlCol="0" anchor="ctr"/>
          <a:lstStyle/>
          <a:p>
            <a:pPr marL="0" indent="0" algn="ctr">
              <a:buNone/>
            </a:pPr>
            <a:r>
              <a:rPr lang="en-US" sz="800" dirty="0">
                <a:solidFill>
                  <a:srgbClr val="4A5568"/>
                </a:solidFill>
              </a:rPr>
              <a:t>2022</a:t>
            </a:r>
            <a:endParaRPr lang="en-US" sz="800" dirty="0"/>
          </a:p>
        </p:txBody>
      </p:sp>
      <p:sp>
        <p:nvSpPr>
          <p:cNvPr id="26" name="Text 24"/>
          <p:cNvSpPr/>
          <p:nvPr/>
        </p:nvSpPr>
        <p:spPr>
          <a:xfrm>
            <a:off x="594360" y="2487168"/>
            <a:ext cx="7315200" cy="228600"/>
          </a:xfrm>
          <a:prstGeom prst="rect">
            <a:avLst/>
          </a:prstGeom>
          <a:noFill/>
          <a:ln/>
        </p:spPr>
        <p:txBody>
          <a:bodyPr wrap="square" lIns="0" tIns="0" rIns="0" bIns="0" rtlCol="0" anchor="ctr"/>
          <a:lstStyle/>
          <a:p>
            <a:pPr marL="0" indent="0">
              <a:buNone/>
            </a:pPr>
            <a:r>
              <a:rPr lang="en-US" sz="1100" i="1" dirty="0">
                <a:solidFill>
                  <a:srgbClr val="2E86AB"/>
                </a:solidFill>
              </a:rPr>
              <a:t>📈 2017 had the most listings (955 cars)</a:t>
            </a:r>
            <a:endParaRPr lang="en-US" sz="1100" dirty="0"/>
          </a:p>
        </p:txBody>
      </p:sp>
      <p:sp>
        <p:nvSpPr>
          <p:cNvPr id="27" name="Shape 25"/>
          <p:cNvSpPr/>
          <p:nvPr/>
        </p:nvSpPr>
        <p:spPr>
          <a:xfrm>
            <a:off x="457200" y="2743200"/>
            <a:ext cx="3840480" cy="2103120"/>
          </a:xfrm>
          <a:prstGeom prst="rect">
            <a:avLst/>
          </a:prstGeom>
          <a:solidFill>
            <a:srgbClr val="FFFFFF"/>
          </a:solidFill>
          <a:ln/>
          <a:effectLst>
            <a:outerShdw blurRad="50800" dist="12700" dir="8100000" algn="bl" rotWithShape="0">
              <a:srgbClr val="000000">
                <a:alpha val="8000"/>
              </a:srgbClr>
            </a:outerShdw>
          </a:effectLst>
        </p:spPr>
      </p:sp>
      <p:sp>
        <p:nvSpPr>
          <p:cNvPr id="28" name="Text 26"/>
          <p:cNvSpPr/>
          <p:nvPr/>
        </p:nvSpPr>
        <p:spPr>
          <a:xfrm>
            <a:off x="594360" y="2807208"/>
            <a:ext cx="3474720" cy="256032"/>
          </a:xfrm>
          <a:prstGeom prst="rect">
            <a:avLst/>
          </a:prstGeom>
          <a:noFill/>
          <a:ln/>
        </p:spPr>
        <p:txBody>
          <a:bodyPr wrap="square" lIns="0" tIns="0" rIns="0" bIns="0" rtlCol="0" anchor="ctr"/>
          <a:lstStyle/>
          <a:p>
            <a:pPr marL="0" indent="0">
              <a:buNone/>
            </a:pPr>
            <a:r>
              <a:rPr lang="en-US" sz="1200" b="1" dirty="0">
                <a:solidFill>
                  <a:srgbClr val="0D1B2A"/>
                </a:solidFill>
              </a:rPr>
              <a:t>Q10. Fuel Type vs Avg Price</a:t>
            </a:r>
            <a:endParaRPr lang="en-US" sz="1200" dirty="0"/>
          </a:p>
        </p:txBody>
      </p:sp>
      <p:sp>
        <p:nvSpPr>
          <p:cNvPr id="29" name="Text 27"/>
          <p:cNvSpPr/>
          <p:nvPr/>
        </p:nvSpPr>
        <p:spPr>
          <a:xfrm>
            <a:off x="594360" y="3154680"/>
            <a:ext cx="1280160" cy="274320"/>
          </a:xfrm>
          <a:prstGeom prst="rect">
            <a:avLst/>
          </a:prstGeom>
          <a:noFill/>
          <a:ln/>
        </p:spPr>
        <p:txBody>
          <a:bodyPr wrap="square" lIns="0" tIns="0" rIns="0" bIns="0" rtlCol="0" anchor="ctr"/>
          <a:lstStyle/>
          <a:p>
            <a:pPr marL="0" indent="0">
              <a:buNone/>
            </a:pPr>
            <a:r>
              <a:rPr lang="en-US" sz="1100" dirty="0">
                <a:solidFill>
                  <a:srgbClr val="0D1B2A"/>
                </a:solidFill>
                <a:latin typeface="Calibri" pitchFamily="34" charset="0"/>
                <a:ea typeface="Calibri" pitchFamily="34" charset="-122"/>
                <a:cs typeface="Calibri" pitchFamily="34" charset="-120"/>
              </a:rPr>
              <a:t>Diesel</a:t>
            </a:r>
            <a:endParaRPr lang="en-US" sz="1100" dirty="0"/>
          </a:p>
        </p:txBody>
      </p:sp>
      <p:sp>
        <p:nvSpPr>
          <p:cNvPr id="30" name="Shape 28"/>
          <p:cNvSpPr/>
          <p:nvPr/>
        </p:nvSpPr>
        <p:spPr>
          <a:xfrm>
            <a:off x="1737360" y="3200400"/>
            <a:ext cx="2286000" cy="219456"/>
          </a:xfrm>
          <a:prstGeom prst="rect">
            <a:avLst/>
          </a:prstGeom>
          <a:solidFill>
            <a:srgbClr val="1B4F72"/>
          </a:solidFill>
          <a:ln w="12700">
            <a:solidFill>
              <a:srgbClr val="1B4F72"/>
            </a:solidFill>
            <a:prstDash val="solid"/>
          </a:ln>
        </p:spPr>
      </p:sp>
      <p:sp>
        <p:nvSpPr>
          <p:cNvPr id="31" name="Text 29"/>
          <p:cNvSpPr/>
          <p:nvPr/>
        </p:nvSpPr>
        <p:spPr>
          <a:xfrm>
            <a:off x="4069080" y="3154680"/>
            <a:ext cx="914400" cy="274320"/>
          </a:xfrm>
          <a:prstGeom prst="rect">
            <a:avLst/>
          </a:prstGeom>
          <a:noFill/>
          <a:ln/>
        </p:spPr>
        <p:txBody>
          <a:bodyPr wrap="square" lIns="0" tIns="0" rIns="0" bIns="0" rtlCol="0" anchor="ctr"/>
          <a:lstStyle/>
          <a:p>
            <a:pPr marL="0" indent="0">
              <a:buNone/>
            </a:pPr>
            <a:r>
              <a:rPr lang="en-US" sz="1100" b="1" dirty="0">
                <a:solidFill>
                  <a:srgbClr val="0D1B2A"/>
                </a:solidFill>
              </a:rPr>
              <a:t>₹13.9L</a:t>
            </a:r>
            <a:endParaRPr lang="en-US" sz="1100" dirty="0"/>
          </a:p>
        </p:txBody>
      </p:sp>
      <p:sp>
        <p:nvSpPr>
          <p:cNvPr id="32" name="Text 30"/>
          <p:cNvSpPr/>
          <p:nvPr/>
        </p:nvSpPr>
        <p:spPr>
          <a:xfrm>
            <a:off x="594360" y="3685032"/>
            <a:ext cx="1280160" cy="274320"/>
          </a:xfrm>
          <a:prstGeom prst="rect">
            <a:avLst/>
          </a:prstGeom>
          <a:noFill/>
          <a:ln/>
        </p:spPr>
        <p:txBody>
          <a:bodyPr wrap="square" lIns="0" tIns="0" rIns="0" bIns="0" rtlCol="0" anchor="ctr"/>
          <a:lstStyle/>
          <a:p>
            <a:pPr marL="0" indent="0">
              <a:buNone/>
            </a:pPr>
            <a:r>
              <a:rPr lang="en-US" sz="1100" dirty="0">
                <a:solidFill>
                  <a:srgbClr val="0D1B2A"/>
                </a:solidFill>
                <a:latin typeface="Calibri" pitchFamily="34" charset="0"/>
                <a:ea typeface="Calibri" pitchFamily="34" charset="-122"/>
                <a:cs typeface="Calibri" pitchFamily="34" charset="-120"/>
              </a:rPr>
              <a:t>Petrol</a:t>
            </a:r>
            <a:endParaRPr lang="en-US" sz="1100" dirty="0"/>
          </a:p>
        </p:txBody>
      </p:sp>
      <p:sp>
        <p:nvSpPr>
          <p:cNvPr id="33" name="Shape 31"/>
          <p:cNvSpPr/>
          <p:nvPr/>
        </p:nvSpPr>
        <p:spPr>
          <a:xfrm>
            <a:off x="1737360" y="3730752"/>
            <a:ext cx="1554480" cy="219456"/>
          </a:xfrm>
          <a:prstGeom prst="rect">
            <a:avLst/>
          </a:prstGeom>
          <a:solidFill>
            <a:srgbClr val="E67E22"/>
          </a:solidFill>
          <a:ln w="12700">
            <a:solidFill>
              <a:srgbClr val="E67E22"/>
            </a:solidFill>
            <a:prstDash val="solid"/>
          </a:ln>
        </p:spPr>
      </p:sp>
      <p:sp>
        <p:nvSpPr>
          <p:cNvPr id="34" name="Text 32"/>
          <p:cNvSpPr/>
          <p:nvPr/>
        </p:nvSpPr>
        <p:spPr>
          <a:xfrm>
            <a:off x="3337560" y="3685032"/>
            <a:ext cx="914400" cy="274320"/>
          </a:xfrm>
          <a:prstGeom prst="rect">
            <a:avLst/>
          </a:prstGeom>
          <a:noFill/>
          <a:ln/>
        </p:spPr>
        <p:txBody>
          <a:bodyPr wrap="square" lIns="0" tIns="0" rIns="0" bIns="0" rtlCol="0" anchor="ctr"/>
          <a:lstStyle/>
          <a:p>
            <a:pPr marL="0" indent="0">
              <a:buNone/>
            </a:pPr>
            <a:r>
              <a:rPr lang="en-US" sz="1100" b="1" dirty="0">
                <a:solidFill>
                  <a:srgbClr val="0D1B2A"/>
                </a:solidFill>
              </a:rPr>
              <a:t>₹9.5L</a:t>
            </a:r>
            <a:endParaRPr lang="en-US" sz="1100" dirty="0"/>
          </a:p>
        </p:txBody>
      </p:sp>
      <p:sp>
        <p:nvSpPr>
          <p:cNvPr id="35" name="Text 33"/>
          <p:cNvSpPr/>
          <p:nvPr/>
        </p:nvSpPr>
        <p:spPr>
          <a:xfrm>
            <a:off x="594360" y="4215384"/>
            <a:ext cx="1280160" cy="274320"/>
          </a:xfrm>
          <a:prstGeom prst="rect">
            <a:avLst/>
          </a:prstGeom>
          <a:noFill/>
          <a:ln/>
        </p:spPr>
        <p:txBody>
          <a:bodyPr wrap="square" lIns="0" tIns="0" rIns="0" bIns="0" rtlCol="0" anchor="ctr"/>
          <a:lstStyle/>
          <a:p>
            <a:pPr marL="0" indent="0">
              <a:buNone/>
            </a:pPr>
            <a:r>
              <a:rPr lang="en-US" sz="1100" dirty="0">
                <a:solidFill>
                  <a:srgbClr val="0D1B2A"/>
                </a:solidFill>
                <a:latin typeface="Calibri" pitchFamily="34" charset="0"/>
                <a:ea typeface="Calibri" pitchFamily="34" charset="-122"/>
                <a:cs typeface="Calibri" pitchFamily="34" charset="-120"/>
              </a:rPr>
              <a:t>Hybrid/CNG</a:t>
            </a:r>
            <a:endParaRPr lang="en-US" sz="1100" dirty="0"/>
          </a:p>
        </p:txBody>
      </p:sp>
      <p:sp>
        <p:nvSpPr>
          <p:cNvPr id="36" name="Shape 34"/>
          <p:cNvSpPr/>
          <p:nvPr/>
        </p:nvSpPr>
        <p:spPr>
          <a:xfrm>
            <a:off x="1737360" y="4261104"/>
            <a:ext cx="914400" cy="219456"/>
          </a:xfrm>
          <a:prstGeom prst="rect">
            <a:avLst/>
          </a:prstGeom>
          <a:solidFill>
            <a:srgbClr val="27AE60"/>
          </a:solidFill>
          <a:ln w="12700">
            <a:solidFill>
              <a:srgbClr val="27AE60"/>
            </a:solidFill>
            <a:prstDash val="solid"/>
          </a:ln>
        </p:spPr>
      </p:sp>
      <p:sp>
        <p:nvSpPr>
          <p:cNvPr id="37" name="Text 35"/>
          <p:cNvSpPr/>
          <p:nvPr/>
        </p:nvSpPr>
        <p:spPr>
          <a:xfrm>
            <a:off x="2697480" y="4215384"/>
            <a:ext cx="914400" cy="274320"/>
          </a:xfrm>
          <a:prstGeom prst="rect">
            <a:avLst/>
          </a:prstGeom>
          <a:noFill/>
          <a:ln/>
        </p:spPr>
        <p:txBody>
          <a:bodyPr wrap="square" lIns="0" tIns="0" rIns="0" bIns="0" rtlCol="0" anchor="ctr"/>
          <a:lstStyle/>
          <a:p>
            <a:pPr marL="0" indent="0">
              <a:buNone/>
            </a:pPr>
            <a:r>
              <a:rPr lang="en-US" sz="1100" b="1" dirty="0">
                <a:solidFill>
                  <a:srgbClr val="0D1B2A"/>
                </a:solidFill>
              </a:rPr>
              <a:t>₹5.5L</a:t>
            </a:r>
            <a:endParaRPr lang="en-US" sz="1100" dirty="0"/>
          </a:p>
        </p:txBody>
      </p:sp>
      <p:sp>
        <p:nvSpPr>
          <p:cNvPr id="38" name="Text 36"/>
          <p:cNvSpPr/>
          <p:nvPr/>
        </p:nvSpPr>
        <p:spPr>
          <a:xfrm>
            <a:off x="594360" y="4645152"/>
            <a:ext cx="3474720" cy="182880"/>
          </a:xfrm>
          <a:prstGeom prst="rect">
            <a:avLst/>
          </a:prstGeom>
          <a:noFill/>
          <a:ln/>
        </p:spPr>
        <p:txBody>
          <a:bodyPr wrap="square" lIns="0" tIns="0" rIns="0" bIns="0" rtlCol="0" anchor="ctr"/>
          <a:lstStyle/>
          <a:p>
            <a:pPr marL="0" indent="0">
              <a:buNone/>
            </a:pPr>
            <a:r>
              <a:rPr lang="en-US" sz="1000" i="1" dirty="0">
                <a:solidFill>
                  <a:srgbClr val="2E86AB"/>
                </a:solidFill>
              </a:rPr>
              <a:t>Diesel cars are most expensive on average</a:t>
            </a:r>
            <a:endParaRPr lang="en-US" sz="1000" dirty="0"/>
          </a:p>
        </p:txBody>
      </p:sp>
      <p:sp>
        <p:nvSpPr>
          <p:cNvPr id="39" name="Shape 37"/>
          <p:cNvSpPr/>
          <p:nvPr/>
        </p:nvSpPr>
        <p:spPr>
          <a:xfrm>
            <a:off x="4480560" y="2743200"/>
            <a:ext cx="4206240" cy="2103120"/>
          </a:xfrm>
          <a:prstGeom prst="rect">
            <a:avLst/>
          </a:prstGeom>
          <a:solidFill>
            <a:srgbClr val="FFFFFF"/>
          </a:solidFill>
          <a:ln/>
          <a:effectLst>
            <a:outerShdw blurRad="50800" dist="12700" dir="8100000" algn="bl" rotWithShape="0">
              <a:srgbClr val="000000">
                <a:alpha val="8000"/>
              </a:srgbClr>
            </a:outerShdw>
          </a:effectLst>
        </p:spPr>
      </p:sp>
      <p:sp>
        <p:nvSpPr>
          <p:cNvPr id="40" name="Text 38"/>
          <p:cNvSpPr/>
          <p:nvPr/>
        </p:nvSpPr>
        <p:spPr>
          <a:xfrm>
            <a:off x="4617720" y="2807208"/>
            <a:ext cx="3840480" cy="256032"/>
          </a:xfrm>
          <a:prstGeom prst="rect">
            <a:avLst/>
          </a:prstGeom>
          <a:noFill/>
          <a:ln/>
        </p:spPr>
        <p:txBody>
          <a:bodyPr wrap="square" lIns="0" tIns="0" rIns="0" bIns="0" rtlCol="0" anchor="ctr"/>
          <a:lstStyle/>
          <a:p>
            <a:pPr marL="0" indent="0">
              <a:buNone/>
            </a:pPr>
            <a:r>
              <a:rPr lang="en-US" sz="1200" b="1" dirty="0">
                <a:solidFill>
                  <a:srgbClr val="0D1B2A"/>
                </a:solidFill>
              </a:rPr>
              <a:t>Q11. Top 5 Most Expensive Cars</a:t>
            </a:r>
            <a:endParaRPr lang="en-US" sz="1200" dirty="0"/>
          </a:p>
        </p:txBody>
      </p:sp>
      <p:sp>
        <p:nvSpPr>
          <p:cNvPr id="41" name="Text 39"/>
          <p:cNvSpPr/>
          <p:nvPr/>
        </p:nvSpPr>
        <p:spPr>
          <a:xfrm>
            <a:off x="4617720" y="3154680"/>
            <a:ext cx="2743200" cy="292608"/>
          </a:xfrm>
          <a:prstGeom prst="rect">
            <a:avLst/>
          </a:prstGeom>
          <a:noFill/>
          <a:ln/>
        </p:spPr>
        <p:txBody>
          <a:bodyPr wrap="square" lIns="0" tIns="0" rIns="0" bIns="0" rtlCol="0" anchor="ctr"/>
          <a:lstStyle/>
          <a:p>
            <a:pPr marL="0" indent="0">
              <a:buNone/>
            </a:pPr>
            <a:r>
              <a:rPr lang="en-US" sz="1100" dirty="0">
                <a:solidFill>
                  <a:srgbClr val="0D1B2A"/>
                </a:solidFill>
              </a:rPr>
              <a:t>1. Aston Martin DB11</a:t>
            </a:r>
            <a:endParaRPr lang="en-US" sz="1100" dirty="0"/>
          </a:p>
        </p:txBody>
      </p:sp>
      <p:sp>
        <p:nvSpPr>
          <p:cNvPr id="42" name="Text 40"/>
          <p:cNvSpPr/>
          <p:nvPr/>
        </p:nvSpPr>
        <p:spPr>
          <a:xfrm>
            <a:off x="7132320" y="3154680"/>
            <a:ext cx="1371600" cy="292608"/>
          </a:xfrm>
          <a:prstGeom prst="rect">
            <a:avLst/>
          </a:prstGeom>
          <a:noFill/>
          <a:ln/>
        </p:spPr>
        <p:txBody>
          <a:bodyPr wrap="square" lIns="0" tIns="0" rIns="0" bIns="0" rtlCol="0" anchor="ctr"/>
          <a:lstStyle/>
          <a:p>
            <a:pPr marL="0" indent="0" algn="r">
              <a:buNone/>
            </a:pPr>
            <a:r>
              <a:rPr lang="en-US" sz="1100" b="1" dirty="0">
                <a:solidFill>
                  <a:srgbClr val="F39C12"/>
                </a:solidFill>
              </a:rPr>
              <a:t>₹4.25 Cr</a:t>
            </a:r>
            <a:endParaRPr lang="en-US" sz="1100" dirty="0"/>
          </a:p>
        </p:txBody>
      </p:sp>
      <p:sp>
        <p:nvSpPr>
          <p:cNvPr id="43" name="Text 41"/>
          <p:cNvSpPr/>
          <p:nvPr/>
        </p:nvSpPr>
        <p:spPr>
          <a:xfrm>
            <a:off x="4617720" y="3502152"/>
            <a:ext cx="2743200" cy="292608"/>
          </a:xfrm>
          <a:prstGeom prst="rect">
            <a:avLst/>
          </a:prstGeom>
          <a:noFill/>
          <a:ln/>
        </p:spPr>
        <p:txBody>
          <a:bodyPr wrap="square" lIns="0" tIns="0" rIns="0" bIns="0" rtlCol="0" anchor="ctr"/>
          <a:lstStyle/>
          <a:p>
            <a:pPr marL="0" indent="0">
              <a:buNone/>
            </a:pPr>
            <a:r>
              <a:rPr lang="en-US" sz="1100" dirty="0">
                <a:solidFill>
                  <a:srgbClr val="0D1B2A"/>
                </a:solidFill>
              </a:rPr>
              <a:t>2. Rolls-Royce Ghost</a:t>
            </a:r>
            <a:endParaRPr lang="en-US" sz="1100" dirty="0"/>
          </a:p>
        </p:txBody>
      </p:sp>
      <p:sp>
        <p:nvSpPr>
          <p:cNvPr id="44" name="Text 42"/>
          <p:cNvSpPr/>
          <p:nvPr/>
        </p:nvSpPr>
        <p:spPr>
          <a:xfrm>
            <a:off x="7132320" y="3502152"/>
            <a:ext cx="1371600" cy="292608"/>
          </a:xfrm>
          <a:prstGeom prst="rect">
            <a:avLst/>
          </a:prstGeom>
          <a:noFill/>
          <a:ln/>
        </p:spPr>
        <p:txBody>
          <a:bodyPr wrap="square" lIns="0" tIns="0" rIns="0" bIns="0" rtlCol="0" anchor="ctr"/>
          <a:lstStyle/>
          <a:p>
            <a:pPr marL="0" indent="0" algn="r">
              <a:buNone/>
            </a:pPr>
            <a:r>
              <a:rPr lang="en-US" sz="1100" b="1" dirty="0">
                <a:solidFill>
                  <a:srgbClr val="F39C12"/>
                </a:solidFill>
              </a:rPr>
              <a:t>₹3.00 Cr</a:t>
            </a:r>
            <a:endParaRPr lang="en-US" sz="1100" dirty="0"/>
          </a:p>
        </p:txBody>
      </p:sp>
      <p:sp>
        <p:nvSpPr>
          <p:cNvPr id="45" name="Text 43"/>
          <p:cNvSpPr/>
          <p:nvPr/>
        </p:nvSpPr>
        <p:spPr>
          <a:xfrm>
            <a:off x="4617720" y="3849624"/>
            <a:ext cx="2743200" cy="292608"/>
          </a:xfrm>
          <a:prstGeom prst="rect">
            <a:avLst/>
          </a:prstGeom>
          <a:noFill/>
          <a:ln/>
        </p:spPr>
        <p:txBody>
          <a:bodyPr wrap="square" lIns="0" tIns="0" rIns="0" bIns="0" rtlCol="0" anchor="ctr"/>
          <a:lstStyle/>
          <a:p>
            <a:pPr marL="0" indent="0">
              <a:buNone/>
            </a:pPr>
            <a:r>
              <a:rPr lang="en-US" sz="1100" dirty="0">
                <a:solidFill>
                  <a:srgbClr val="0D1B2A"/>
                </a:solidFill>
              </a:rPr>
              <a:t>3. Bentley Flying Spur</a:t>
            </a:r>
            <a:endParaRPr lang="en-US" sz="1100" dirty="0"/>
          </a:p>
        </p:txBody>
      </p:sp>
      <p:sp>
        <p:nvSpPr>
          <p:cNvPr id="46" name="Text 44"/>
          <p:cNvSpPr/>
          <p:nvPr/>
        </p:nvSpPr>
        <p:spPr>
          <a:xfrm>
            <a:off x="7132320" y="3849624"/>
            <a:ext cx="1371600" cy="292608"/>
          </a:xfrm>
          <a:prstGeom prst="rect">
            <a:avLst/>
          </a:prstGeom>
          <a:noFill/>
          <a:ln/>
        </p:spPr>
        <p:txBody>
          <a:bodyPr wrap="square" lIns="0" tIns="0" rIns="0" bIns="0" rtlCol="0" anchor="ctr"/>
          <a:lstStyle/>
          <a:p>
            <a:pPr marL="0" indent="0" algn="r">
              <a:buNone/>
            </a:pPr>
            <a:r>
              <a:rPr lang="en-US" sz="1100" b="1" dirty="0">
                <a:solidFill>
                  <a:srgbClr val="F39C12"/>
                </a:solidFill>
              </a:rPr>
              <a:t>₹2.75 Cr</a:t>
            </a:r>
            <a:endParaRPr lang="en-US" sz="1100" dirty="0"/>
          </a:p>
        </p:txBody>
      </p:sp>
      <p:sp>
        <p:nvSpPr>
          <p:cNvPr id="47" name="Text 45"/>
          <p:cNvSpPr/>
          <p:nvPr/>
        </p:nvSpPr>
        <p:spPr>
          <a:xfrm>
            <a:off x="4617720" y="4197096"/>
            <a:ext cx="2743200" cy="292608"/>
          </a:xfrm>
          <a:prstGeom prst="rect">
            <a:avLst/>
          </a:prstGeom>
          <a:noFill/>
          <a:ln/>
        </p:spPr>
        <p:txBody>
          <a:bodyPr wrap="square" lIns="0" tIns="0" rIns="0" bIns="0" rtlCol="0" anchor="ctr"/>
          <a:lstStyle/>
          <a:p>
            <a:pPr marL="0" indent="0">
              <a:buNone/>
            </a:pPr>
            <a:r>
              <a:rPr lang="en-US" sz="1100" dirty="0">
                <a:solidFill>
                  <a:srgbClr val="0D1B2A"/>
                </a:solidFill>
              </a:rPr>
              <a:t>4. Ferrari 488</a:t>
            </a:r>
            <a:endParaRPr lang="en-US" sz="1100" dirty="0"/>
          </a:p>
        </p:txBody>
      </p:sp>
      <p:sp>
        <p:nvSpPr>
          <p:cNvPr id="48" name="Text 46"/>
          <p:cNvSpPr/>
          <p:nvPr/>
        </p:nvSpPr>
        <p:spPr>
          <a:xfrm>
            <a:off x="7132320" y="4197096"/>
            <a:ext cx="1371600" cy="292608"/>
          </a:xfrm>
          <a:prstGeom prst="rect">
            <a:avLst/>
          </a:prstGeom>
          <a:noFill/>
          <a:ln/>
        </p:spPr>
        <p:txBody>
          <a:bodyPr wrap="square" lIns="0" tIns="0" rIns="0" bIns="0" rtlCol="0" anchor="ctr"/>
          <a:lstStyle/>
          <a:p>
            <a:pPr marL="0" indent="0" algn="r">
              <a:buNone/>
            </a:pPr>
            <a:r>
              <a:rPr lang="en-US" sz="1100" b="1" dirty="0">
                <a:solidFill>
                  <a:srgbClr val="F39C12"/>
                </a:solidFill>
              </a:rPr>
              <a:t>₹2.50 Cr</a:t>
            </a:r>
            <a:endParaRPr lang="en-US" sz="1100" dirty="0"/>
          </a:p>
        </p:txBody>
      </p:sp>
      <p:sp>
        <p:nvSpPr>
          <p:cNvPr id="49" name="Text 47"/>
          <p:cNvSpPr/>
          <p:nvPr/>
        </p:nvSpPr>
        <p:spPr>
          <a:xfrm>
            <a:off x="4617720" y="4544568"/>
            <a:ext cx="2743200" cy="292608"/>
          </a:xfrm>
          <a:prstGeom prst="rect">
            <a:avLst/>
          </a:prstGeom>
          <a:noFill/>
          <a:ln/>
        </p:spPr>
        <p:txBody>
          <a:bodyPr wrap="square" lIns="0" tIns="0" rIns="0" bIns="0" rtlCol="0" anchor="ctr"/>
          <a:lstStyle/>
          <a:p>
            <a:pPr marL="0" indent="0">
              <a:buNone/>
            </a:pPr>
            <a:r>
              <a:rPr lang="en-US" sz="1100" dirty="0">
                <a:solidFill>
                  <a:srgbClr val="0D1B2A"/>
                </a:solidFill>
              </a:rPr>
              <a:t>5. Lamborghini Urus</a:t>
            </a:r>
            <a:endParaRPr lang="en-US" sz="1100" dirty="0"/>
          </a:p>
        </p:txBody>
      </p:sp>
      <p:sp>
        <p:nvSpPr>
          <p:cNvPr id="50" name="Text 48"/>
          <p:cNvSpPr/>
          <p:nvPr/>
        </p:nvSpPr>
        <p:spPr>
          <a:xfrm>
            <a:off x="7132320" y="4544568"/>
            <a:ext cx="1371600" cy="292608"/>
          </a:xfrm>
          <a:prstGeom prst="rect">
            <a:avLst/>
          </a:prstGeom>
          <a:noFill/>
          <a:ln/>
        </p:spPr>
        <p:txBody>
          <a:bodyPr wrap="square" lIns="0" tIns="0" rIns="0" bIns="0" rtlCol="0" anchor="ctr"/>
          <a:lstStyle/>
          <a:p>
            <a:pPr marL="0" indent="0" algn="r">
              <a:buNone/>
            </a:pPr>
            <a:r>
              <a:rPr lang="en-US" sz="1100" b="1" dirty="0">
                <a:solidFill>
                  <a:srgbClr val="F39C12"/>
                </a:solidFill>
              </a:rPr>
              <a:t>₹2.25 Cr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Q12–Q15: Models, Transmission, Age &amp; Correlation</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960120"/>
            <a:ext cx="4023360" cy="1828800"/>
          </a:xfrm>
          <a:prstGeom prst="rect">
            <a:avLst/>
          </a:prstGeom>
          <a:solidFill>
            <a:srgbClr val="FFFFFF"/>
          </a:solidFill>
          <a:ln/>
          <a:effectLst>
            <a:outerShdw blurRad="50800" dist="12700" dir="8100000" algn="bl" rotWithShape="0">
              <a:srgbClr val="000000">
                <a:alpha val="8000"/>
              </a:srgbClr>
            </a:outerShdw>
          </a:effectLst>
        </p:spPr>
      </p:sp>
      <p:sp>
        <p:nvSpPr>
          <p:cNvPr id="5" name="Text 3"/>
          <p:cNvSpPr/>
          <p:nvPr/>
        </p:nvSpPr>
        <p:spPr>
          <a:xfrm>
            <a:off x="594360" y="1024128"/>
            <a:ext cx="3657600" cy="256032"/>
          </a:xfrm>
          <a:prstGeom prst="rect">
            <a:avLst/>
          </a:prstGeom>
          <a:noFill/>
          <a:ln/>
        </p:spPr>
        <p:txBody>
          <a:bodyPr wrap="square" lIns="0" tIns="0" rIns="0" bIns="0" rtlCol="0" anchor="ctr"/>
          <a:lstStyle/>
          <a:p>
            <a:pPr marL="0" indent="0">
              <a:buNone/>
            </a:pPr>
            <a:r>
              <a:rPr lang="en-US" sz="1200" b="1" dirty="0">
                <a:solidFill>
                  <a:srgbClr val="0D1B2A"/>
                </a:solidFill>
              </a:rPr>
              <a:t>Q12. Top 5 Car Models</a:t>
            </a:r>
            <a:endParaRPr lang="en-US" sz="1200" dirty="0"/>
          </a:p>
        </p:txBody>
      </p:sp>
      <p:sp>
        <p:nvSpPr>
          <p:cNvPr id="6" name="Shape 4"/>
          <p:cNvSpPr/>
          <p:nvPr/>
        </p:nvSpPr>
        <p:spPr>
          <a:xfrm>
            <a:off x="594360" y="1371600"/>
            <a:ext cx="3200400" cy="201168"/>
          </a:xfrm>
          <a:prstGeom prst="rect">
            <a:avLst/>
          </a:prstGeom>
          <a:solidFill>
            <a:srgbClr val="2E86AB"/>
          </a:solidFill>
          <a:ln w="12700">
            <a:solidFill>
              <a:srgbClr val="2E86AB"/>
            </a:solidFill>
            <a:prstDash val="solid"/>
          </a:ln>
        </p:spPr>
      </p:sp>
      <p:sp>
        <p:nvSpPr>
          <p:cNvPr id="7" name="Text 5"/>
          <p:cNvSpPr/>
          <p:nvPr/>
        </p:nvSpPr>
        <p:spPr>
          <a:xfrm>
            <a:off x="640080" y="1371600"/>
            <a:ext cx="3383280" cy="201168"/>
          </a:xfrm>
          <a:prstGeom prst="rect">
            <a:avLst/>
          </a:prstGeom>
          <a:noFill/>
          <a:ln/>
        </p:spPr>
        <p:txBody>
          <a:bodyPr wrap="square" lIns="0" tIns="0" rIns="0" bIns="0" rtlCol="0" anchor="ctr"/>
          <a:lstStyle/>
          <a:p>
            <a:pPr marL="0" indent="0">
              <a:buNone/>
            </a:pPr>
            <a:r>
              <a:rPr lang="en-US" sz="1100" dirty="0">
                <a:solidFill>
                  <a:srgbClr val="FFFFFF"/>
                </a:solidFill>
              </a:rPr>
              <a:t>City  305</a:t>
            </a:r>
            <a:endParaRPr lang="en-US" sz="1100" dirty="0"/>
          </a:p>
        </p:txBody>
      </p:sp>
      <p:sp>
        <p:nvSpPr>
          <p:cNvPr id="8" name="Shape 6"/>
          <p:cNvSpPr/>
          <p:nvPr/>
        </p:nvSpPr>
        <p:spPr>
          <a:xfrm>
            <a:off x="594360" y="1627632"/>
            <a:ext cx="3168921" cy="201168"/>
          </a:xfrm>
          <a:prstGeom prst="rect">
            <a:avLst/>
          </a:prstGeom>
          <a:solidFill>
            <a:srgbClr val="2E86AB">
              <a:alpha val="85000"/>
            </a:srgbClr>
          </a:solidFill>
          <a:ln w="12700">
            <a:solidFill>
              <a:srgbClr val="2E86AB"/>
            </a:solidFill>
            <a:prstDash val="solid"/>
          </a:ln>
        </p:spPr>
      </p:sp>
      <p:sp>
        <p:nvSpPr>
          <p:cNvPr id="9" name="Text 7"/>
          <p:cNvSpPr/>
          <p:nvPr/>
        </p:nvSpPr>
        <p:spPr>
          <a:xfrm>
            <a:off x="640080" y="1627632"/>
            <a:ext cx="3383280" cy="201168"/>
          </a:xfrm>
          <a:prstGeom prst="rect">
            <a:avLst/>
          </a:prstGeom>
          <a:noFill/>
          <a:ln/>
        </p:spPr>
        <p:txBody>
          <a:bodyPr wrap="square" lIns="0" tIns="0" rIns="0" bIns="0" rtlCol="0" anchor="ctr"/>
          <a:lstStyle/>
          <a:p>
            <a:pPr marL="0" indent="0">
              <a:buNone/>
            </a:pPr>
            <a:r>
              <a:rPr lang="en-US" sz="1100" dirty="0">
                <a:solidFill>
                  <a:srgbClr val="FFFFFF"/>
                </a:solidFill>
              </a:rPr>
              <a:t>Wagon-R  302</a:t>
            </a:r>
            <a:endParaRPr lang="en-US" sz="1100" dirty="0"/>
          </a:p>
        </p:txBody>
      </p:sp>
      <p:sp>
        <p:nvSpPr>
          <p:cNvPr id="10" name="Shape 8"/>
          <p:cNvSpPr/>
          <p:nvPr/>
        </p:nvSpPr>
        <p:spPr>
          <a:xfrm>
            <a:off x="594360" y="1883664"/>
            <a:ext cx="2822648" cy="201168"/>
          </a:xfrm>
          <a:prstGeom prst="rect">
            <a:avLst/>
          </a:prstGeom>
          <a:solidFill>
            <a:srgbClr val="2E86AB">
              <a:alpha val="70000"/>
            </a:srgbClr>
          </a:solidFill>
          <a:ln w="12700">
            <a:solidFill>
              <a:srgbClr val="2E86AB"/>
            </a:solidFill>
            <a:prstDash val="solid"/>
          </a:ln>
        </p:spPr>
      </p:sp>
      <p:sp>
        <p:nvSpPr>
          <p:cNvPr id="11" name="Text 9"/>
          <p:cNvSpPr/>
          <p:nvPr/>
        </p:nvSpPr>
        <p:spPr>
          <a:xfrm>
            <a:off x="640080" y="1883664"/>
            <a:ext cx="3383280" cy="201168"/>
          </a:xfrm>
          <a:prstGeom prst="rect">
            <a:avLst/>
          </a:prstGeom>
          <a:noFill/>
          <a:ln/>
        </p:spPr>
        <p:txBody>
          <a:bodyPr wrap="square" lIns="0" tIns="0" rIns="0" bIns="0" rtlCol="0" anchor="ctr"/>
          <a:lstStyle/>
          <a:p>
            <a:pPr marL="0" indent="0">
              <a:buNone/>
            </a:pPr>
            <a:r>
              <a:rPr lang="en-US" sz="1100" dirty="0">
                <a:solidFill>
                  <a:srgbClr val="FFFFFF"/>
                </a:solidFill>
              </a:rPr>
              <a:t>Swift  269</a:t>
            </a:r>
            <a:endParaRPr lang="en-US" sz="1100" dirty="0"/>
          </a:p>
        </p:txBody>
      </p:sp>
      <p:sp>
        <p:nvSpPr>
          <p:cNvPr id="12" name="Shape 10"/>
          <p:cNvSpPr/>
          <p:nvPr/>
        </p:nvSpPr>
        <p:spPr>
          <a:xfrm>
            <a:off x="594360" y="2139696"/>
            <a:ext cx="2518348" cy="201168"/>
          </a:xfrm>
          <a:prstGeom prst="rect">
            <a:avLst/>
          </a:prstGeom>
          <a:solidFill>
            <a:srgbClr val="2E86AB">
              <a:alpha val="55000"/>
            </a:srgbClr>
          </a:solidFill>
          <a:ln w="12700">
            <a:solidFill>
              <a:srgbClr val="2E86AB"/>
            </a:solidFill>
            <a:prstDash val="solid"/>
          </a:ln>
        </p:spPr>
      </p:sp>
      <p:sp>
        <p:nvSpPr>
          <p:cNvPr id="13" name="Text 11"/>
          <p:cNvSpPr/>
          <p:nvPr/>
        </p:nvSpPr>
        <p:spPr>
          <a:xfrm>
            <a:off x="640080" y="2139696"/>
            <a:ext cx="3383280" cy="201168"/>
          </a:xfrm>
          <a:prstGeom prst="rect">
            <a:avLst/>
          </a:prstGeom>
          <a:noFill/>
          <a:ln/>
        </p:spPr>
        <p:txBody>
          <a:bodyPr wrap="square" lIns="0" tIns="0" rIns="0" bIns="0" rtlCol="0" anchor="ctr"/>
          <a:lstStyle/>
          <a:p>
            <a:pPr marL="0" indent="0">
              <a:buNone/>
            </a:pPr>
            <a:r>
              <a:rPr lang="en-US" sz="1100" dirty="0">
                <a:solidFill>
                  <a:srgbClr val="FFFFFF"/>
                </a:solidFill>
              </a:rPr>
              <a:t>Ertiga  240</a:t>
            </a:r>
            <a:endParaRPr lang="en-US" sz="1100" dirty="0"/>
          </a:p>
        </p:txBody>
      </p:sp>
      <p:sp>
        <p:nvSpPr>
          <p:cNvPr id="14" name="Shape 12"/>
          <p:cNvSpPr/>
          <p:nvPr/>
        </p:nvSpPr>
        <p:spPr>
          <a:xfrm>
            <a:off x="594360" y="2395728"/>
            <a:ext cx="2444896" cy="201168"/>
          </a:xfrm>
          <a:prstGeom prst="rect">
            <a:avLst/>
          </a:prstGeom>
          <a:solidFill>
            <a:srgbClr val="2E86AB">
              <a:alpha val="40000"/>
            </a:srgbClr>
          </a:solidFill>
          <a:ln w="12700">
            <a:solidFill>
              <a:srgbClr val="2E86AB"/>
            </a:solidFill>
            <a:prstDash val="solid"/>
          </a:ln>
        </p:spPr>
      </p:sp>
      <p:sp>
        <p:nvSpPr>
          <p:cNvPr id="15" name="Text 13"/>
          <p:cNvSpPr/>
          <p:nvPr/>
        </p:nvSpPr>
        <p:spPr>
          <a:xfrm>
            <a:off x="640080" y="2395728"/>
            <a:ext cx="3383280" cy="201168"/>
          </a:xfrm>
          <a:prstGeom prst="rect">
            <a:avLst/>
          </a:prstGeom>
          <a:noFill/>
          <a:ln/>
        </p:spPr>
        <p:txBody>
          <a:bodyPr wrap="square" lIns="0" tIns="0" rIns="0" bIns="0" rtlCol="0" anchor="ctr"/>
          <a:lstStyle/>
          <a:p>
            <a:pPr marL="0" indent="0">
              <a:buNone/>
            </a:pPr>
            <a:r>
              <a:rPr lang="en-US" sz="1100" dirty="0">
                <a:solidFill>
                  <a:srgbClr val="FFFFFF"/>
                </a:solidFill>
              </a:rPr>
              <a:t>Creta  233</a:t>
            </a:r>
            <a:endParaRPr lang="en-US" sz="1100" dirty="0"/>
          </a:p>
        </p:txBody>
      </p:sp>
      <p:sp>
        <p:nvSpPr>
          <p:cNvPr id="16" name="Shape 14"/>
          <p:cNvSpPr/>
          <p:nvPr/>
        </p:nvSpPr>
        <p:spPr>
          <a:xfrm>
            <a:off x="4663440" y="960120"/>
            <a:ext cx="4023360" cy="1828800"/>
          </a:xfrm>
          <a:prstGeom prst="rect">
            <a:avLst/>
          </a:prstGeom>
          <a:solidFill>
            <a:srgbClr val="FFFFFF"/>
          </a:solidFill>
          <a:ln/>
          <a:effectLst>
            <a:outerShdw blurRad="50800" dist="12700" dir="8100000" algn="bl" rotWithShape="0">
              <a:srgbClr val="000000">
                <a:alpha val="8000"/>
              </a:srgbClr>
            </a:outerShdw>
          </a:effectLst>
        </p:spPr>
      </p:sp>
      <p:sp>
        <p:nvSpPr>
          <p:cNvPr id="17" name="Text 15"/>
          <p:cNvSpPr/>
          <p:nvPr/>
        </p:nvSpPr>
        <p:spPr>
          <a:xfrm>
            <a:off x="4800600" y="1024128"/>
            <a:ext cx="3657600" cy="256032"/>
          </a:xfrm>
          <a:prstGeom prst="rect">
            <a:avLst/>
          </a:prstGeom>
          <a:noFill/>
          <a:ln/>
        </p:spPr>
        <p:txBody>
          <a:bodyPr wrap="square" lIns="0" tIns="0" rIns="0" bIns="0" rtlCol="0" anchor="ctr"/>
          <a:lstStyle/>
          <a:p>
            <a:pPr marL="0" indent="0">
              <a:buNone/>
            </a:pPr>
            <a:r>
              <a:rPr lang="en-US" sz="1200" b="1" dirty="0">
                <a:solidFill>
                  <a:srgbClr val="0D1B2A"/>
                </a:solidFill>
              </a:rPr>
              <a:t>Q13. Transmission vs Avg Price</a:t>
            </a:r>
            <a:endParaRPr lang="en-US" sz="1200" dirty="0"/>
          </a:p>
        </p:txBody>
      </p:sp>
      <p:sp>
        <p:nvSpPr>
          <p:cNvPr id="18" name="Shape 16"/>
          <p:cNvSpPr/>
          <p:nvPr/>
        </p:nvSpPr>
        <p:spPr>
          <a:xfrm>
            <a:off x="4937760" y="1417320"/>
            <a:ext cx="1097280" cy="914400"/>
          </a:xfrm>
          <a:prstGeom prst="rect">
            <a:avLst/>
          </a:prstGeom>
          <a:solidFill>
            <a:srgbClr val="1B4F72">
              <a:alpha val="80000"/>
            </a:srgbClr>
          </a:solidFill>
          <a:ln w="12700">
            <a:solidFill>
              <a:srgbClr val="1B4F72"/>
            </a:solidFill>
            <a:prstDash val="solid"/>
          </a:ln>
        </p:spPr>
      </p:sp>
      <p:sp>
        <p:nvSpPr>
          <p:cNvPr id="19" name="Text 17"/>
          <p:cNvSpPr/>
          <p:nvPr/>
        </p:nvSpPr>
        <p:spPr>
          <a:xfrm>
            <a:off x="4937760" y="1417320"/>
            <a:ext cx="1097280" cy="914400"/>
          </a:xfrm>
          <a:prstGeom prst="rect">
            <a:avLst/>
          </a:prstGeom>
          <a:noFill/>
          <a:ln/>
        </p:spPr>
        <p:txBody>
          <a:bodyPr wrap="square" lIns="0" tIns="0" rIns="0" bIns="0" rtlCol="0" anchor="ctr"/>
          <a:lstStyle/>
          <a:p>
            <a:pPr marL="0" indent="0" algn="ctr">
              <a:buNone/>
            </a:pPr>
            <a:r>
              <a:rPr lang="en-US" sz="1200" b="1" dirty="0">
                <a:solidFill>
                  <a:srgbClr val="FFFFFF"/>
                </a:solidFill>
              </a:rPr>
              <a:t>Manual</a:t>
            </a:r>
            <a:endParaRPr lang="en-US" sz="1200" dirty="0"/>
          </a:p>
          <a:p>
            <a:pPr marL="0" indent="0" algn="ctr">
              <a:buNone/>
            </a:pPr>
            <a:r>
              <a:rPr lang="en-US" sz="1200" b="1" dirty="0">
                <a:solidFill>
                  <a:srgbClr val="FFFFFF"/>
                </a:solidFill>
              </a:rPr>
              <a:t>₹5.6L avg</a:t>
            </a:r>
            <a:endParaRPr lang="en-US" sz="1200" dirty="0"/>
          </a:p>
        </p:txBody>
      </p:sp>
      <p:sp>
        <p:nvSpPr>
          <p:cNvPr id="20" name="Shape 18"/>
          <p:cNvSpPr/>
          <p:nvPr/>
        </p:nvSpPr>
        <p:spPr>
          <a:xfrm>
            <a:off x="6309360" y="1234440"/>
            <a:ext cx="1097280" cy="1097280"/>
          </a:xfrm>
          <a:prstGeom prst="rect">
            <a:avLst/>
          </a:prstGeom>
          <a:solidFill>
            <a:srgbClr val="2E86AB">
              <a:alpha val="90000"/>
            </a:srgbClr>
          </a:solidFill>
          <a:ln w="12700">
            <a:solidFill>
              <a:srgbClr val="2E86AB"/>
            </a:solidFill>
            <a:prstDash val="solid"/>
          </a:ln>
        </p:spPr>
      </p:sp>
      <p:sp>
        <p:nvSpPr>
          <p:cNvPr id="21" name="Text 19"/>
          <p:cNvSpPr/>
          <p:nvPr/>
        </p:nvSpPr>
        <p:spPr>
          <a:xfrm>
            <a:off x="6309360" y="1234440"/>
            <a:ext cx="1097280" cy="1097280"/>
          </a:xfrm>
          <a:prstGeom prst="rect">
            <a:avLst/>
          </a:prstGeom>
          <a:noFill/>
          <a:ln/>
        </p:spPr>
        <p:txBody>
          <a:bodyPr wrap="square" lIns="0" tIns="0" rIns="0" bIns="0" rtlCol="0" anchor="ctr"/>
          <a:lstStyle/>
          <a:p>
            <a:pPr marL="0" indent="0" algn="ctr">
              <a:buNone/>
            </a:pPr>
            <a:r>
              <a:rPr lang="en-US" sz="1200" b="1" dirty="0">
                <a:solidFill>
                  <a:srgbClr val="FFFFFF"/>
                </a:solidFill>
              </a:rPr>
              <a:t>Automatic</a:t>
            </a:r>
            <a:endParaRPr lang="en-US" sz="1200" dirty="0"/>
          </a:p>
          <a:p>
            <a:pPr marL="0" indent="0" algn="ctr">
              <a:buNone/>
            </a:pPr>
            <a:r>
              <a:rPr lang="en-US" sz="1200" b="1" dirty="0">
                <a:solidFill>
                  <a:srgbClr val="FFFFFF"/>
                </a:solidFill>
              </a:rPr>
              <a:t>₹15.8L avg</a:t>
            </a:r>
            <a:endParaRPr lang="en-US" sz="1200" dirty="0"/>
          </a:p>
        </p:txBody>
      </p:sp>
      <p:sp>
        <p:nvSpPr>
          <p:cNvPr id="22" name="Text 20"/>
          <p:cNvSpPr/>
          <p:nvPr/>
        </p:nvSpPr>
        <p:spPr>
          <a:xfrm>
            <a:off x="4800600" y="2404872"/>
            <a:ext cx="3749040" cy="274320"/>
          </a:xfrm>
          <a:prstGeom prst="rect">
            <a:avLst/>
          </a:prstGeom>
          <a:noFill/>
          <a:ln/>
        </p:spPr>
        <p:txBody>
          <a:bodyPr wrap="square" lIns="0" tIns="0" rIns="0" bIns="0" rtlCol="0" anchor="ctr"/>
          <a:lstStyle/>
          <a:p>
            <a:pPr marL="0" indent="0">
              <a:buNone/>
            </a:pPr>
            <a:r>
              <a:rPr lang="en-US" sz="1100" b="1" i="1" dirty="0">
                <a:solidFill>
                  <a:srgbClr val="2E86AB"/>
                </a:solidFill>
              </a:rPr>
              <a:t>Automatic cars cost 2.8× more!</a:t>
            </a:r>
            <a:endParaRPr lang="en-US" sz="1100" dirty="0"/>
          </a:p>
        </p:txBody>
      </p:sp>
      <p:sp>
        <p:nvSpPr>
          <p:cNvPr id="23" name="Shape 21"/>
          <p:cNvSpPr/>
          <p:nvPr/>
        </p:nvSpPr>
        <p:spPr>
          <a:xfrm>
            <a:off x="457200" y="2926080"/>
            <a:ext cx="4023360" cy="1920240"/>
          </a:xfrm>
          <a:prstGeom prst="rect">
            <a:avLst/>
          </a:prstGeom>
          <a:solidFill>
            <a:srgbClr val="FFFFFF"/>
          </a:solidFill>
          <a:ln/>
          <a:effectLst>
            <a:outerShdw blurRad="50800" dist="12700" dir="8100000" algn="bl" rotWithShape="0">
              <a:srgbClr val="000000">
                <a:alpha val="8000"/>
              </a:srgbClr>
            </a:outerShdw>
          </a:effectLst>
        </p:spPr>
      </p:sp>
      <p:sp>
        <p:nvSpPr>
          <p:cNvPr id="24" name="Text 22"/>
          <p:cNvSpPr/>
          <p:nvPr/>
        </p:nvSpPr>
        <p:spPr>
          <a:xfrm>
            <a:off x="594360" y="2990088"/>
            <a:ext cx="3657600" cy="256032"/>
          </a:xfrm>
          <a:prstGeom prst="rect">
            <a:avLst/>
          </a:prstGeom>
          <a:noFill/>
          <a:ln/>
        </p:spPr>
        <p:txBody>
          <a:bodyPr wrap="square" lIns="0" tIns="0" rIns="0" bIns="0" rtlCol="0" anchor="ctr"/>
          <a:lstStyle/>
          <a:p>
            <a:pPr marL="0" indent="0">
              <a:buNone/>
            </a:pPr>
            <a:r>
              <a:rPr lang="en-US" sz="1200" b="1" dirty="0">
                <a:solidFill>
                  <a:srgbClr val="0D1B2A"/>
                </a:solidFill>
              </a:rPr>
              <a:t>Q14. Which Age Group is Most Common?</a:t>
            </a:r>
            <a:endParaRPr lang="en-US" sz="1200" dirty="0"/>
          </a:p>
        </p:txBody>
      </p:sp>
      <p:sp>
        <p:nvSpPr>
          <p:cNvPr id="25" name="Shape 23"/>
          <p:cNvSpPr/>
          <p:nvPr/>
        </p:nvSpPr>
        <p:spPr>
          <a:xfrm>
            <a:off x="594360" y="3664145"/>
            <a:ext cx="548640" cy="862135"/>
          </a:xfrm>
          <a:prstGeom prst="rect">
            <a:avLst/>
          </a:prstGeom>
          <a:solidFill>
            <a:srgbClr val="1B4F72">
              <a:alpha val="60000"/>
            </a:srgbClr>
          </a:solidFill>
          <a:ln w="12700">
            <a:solidFill>
              <a:srgbClr val="2E86AB"/>
            </a:solidFill>
            <a:prstDash val="solid"/>
          </a:ln>
        </p:spPr>
      </p:sp>
      <p:sp>
        <p:nvSpPr>
          <p:cNvPr id="26" name="Text 24"/>
          <p:cNvSpPr/>
          <p:nvPr/>
        </p:nvSpPr>
        <p:spPr>
          <a:xfrm>
            <a:off x="557784" y="4562856"/>
            <a:ext cx="640080" cy="201168"/>
          </a:xfrm>
          <a:prstGeom prst="rect">
            <a:avLst/>
          </a:prstGeom>
          <a:noFill/>
          <a:ln/>
        </p:spPr>
        <p:txBody>
          <a:bodyPr wrap="square" lIns="0" tIns="0" rIns="0" bIns="0" rtlCol="0" anchor="ctr"/>
          <a:lstStyle/>
          <a:p>
            <a:pPr marL="0" indent="0" algn="ctr">
              <a:buNone/>
            </a:pPr>
            <a:r>
              <a:rPr lang="en-US" sz="900" dirty="0">
                <a:solidFill>
                  <a:srgbClr val="4A5568"/>
                </a:solidFill>
              </a:rPr>
              <a:t>0-5yr</a:t>
            </a:r>
            <a:endParaRPr lang="en-US" sz="900" dirty="0"/>
          </a:p>
        </p:txBody>
      </p:sp>
      <p:sp>
        <p:nvSpPr>
          <p:cNvPr id="27" name="Text 25"/>
          <p:cNvSpPr/>
          <p:nvPr/>
        </p:nvSpPr>
        <p:spPr>
          <a:xfrm>
            <a:off x="566928" y="3408113"/>
            <a:ext cx="612648" cy="228600"/>
          </a:xfrm>
          <a:prstGeom prst="rect">
            <a:avLst/>
          </a:prstGeom>
          <a:noFill/>
          <a:ln/>
        </p:spPr>
        <p:txBody>
          <a:bodyPr wrap="square" lIns="0" tIns="0" rIns="0" bIns="0" rtlCol="0" anchor="ctr"/>
          <a:lstStyle/>
          <a:p>
            <a:pPr marL="0" indent="0" algn="ctr">
              <a:buNone/>
            </a:pPr>
            <a:r>
              <a:rPr lang="en-US" sz="900" b="1" dirty="0">
                <a:solidFill>
                  <a:srgbClr val="0D1B2A"/>
                </a:solidFill>
              </a:rPr>
              <a:t>2,677</a:t>
            </a:r>
            <a:endParaRPr lang="en-US" sz="900" dirty="0"/>
          </a:p>
        </p:txBody>
      </p:sp>
      <p:sp>
        <p:nvSpPr>
          <p:cNvPr id="28" name="Shape 26"/>
          <p:cNvSpPr/>
          <p:nvPr/>
        </p:nvSpPr>
        <p:spPr>
          <a:xfrm>
            <a:off x="1344168" y="3246120"/>
            <a:ext cx="548640" cy="1280160"/>
          </a:xfrm>
          <a:prstGeom prst="rect">
            <a:avLst/>
          </a:prstGeom>
          <a:solidFill>
            <a:srgbClr val="2E86AB"/>
          </a:solidFill>
          <a:ln w="12700">
            <a:solidFill>
              <a:srgbClr val="2E86AB"/>
            </a:solidFill>
            <a:prstDash val="solid"/>
          </a:ln>
        </p:spPr>
      </p:sp>
      <p:sp>
        <p:nvSpPr>
          <p:cNvPr id="29" name="Text 27"/>
          <p:cNvSpPr/>
          <p:nvPr/>
        </p:nvSpPr>
        <p:spPr>
          <a:xfrm>
            <a:off x="1307592" y="4562856"/>
            <a:ext cx="640080" cy="201168"/>
          </a:xfrm>
          <a:prstGeom prst="rect">
            <a:avLst/>
          </a:prstGeom>
          <a:noFill/>
          <a:ln/>
        </p:spPr>
        <p:txBody>
          <a:bodyPr wrap="square" lIns="0" tIns="0" rIns="0" bIns="0" rtlCol="0" anchor="ctr"/>
          <a:lstStyle/>
          <a:p>
            <a:pPr marL="0" indent="0" algn="ctr">
              <a:buNone/>
            </a:pPr>
            <a:r>
              <a:rPr lang="en-US" sz="900" dirty="0">
                <a:solidFill>
                  <a:srgbClr val="4A5568"/>
                </a:solidFill>
              </a:rPr>
              <a:t>6-10yr</a:t>
            </a:r>
            <a:endParaRPr lang="en-US" sz="900" dirty="0"/>
          </a:p>
        </p:txBody>
      </p:sp>
      <p:sp>
        <p:nvSpPr>
          <p:cNvPr id="30" name="Text 28"/>
          <p:cNvSpPr/>
          <p:nvPr/>
        </p:nvSpPr>
        <p:spPr>
          <a:xfrm>
            <a:off x="1316736" y="2990088"/>
            <a:ext cx="612648" cy="228600"/>
          </a:xfrm>
          <a:prstGeom prst="rect">
            <a:avLst/>
          </a:prstGeom>
          <a:noFill/>
          <a:ln/>
        </p:spPr>
        <p:txBody>
          <a:bodyPr wrap="square" lIns="0" tIns="0" rIns="0" bIns="0" rtlCol="0" anchor="ctr"/>
          <a:lstStyle/>
          <a:p>
            <a:pPr marL="0" indent="0" algn="ctr">
              <a:buNone/>
            </a:pPr>
            <a:r>
              <a:rPr lang="en-US" sz="900" b="1" dirty="0">
                <a:solidFill>
                  <a:srgbClr val="0D1B2A"/>
                </a:solidFill>
              </a:rPr>
              <a:t>3,975</a:t>
            </a:r>
            <a:endParaRPr lang="en-US" sz="900" dirty="0"/>
          </a:p>
        </p:txBody>
      </p:sp>
      <p:sp>
        <p:nvSpPr>
          <p:cNvPr id="31" name="Shape 29"/>
          <p:cNvSpPr/>
          <p:nvPr/>
        </p:nvSpPr>
        <p:spPr>
          <a:xfrm>
            <a:off x="2093976" y="3963010"/>
            <a:ext cx="548640" cy="563270"/>
          </a:xfrm>
          <a:prstGeom prst="rect">
            <a:avLst/>
          </a:prstGeom>
          <a:solidFill>
            <a:srgbClr val="1B4F72">
              <a:alpha val="60000"/>
            </a:srgbClr>
          </a:solidFill>
          <a:ln w="12700">
            <a:solidFill>
              <a:srgbClr val="2E86AB"/>
            </a:solidFill>
            <a:prstDash val="solid"/>
          </a:ln>
        </p:spPr>
      </p:sp>
      <p:sp>
        <p:nvSpPr>
          <p:cNvPr id="32" name="Text 30"/>
          <p:cNvSpPr/>
          <p:nvPr/>
        </p:nvSpPr>
        <p:spPr>
          <a:xfrm>
            <a:off x="2057400" y="4562856"/>
            <a:ext cx="640080" cy="201168"/>
          </a:xfrm>
          <a:prstGeom prst="rect">
            <a:avLst/>
          </a:prstGeom>
          <a:noFill/>
          <a:ln/>
        </p:spPr>
        <p:txBody>
          <a:bodyPr wrap="square" lIns="0" tIns="0" rIns="0" bIns="0" rtlCol="0" anchor="ctr"/>
          <a:lstStyle/>
          <a:p>
            <a:pPr marL="0" indent="0" algn="ctr">
              <a:buNone/>
            </a:pPr>
            <a:r>
              <a:rPr lang="en-US" sz="900" dirty="0">
                <a:solidFill>
                  <a:srgbClr val="4A5568"/>
                </a:solidFill>
              </a:rPr>
              <a:t>11-15yr</a:t>
            </a:r>
            <a:endParaRPr lang="en-US" sz="900" dirty="0"/>
          </a:p>
        </p:txBody>
      </p:sp>
      <p:sp>
        <p:nvSpPr>
          <p:cNvPr id="33" name="Text 31"/>
          <p:cNvSpPr/>
          <p:nvPr/>
        </p:nvSpPr>
        <p:spPr>
          <a:xfrm>
            <a:off x="2066544" y="3706978"/>
            <a:ext cx="612648" cy="228600"/>
          </a:xfrm>
          <a:prstGeom prst="rect">
            <a:avLst/>
          </a:prstGeom>
          <a:noFill/>
          <a:ln/>
        </p:spPr>
        <p:txBody>
          <a:bodyPr wrap="square" lIns="0" tIns="0" rIns="0" bIns="0" rtlCol="0" anchor="ctr"/>
          <a:lstStyle/>
          <a:p>
            <a:pPr marL="0" indent="0" algn="ctr">
              <a:buNone/>
            </a:pPr>
            <a:r>
              <a:rPr lang="en-US" sz="900" b="1" dirty="0">
                <a:solidFill>
                  <a:srgbClr val="0D1B2A"/>
                </a:solidFill>
              </a:rPr>
              <a:t>1,749</a:t>
            </a:r>
            <a:endParaRPr lang="en-US" sz="900" dirty="0"/>
          </a:p>
        </p:txBody>
      </p:sp>
      <p:sp>
        <p:nvSpPr>
          <p:cNvPr id="34" name="Shape 32"/>
          <p:cNvSpPr/>
          <p:nvPr/>
        </p:nvSpPr>
        <p:spPr>
          <a:xfrm>
            <a:off x="2843784" y="4450598"/>
            <a:ext cx="548640" cy="75682"/>
          </a:xfrm>
          <a:prstGeom prst="rect">
            <a:avLst/>
          </a:prstGeom>
          <a:solidFill>
            <a:srgbClr val="1B4F72">
              <a:alpha val="60000"/>
            </a:srgbClr>
          </a:solidFill>
          <a:ln w="12700">
            <a:solidFill>
              <a:srgbClr val="2E86AB"/>
            </a:solidFill>
            <a:prstDash val="solid"/>
          </a:ln>
        </p:spPr>
      </p:sp>
      <p:sp>
        <p:nvSpPr>
          <p:cNvPr id="35" name="Text 33"/>
          <p:cNvSpPr/>
          <p:nvPr/>
        </p:nvSpPr>
        <p:spPr>
          <a:xfrm>
            <a:off x="2807208" y="4562856"/>
            <a:ext cx="640080" cy="201168"/>
          </a:xfrm>
          <a:prstGeom prst="rect">
            <a:avLst/>
          </a:prstGeom>
          <a:noFill/>
          <a:ln/>
        </p:spPr>
        <p:txBody>
          <a:bodyPr wrap="square" lIns="0" tIns="0" rIns="0" bIns="0" rtlCol="0" anchor="ctr"/>
          <a:lstStyle/>
          <a:p>
            <a:pPr marL="0" indent="0" algn="ctr">
              <a:buNone/>
            </a:pPr>
            <a:r>
              <a:rPr lang="en-US" sz="900" dirty="0">
                <a:solidFill>
                  <a:srgbClr val="4A5568"/>
                </a:solidFill>
              </a:rPr>
              <a:t>16-20yr</a:t>
            </a:r>
            <a:endParaRPr lang="en-US" sz="900" dirty="0"/>
          </a:p>
        </p:txBody>
      </p:sp>
      <p:sp>
        <p:nvSpPr>
          <p:cNvPr id="36" name="Shape 34"/>
          <p:cNvSpPr/>
          <p:nvPr/>
        </p:nvSpPr>
        <p:spPr>
          <a:xfrm>
            <a:off x="3593592" y="4512754"/>
            <a:ext cx="548640" cy="13526"/>
          </a:xfrm>
          <a:prstGeom prst="rect">
            <a:avLst/>
          </a:prstGeom>
          <a:solidFill>
            <a:srgbClr val="1B4F72">
              <a:alpha val="60000"/>
            </a:srgbClr>
          </a:solidFill>
          <a:ln w="12700">
            <a:solidFill>
              <a:srgbClr val="2E86AB"/>
            </a:solidFill>
            <a:prstDash val="solid"/>
          </a:ln>
        </p:spPr>
      </p:sp>
      <p:sp>
        <p:nvSpPr>
          <p:cNvPr id="37" name="Text 35"/>
          <p:cNvSpPr/>
          <p:nvPr/>
        </p:nvSpPr>
        <p:spPr>
          <a:xfrm>
            <a:off x="3557016" y="4562856"/>
            <a:ext cx="640080" cy="201168"/>
          </a:xfrm>
          <a:prstGeom prst="rect">
            <a:avLst/>
          </a:prstGeom>
          <a:noFill/>
          <a:ln/>
        </p:spPr>
        <p:txBody>
          <a:bodyPr wrap="square" lIns="0" tIns="0" rIns="0" bIns="0" rtlCol="0" anchor="ctr"/>
          <a:lstStyle/>
          <a:p>
            <a:pPr marL="0" indent="0" algn="ctr">
              <a:buNone/>
            </a:pPr>
            <a:r>
              <a:rPr lang="en-US" sz="900" dirty="0">
                <a:solidFill>
                  <a:srgbClr val="4A5568"/>
                </a:solidFill>
              </a:rPr>
              <a:t>20+yr</a:t>
            </a:r>
            <a:endParaRPr lang="en-US" sz="900" dirty="0"/>
          </a:p>
        </p:txBody>
      </p:sp>
      <p:sp>
        <p:nvSpPr>
          <p:cNvPr id="38" name="Text 36"/>
          <p:cNvSpPr/>
          <p:nvPr/>
        </p:nvSpPr>
        <p:spPr>
          <a:xfrm>
            <a:off x="594360" y="4800600"/>
            <a:ext cx="3657600" cy="201168"/>
          </a:xfrm>
          <a:prstGeom prst="rect">
            <a:avLst/>
          </a:prstGeom>
          <a:noFill/>
          <a:ln/>
        </p:spPr>
        <p:txBody>
          <a:bodyPr wrap="square" lIns="0" tIns="0" rIns="0" bIns="0" rtlCol="0" anchor="ctr"/>
          <a:lstStyle/>
          <a:p>
            <a:pPr marL="0" indent="0">
              <a:buNone/>
            </a:pPr>
            <a:r>
              <a:rPr lang="en-US" sz="1000" i="1" dirty="0">
                <a:solidFill>
                  <a:srgbClr val="2E86AB"/>
                </a:solidFill>
              </a:rPr>
              <a:t>6-10 year old cars are most popular</a:t>
            </a:r>
            <a:endParaRPr lang="en-US" sz="1000" dirty="0"/>
          </a:p>
        </p:txBody>
      </p:sp>
      <p:sp>
        <p:nvSpPr>
          <p:cNvPr id="39" name="Shape 37"/>
          <p:cNvSpPr/>
          <p:nvPr/>
        </p:nvSpPr>
        <p:spPr>
          <a:xfrm>
            <a:off x="4663440" y="2926080"/>
            <a:ext cx="4023360" cy="1920240"/>
          </a:xfrm>
          <a:prstGeom prst="rect">
            <a:avLst/>
          </a:prstGeom>
          <a:solidFill>
            <a:srgbClr val="FFFFFF"/>
          </a:solidFill>
          <a:ln/>
          <a:effectLst>
            <a:outerShdw blurRad="50800" dist="12700" dir="8100000" algn="bl" rotWithShape="0">
              <a:srgbClr val="000000">
                <a:alpha val="8000"/>
              </a:srgbClr>
            </a:outerShdw>
          </a:effectLst>
        </p:spPr>
      </p:sp>
      <p:sp>
        <p:nvSpPr>
          <p:cNvPr id="40" name="Text 38"/>
          <p:cNvSpPr/>
          <p:nvPr/>
        </p:nvSpPr>
        <p:spPr>
          <a:xfrm>
            <a:off x="4800600" y="2990088"/>
            <a:ext cx="3657600" cy="256032"/>
          </a:xfrm>
          <a:prstGeom prst="rect">
            <a:avLst/>
          </a:prstGeom>
          <a:noFill/>
          <a:ln/>
        </p:spPr>
        <p:txBody>
          <a:bodyPr wrap="square" lIns="0" tIns="0" rIns="0" bIns="0" rtlCol="0" anchor="ctr"/>
          <a:lstStyle/>
          <a:p>
            <a:pPr marL="0" indent="0">
              <a:buNone/>
            </a:pPr>
            <a:r>
              <a:rPr lang="en-US" sz="1200" b="1" dirty="0">
                <a:solidFill>
                  <a:srgbClr val="0D1B2A"/>
                </a:solidFill>
              </a:rPr>
              <a:t>Q15. Feature Correlations with Price</a:t>
            </a:r>
            <a:endParaRPr lang="en-US" sz="1200" dirty="0"/>
          </a:p>
        </p:txBody>
      </p:sp>
      <p:sp>
        <p:nvSpPr>
          <p:cNvPr id="41" name="Text 39"/>
          <p:cNvSpPr/>
          <p:nvPr/>
        </p:nvSpPr>
        <p:spPr>
          <a:xfrm>
            <a:off x="4800600" y="3337560"/>
            <a:ext cx="1828800" cy="274320"/>
          </a:xfrm>
          <a:prstGeom prst="rect">
            <a:avLst/>
          </a:prstGeom>
          <a:noFill/>
          <a:ln/>
        </p:spPr>
        <p:txBody>
          <a:bodyPr wrap="square" lIns="0" tIns="0" rIns="0" bIns="0" rtlCol="0" anchor="ctr"/>
          <a:lstStyle/>
          <a:p>
            <a:pPr marL="0" indent="0">
              <a:buNone/>
            </a:pPr>
            <a:r>
              <a:rPr lang="en-US" sz="1200" dirty="0">
                <a:solidFill>
                  <a:srgbClr val="0D1B2A"/>
                </a:solidFill>
              </a:rPr>
              <a:t>Year</a:t>
            </a:r>
            <a:endParaRPr lang="en-US" sz="1200" dirty="0"/>
          </a:p>
        </p:txBody>
      </p:sp>
      <p:sp>
        <p:nvSpPr>
          <p:cNvPr id="42" name="Shape 40"/>
          <p:cNvSpPr/>
          <p:nvPr/>
        </p:nvSpPr>
        <p:spPr>
          <a:xfrm>
            <a:off x="6766560" y="3374136"/>
            <a:ext cx="850392" cy="201168"/>
          </a:xfrm>
          <a:prstGeom prst="rect">
            <a:avLst/>
          </a:prstGeom>
          <a:solidFill>
            <a:srgbClr val="27AE60"/>
          </a:solidFill>
          <a:ln w="12700">
            <a:solidFill>
              <a:srgbClr val="27AE60"/>
            </a:solidFill>
            <a:prstDash val="solid"/>
          </a:ln>
        </p:spPr>
      </p:sp>
      <p:sp>
        <p:nvSpPr>
          <p:cNvPr id="43" name="Text 41"/>
          <p:cNvSpPr/>
          <p:nvPr/>
        </p:nvSpPr>
        <p:spPr>
          <a:xfrm>
            <a:off x="8138160" y="3337560"/>
            <a:ext cx="502920" cy="274320"/>
          </a:xfrm>
          <a:prstGeom prst="rect">
            <a:avLst/>
          </a:prstGeom>
          <a:noFill/>
          <a:ln/>
        </p:spPr>
        <p:txBody>
          <a:bodyPr wrap="square" lIns="0" tIns="0" rIns="0" bIns="0" rtlCol="0" anchor="ctr"/>
          <a:lstStyle/>
          <a:p>
            <a:pPr marL="0" indent="0" algn="r">
              <a:buNone/>
            </a:pPr>
            <a:r>
              <a:rPr lang="en-US" sz="1200" b="1" dirty="0">
                <a:solidFill>
                  <a:srgbClr val="27AE60"/>
                </a:solidFill>
              </a:rPr>
              <a:t>0.31</a:t>
            </a:r>
            <a:endParaRPr lang="en-US" sz="1200" dirty="0"/>
          </a:p>
        </p:txBody>
      </p:sp>
      <p:sp>
        <p:nvSpPr>
          <p:cNvPr id="44" name="Text 42"/>
          <p:cNvSpPr/>
          <p:nvPr/>
        </p:nvSpPr>
        <p:spPr>
          <a:xfrm>
            <a:off x="4800600" y="3831336"/>
            <a:ext cx="1828800" cy="274320"/>
          </a:xfrm>
          <a:prstGeom prst="rect">
            <a:avLst/>
          </a:prstGeom>
          <a:noFill/>
          <a:ln/>
        </p:spPr>
        <p:txBody>
          <a:bodyPr wrap="square" lIns="0" tIns="0" rIns="0" bIns="0" rtlCol="0" anchor="ctr"/>
          <a:lstStyle/>
          <a:p>
            <a:pPr marL="0" indent="0">
              <a:buNone/>
            </a:pPr>
            <a:r>
              <a:rPr lang="en-US" sz="1200" dirty="0">
                <a:solidFill>
                  <a:srgbClr val="0D1B2A"/>
                </a:solidFill>
              </a:rPr>
              <a:t>KM Driven</a:t>
            </a:r>
            <a:endParaRPr lang="en-US" sz="1200" dirty="0"/>
          </a:p>
        </p:txBody>
      </p:sp>
      <p:sp>
        <p:nvSpPr>
          <p:cNvPr id="45" name="Shape 43"/>
          <p:cNvSpPr/>
          <p:nvPr/>
        </p:nvSpPr>
        <p:spPr>
          <a:xfrm>
            <a:off x="6382512" y="3867912"/>
            <a:ext cx="384048" cy="201168"/>
          </a:xfrm>
          <a:prstGeom prst="rect">
            <a:avLst/>
          </a:prstGeom>
          <a:solidFill>
            <a:srgbClr val="C0392B"/>
          </a:solidFill>
          <a:ln w="12700">
            <a:solidFill>
              <a:srgbClr val="C0392B"/>
            </a:solidFill>
            <a:prstDash val="solid"/>
          </a:ln>
        </p:spPr>
      </p:sp>
      <p:sp>
        <p:nvSpPr>
          <p:cNvPr id="46" name="Text 44"/>
          <p:cNvSpPr/>
          <p:nvPr/>
        </p:nvSpPr>
        <p:spPr>
          <a:xfrm>
            <a:off x="8138160" y="3831336"/>
            <a:ext cx="502920" cy="274320"/>
          </a:xfrm>
          <a:prstGeom prst="rect">
            <a:avLst/>
          </a:prstGeom>
          <a:noFill/>
          <a:ln/>
        </p:spPr>
        <p:txBody>
          <a:bodyPr wrap="square" lIns="0" tIns="0" rIns="0" bIns="0" rtlCol="0" anchor="ctr"/>
          <a:lstStyle/>
          <a:p>
            <a:pPr marL="0" indent="0" algn="r">
              <a:buNone/>
            </a:pPr>
            <a:r>
              <a:rPr lang="en-US" sz="1200" b="1" dirty="0">
                <a:solidFill>
                  <a:srgbClr val="C0392B"/>
                </a:solidFill>
              </a:rPr>
              <a:t>-0.14</a:t>
            </a:r>
            <a:endParaRPr lang="en-US" sz="1200" dirty="0"/>
          </a:p>
        </p:txBody>
      </p:sp>
      <p:sp>
        <p:nvSpPr>
          <p:cNvPr id="47" name="Text 45"/>
          <p:cNvSpPr/>
          <p:nvPr/>
        </p:nvSpPr>
        <p:spPr>
          <a:xfrm>
            <a:off x="4800600" y="4325112"/>
            <a:ext cx="1828800" cy="274320"/>
          </a:xfrm>
          <a:prstGeom prst="rect">
            <a:avLst/>
          </a:prstGeom>
          <a:noFill/>
          <a:ln/>
        </p:spPr>
        <p:txBody>
          <a:bodyPr wrap="square" lIns="0" tIns="0" rIns="0" bIns="0" rtlCol="0" anchor="ctr"/>
          <a:lstStyle/>
          <a:p>
            <a:pPr marL="0" indent="0">
              <a:buNone/>
            </a:pPr>
            <a:r>
              <a:rPr lang="en-US" sz="1200" dirty="0">
                <a:solidFill>
                  <a:srgbClr val="0D1B2A"/>
                </a:solidFill>
              </a:rPr>
              <a:t>Age</a:t>
            </a:r>
            <a:endParaRPr lang="en-US" sz="1200" dirty="0"/>
          </a:p>
        </p:txBody>
      </p:sp>
      <p:sp>
        <p:nvSpPr>
          <p:cNvPr id="48" name="Shape 46"/>
          <p:cNvSpPr/>
          <p:nvPr/>
        </p:nvSpPr>
        <p:spPr>
          <a:xfrm>
            <a:off x="5916168" y="4361688"/>
            <a:ext cx="850392" cy="201168"/>
          </a:xfrm>
          <a:prstGeom prst="rect">
            <a:avLst/>
          </a:prstGeom>
          <a:solidFill>
            <a:srgbClr val="C0392B"/>
          </a:solidFill>
          <a:ln w="12700">
            <a:solidFill>
              <a:srgbClr val="C0392B"/>
            </a:solidFill>
            <a:prstDash val="solid"/>
          </a:ln>
        </p:spPr>
      </p:sp>
      <p:sp>
        <p:nvSpPr>
          <p:cNvPr id="49" name="Text 47"/>
          <p:cNvSpPr/>
          <p:nvPr/>
        </p:nvSpPr>
        <p:spPr>
          <a:xfrm>
            <a:off x="8138160" y="4325112"/>
            <a:ext cx="502920" cy="274320"/>
          </a:xfrm>
          <a:prstGeom prst="rect">
            <a:avLst/>
          </a:prstGeom>
          <a:noFill/>
          <a:ln/>
        </p:spPr>
        <p:txBody>
          <a:bodyPr wrap="square" lIns="0" tIns="0" rIns="0" bIns="0" rtlCol="0" anchor="ctr"/>
          <a:lstStyle/>
          <a:p>
            <a:pPr marL="0" indent="0" algn="r">
              <a:buNone/>
            </a:pPr>
            <a:r>
              <a:rPr lang="en-US" sz="1200" b="1" dirty="0">
                <a:solidFill>
                  <a:srgbClr val="C0392B"/>
                </a:solidFill>
              </a:rPr>
              <a:t>-0.31</a:t>
            </a:r>
            <a:endParaRPr lang="en-US" sz="1200" dirty="0"/>
          </a:p>
        </p:txBody>
      </p:sp>
      <p:sp>
        <p:nvSpPr>
          <p:cNvPr id="50" name="Text 48"/>
          <p:cNvSpPr/>
          <p:nvPr/>
        </p:nvSpPr>
        <p:spPr>
          <a:xfrm>
            <a:off x="4800600" y="4818888"/>
            <a:ext cx="3749040" cy="201168"/>
          </a:xfrm>
          <a:prstGeom prst="rect">
            <a:avLst/>
          </a:prstGeom>
          <a:noFill/>
          <a:ln/>
        </p:spPr>
        <p:txBody>
          <a:bodyPr wrap="square" lIns="0" tIns="0" rIns="0" bIns="0" rtlCol="0" anchor="ctr"/>
          <a:lstStyle/>
          <a:p>
            <a:pPr marL="0" indent="0">
              <a:buNone/>
            </a:pPr>
            <a:r>
              <a:rPr lang="en-US" sz="1000" i="1" dirty="0">
                <a:solidFill>
                  <a:srgbClr val="2E86AB"/>
                </a:solidFill>
              </a:rPr>
              <a:t>Newer year → higher price (strongest signal)</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7498080" y="-457200"/>
            <a:ext cx="2743200" cy="2743200"/>
          </a:xfrm>
          <a:prstGeom prst="ellipse">
            <a:avLst/>
          </a:prstGeom>
          <a:solidFill>
            <a:srgbClr val="2E86AB">
              <a:alpha val="25000"/>
            </a:srgbClr>
          </a:solidFill>
          <a:ln w="12700">
            <a:solidFill>
              <a:srgbClr val="2E86AB">
                <a:alpha val="25000"/>
              </a:srgbClr>
            </a:solidFill>
            <a:prstDash val="solid"/>
          </a:ln>
        </p:spPr>
      </p:sp>
      <p:sp>
        <p:nvSpPr>
          <p:cNvPr id="3" name="Text 1"/>
          <p:cNvSpPr/>
          <p:nvPr/>
        </p:nvSpPr>
        <p:spPr>
          <a:xfrm>
            <a:off x="640080" y="822960"/>
            <a:ext cx="3657600" cy="457200"/>
          </a:xfrm>
          <a:prstGeom prst="rect">
            <a:avLst/>
          </a:prstGeom>
          <a:noFill/>
          <a:ln/>
        </p:spPr>
        <p:txBody>
          <a:bodyPr wrap="square" rtlCol="0" anchor="ctr"/>
          <a:lstStyle/>
          <a:p>
            <a:pPr marL="0" indent="0">
              <a:buNone/>
            </a:pPr>
            <a:r>
              <a:rPr lang="en-US" sz="1400" i="1" dirty="0">
                <a:solidFill>
                  <a:srgbClr val="A0C4FF"/>
                </a:solidFill>
                <a:latin typeface="Calibri" pitchFamily="34" charset="0"/>
                <a:ea typeface="Calibri" pitchFamily="34" charset="-122"/>
                <a:cs typeface="Calibri" pitchFamily="34" charset="-120"/>
              </a:rPr>
              <a:t>Section 05</a:t>
            </a:r>
            <a:endParaRPr lang="en-US" sz="1400" dirty="0"/>
          </a:p>
        </p:txBody>
      </p:sp>
      <p:sp>
        <p:nvSpPr>
          <p:cNvPr id="4" name="Text 2"/>
          <p:cNvSpPr/>
          <p:nvPr/>
        </p:nvSpPr>
        <p:spPr>
          <a:xfrm>
            <a:off x="640080" y="1371600"/>
            <a:ext cx="7589520" cy="10972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Machine Learning Model</a:t>
            </a:r>
            <a:endParaRPr lang="en-US" sz="3600" dirty="0"/>
          </a:p>
        </p:txBody>
      </p:sp>
      <p:sp>
        <p:nvSpPr>
          <p:cNvPr id="5" name="Text 3"/>
          <p:cNvSpPr/>
          <p:nvPr/>
        </p:nvSpPr>
        <p:spPr>
          <a:xfrm>
            <a:off x="640080" y="2651760"/>
            <a:ext cx="6400800" cy="640080"/>
          </a:xfrm>
          <a:prstGeom prst="rect">
            <a:avLst/>
          </a:prstGeom>
          <a:noFill/>
          <a:ln/>
        </p:spPr>
        <p:txBody>
          <a:bodyPr wrap="square" rtlCol="0" anchor="ctr"/>
          <a:lstStyle/>
          <a:p>
            <a:pPr marL="0" indent="0">
              <a:buNone/>
            </a:pPr>
            <a:r>
              <a:rPr lang="en-US" sz="1600" dirty="0">
                <a:solidFill>
                  <a:srgbClr val="D6EAF8"/>
                </a:solidFill>
                <a:latin typeface="Calibri" pitchFamily="34" charset="0"/>
                <a:ea typeface="Calibri" pitchFamily="34" charset="-122"/>
                <a:cs typeface="Calibri" pitchFamily="34" charset="-120"/>
              </a:rPr>
              <a:t>Random Forest Regressor for price prediction</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Random Forest Regressor — Architecture</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960120"/>
            <a:ext cx="2377440" cy="1737360"/>
          </a:xfrm>
          <a:prstGeom prst="rect">
            <a:avLst/>
          </a:prstGeom>
          <a:solidFill>
            <a:srgbClr val="FFFFFF"/>
          </a:solidFill>
          <a:ln/>
          <a:effectLst>
            <a:outerShdw blurRad="63500" dist="25400" dir="8100000" algn="bl" rotWithShape="0">
              <a:srgbClr val="000000">
                <a:alpha val="10000"/>
              </a:srgbClr>
            </a:outerShdw>
          </a:effectLst>
        </p:spPr>
      </p:sp>
      <p:sp>
        <p:nvSpPr>
          <p:cNvPr id="5" name="Shape 3"/>
          <p:cNvSpPr/>
          <p:nvPr/>
        </p:nvSpPr>
        <p:spPr>
          <a:xfrm>
            <a:off x="457200" y="960120"/>
            <a:ext cx="2377440" cy="384048"/>
          </a:xfrm>
          <a:prstGeom prst="rect">
            <a:avLst/>
          </a:prstGeom>
          <a:solidFill>
            <a:srgbClr val="1B4F72"/>
          </a:solidFill>
          <a:ln w="12700">
            <a:solidFill>
              <a:srgbClr val="1B4F72"/>
            </a:solidFill>
            <a:prstDash val="solid"/>
          </a:ln>
        </p:spPr>
      </p:sp>
      <p:sp>
        <p:nvSpPr>
          <p:cNvPr id="6" name="Text 4"/>
          <p:cNvSpPr/>
          <p:nvPr/>
        </p:nvSpPr>
        <p:spPr>
          <a:xfrm>
            <a:off x="457200" y="960120"/>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rPr>
              <a:t>Input Features</a:t>
            </a:r>
            <a:endParaRPr lang="en-US" sz="1300" dirty="0"/>
          </a:p>
        </p:txBody>
      </p:sp>
      <p:sp>
        <p:nvSpPr>
          <p:cNvPr id="7" name="Text 5"/>
          <p:cNvSpPr/>
          <p:nvPr/>
        </p:nvSpPr>
        <p:spPr>
          <a:xfrm>
            <a:off x="548640" y="1417320"/>
            <a:ext cx="2194560" cy="1234440"/>
          </a:xfrm>
          <a:prstGeom prst="rect">
            <a:avLst/>
          </a:prstGeom>
          <a:noFill/>
          <a:ln/>
        </p:spPr>
        <p:txBody>
          <a:bodyPr wrap="square" lIns="0" tIns="0" rIns="0" bIns="0" rtlCol="0" anchor="ctr"/>
          <a:lstStyle/>
          <a:p>
            <a:pPr marL="0" indent="0">
              <a:buNone/>
            </a:pPr>
            <a:r>
              <a:rPr lang="en-US" sz="1100" dirty="0">
                <a:solidFill>
                  <a:srgbClr val="0D1B2A"/>
                </a:solidFill>
                <a:latin typeface="Calibri" pitchFamily="34" charset="0"/>
                <a:ea typeface="Calibri" pitchFamily="34" charset="-122"/>
                <a:cs typeface="Calibri" pitchFamily="34" charset="-120"/>
              </a:rPr>
              <a:t>Age, KM Driven</a:t>
            </a:r>
            <a:endParaRPr lang="en-US" sz="1100" dirty="0"/>
          </a:p>
          <a:p>
            <a:pPr marL="0" indent="0">
              <a:buNone/>
            </a:pPr>
            <a:r>
              <a:rPr lang="en-US" sz="1100" dirty="0">
                <a:solidFill>
                  <a:srgbClr val="0D1B2A"/>
                </a:solidFill>
                <a:latin typeface="Calibri" pitchFamily="34" charset="0"/>
                <a:ea typeface="Calibri" pitchFamily="34" charset="-122"/>
                <a:cs typeface="Calibri" pitchFamily="34" charset="-120"/>
              </a:rPr>
              <a:t>Fuel, Transmission</a:t>
            </a:r>
            <a:endParaRPr lang="en-US" sz="1100" dirty="0"/>
          </a:p>
          <a:p>
            <a:pPr marL="0" indent="0">
              <a:buNone/>
            </a:pPr>
            <a:r>
              <a:rPr lang="en-US" sz="1100" dirty="0">
                <a:solidFill>
                  <a:srgbClr val="0D1B2A"/>
                </a:solidFill>
                <a:latin typeface="Calibri" pitchFamily="34" charset="0"/>
                <a:ea typeface="Calibri" pitchFamily="34" charset="-122"/>
                <a:cs typeface="Calibri" pitchFamily="34" charset="-120"/>
              </a:rPr>
              <a:t>Brand, Model</a:t>
            </a:r>
            <a:endParaRPr lang="en-US" sz="1100" dirty="0"/>
          </a:p>
        </p:txBody>
      </p:sp>
      <p:sp>
        <p:nvSpPr>
          <p:cNvPr id="8" name="Shape 6"/>
          <p:cNvSpPr/>
          <p:nvPr/>
        </p:nvSpPr>
        <p:spPr>
          <a:xfrm>
            <a:off x="3017520" y="960120"/>
            <a:ext cx="2377440" cy="1737360"/>
          </a:xfrm>
          <a:prstGeom prst="rect">
            <a:avLst/>
          </a:prstGeom>
          <a:solidFill>
            <a:srgbClr val="FFFFFF"/>
          </a:solidFill>
          <a:ln/>
          <a:effectLst>
            <a:outerShdw blurRad="63500" dist="25400" dir="8100000" algn="bl" rotWithShape="0">
              <a:srgbClr val="000000">
                <a:alpha val="10000"/>
              </a:srgbClr>
            </a:outerShdw>
          </a:effectLst>
        </p:spPr>
      </p:sp>
      <p:sp>
        <p:nvSpPr>
          <p:cNvPr id="9" name="Shape 7"/>
          <p:cNvSpPr/>
          <p:nvPr/>
        </p:nvSpPr>
        <p:spPr>
          <a:xfrm>
            <a:off x="3017520" y="960120"/>
            <a:ext cx="2377440" cy="384048"/>
          </a:xfrm>
          <a:prstGeom prst="rect">
            <a:avLst/>
          </a:prstGeom>
          <a:solidFill>
            <a:srgbClr val="E67E22"/>
          </a:solidFill>
          <a:ln w="12700">
            <a:solidFill>
              <a:srgbClr val="E67E22"/>
            </a:solidFill>
            <a:prstDash val="solid"/>
          </a:ln>
        </p:spPr>
      </p:sp>
      <p:sp>
        <p:nvSpPr>
          <p:cNvPr id="10" name="Text 8"/>
          <p:cNvSpPr/>
          <p:nvPr/>
        </p:nvSpPr>
        <p:spPr>
          <a:xfrm>
            <a:off x="3017520" y="960120"/>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rPr>
              <a:t>Outlier Removal</a:t>
            </a:r>
            <a:endParaRPr lang="en-US" sz="1300" dirty="0"/>
          </a:p>
        </p:txBody>
      </p:sp>
      <p:sp>
        <p:nvSpPr>
          <p:cNvPr id="11" name="Text 9"/>
          <p:cNvSpPr/>
          <p:nvPr/>
        </p:nvSpPr>
        <p:spPr>
          <a:xfrm>
            <a:off x="3108960" y="1417320"/>
            <a:ext cx="2194560" cy="1234440"/>
          </a:xfrm>
          <a:prstGeom prst="rect">
            <a:avLst/>
          </a:prstGeom>
          <a:noFill/>
          <a:ln/>
        </p:spPr>
        <p:txBody>
          <a:bodyPr wrap="square" lIns="0" tIns="0" rIns="0" bIns="0" rtlCol="0" anchor="ctr"/>
          <a:lstStyle/>
          <a:p>
            <a:pPr marL="0" indent="0">
              <a:buNone/>
            </a:pPr>
            <a:r>
              <a:rPr lang="en-US" sz="1100" dirty="0">
                <a:solidFill>
                  <a:srgbClr val="0D1B2A"/>
                </a:solidFill>
                <a:latin typeface="Calibri" pitchFamily="34" charset="0"/>
                <a:ea typeface="Calibri" pitchFamily="34" charset="-122"/>
                <a:cs typeface="Calibri" pitchFamily="34" charset="-120"/>
              </a:rPr>
              <a:t>Price: 5th–95th %ile</a:t>
            </a:r>
            <a:endParaRPr lang="en-US" sz="1100" dirty="0"/>
          </a:p>
          <a:p>
            <a:pPr marL="0" indent="0">
              <a:buNone/>
            </a:pPr>
            <a:r>
              <a:rPr lang="en-US" sz="1100" dirty="0">
                <a:solidFill>
                  <a:srgbClr val="0D1B2A"/>
                </a:solidFill>
                <a:latin typeface="Calibri" pitchFamily="34" charset="0"/>
                <a:ea typeface="Calibri" pitchFamily="34" charset="-122"/>
                <a:cs typeface="Calibri" pitchFamily="34" charset="-120"/>
              </a:rPr>
              <a:t>KM: &lt; 99th %ile</a:t>
            </a:r>
            <a:endParaRPr lang="en-US" sz="1100" dirty="0"/>
          </a:p>
          <a:p>
            <a:pPr marL="0" indent="0">
              <a:buNone/>
            </a:pPr>
            <a:r>
              <a:rPr lang="en-US" sz="1100" dirty="0">
                <a:solidFill>
                  <a:srgbClr val="0D1B2A"/>
                </a:solidFill>
                <a:latin typeface="Calibri" pitchFamily="34" charset="0"/>
                <a:ea typeface="Calibri" pitchFamily="34" charset="-122"/>
                <a:cs typeface="Calibri" pitchFamily="34" charset="-120"/>
              </a:rPr>
              <a:t>Outliers dropped</a:t>
            </a:r>
            <a:endParaRPr lang="en-US" sz="1100" dirty="0"/>
          </a:p>
        </p:txBody>
      </p:sp>
      <p:sp>
        <p:nvSpPr>
          <p:cNvPr id="12" name="Shape 10"/>
          <p:cNvSpPr/>
          <p:nvPr/>
        </p:nvSpPr>
        <p:spPr>
          <a:xfrm>
            <a:off x="5577840" y="960120"/>
            <a:ext cx="2377440" cy="1737360"/>
          </a:xfrm>
          <a:prstGeom prst="rect">
            <a:avLst/>
          </a:prstGeom>
          <a:solidFill>
            <a:srgbClr val="FFFFFF"/>
          </a:solidFill>
          <a:ln/>
          <a:effectLst>
            <a:outerShdw blurRad="63500" dist="25400" dir="8100000" algn="bl" rotWithShape="0">
              <a:srgbClr val="000000">
                <a:alpha val="10000"/>
              </a:srgbClr>
            </a:outerShdw>
          </a:effectLst>
        </p:spPr>
      </p:sp>
      <p:sp>
        <p:nvSpPr>
          <p:cNvPr id="13" name="Shape 11"/>
          <p:cNvSpPr/>
          <p:nvPr/>
        </p:nvSpPr>
        <p:spPr>
          <a:xfrm>
            <a:off x="5577840" y="960120"/>
            <a:ext cx="2377440" cy="384048"/>
          </a:xfrm>
          <a:prstGeom prst="rect">
            <a:avLst/>
          </a:prstGeom>
          <a:solidFill>
            <a:srgbClr val="2E86AB"/>
          </a:solidFill>
          <a:ln w="12700">
            <a:solidFill>
              <a:srgbClr val="2E86AB"/>
            </a:solidFill>
            <a:prstDash val="solid"/>
          </a:ln>
        </p:spPr>
      </p:sp>
      <p:sp>
        <p:nvSpPr>
          <p:cNvPr id="14" name="Text 12"/>
          <p:cNvSpPr/>
          <p:nvPr/>
        </p:nvSpPr>
        <p:spPr>
          <a:xfrm>
            <a:off x="5577840" y="960120"/>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rPr>
              <a:t>Feature Encoding</a:t>
            </a:r>
            <a:endParaRPr lang="en-US" sz="1300" dirty="0"/>
          </a:p>
        </p:txBody>
      </p:sp>
      <p:sp>
        <p:nvSpPr>
          <p:cNvPr id="15" name="Text 13"/>
          <p:cNvSpPr/>
          <p:nvPr/>
        </p:nvSpPr>
        <p:spPr>
          <a:xfrm>
            <a:off x="5669280" y="1417320"/>
            <a:ext cx="2194560" cy="1234440"/>
          </a:xfrm>
          <a:prstGeom prst="rect">
            <a:avLst/>
          </a:prstGeom>
          <a:noFill/>
          <a:ln/>
        </p:spPr>
        <p:txBody>
          <a:bodyPr wrap="square" lIns="0" tIns="0" rIns="0" bIns="0" rtlCol="0" anchor="ctr"/>
          <a:lstStyle/>
          <a:p>
            <a:pPr marL="0" indent="0">
              <a:buNone/>
            </a:pPr>
            <a:r>
              <a:rPr lang="en-US" sz="1100" dirty="0">
                <a:solidFill>
                  <a:srgbClr val="0D1B2A"/>
                </a:solidFill>
                <a:latin typeface="Calibri" pitchFamily="34" charset="0"/>
                <a:ea typeface="Calibri" pitchFamily="34" charset="-122"/>
                <a:cs typeface="Calibri" pitchFamily="34" charset="-120"/>
              </a:rPr>
              <a:t>Label encoding for</a:t>
            </a:r>
            <a:endParaRPr lang="en-US" sz="1100" dirty="0"/>
          </a:p>
          <a:p>
            <a:pPr marL="0" indent="0">
              <a:buNone/>
            </a:pPr>
            <a:r>
              <a:rPr lang="en-US" sz="1100" dirty="0">
                <a:solidFill>
                  <a:srgbClr val="0D1B2A"/>
                </a:solidFill>
                <a:latin typeface="Calibri" pitchFamily="34" charset="0"/>
                <a:ea typeface="Calibri" pitchFamily="34" charset="-122"/>
                <a:cs typeface="Calibri" pitchFamily="34" charset="-120"/>
              </a:rPr>
              <a:t>brand, model, fuel</a:t>
            </a:r>
            <a:endParaRPr lang="en-US" sz="1100" dirty="0"/>
          </a:p>
          <a:p>
            <a:pPr marL="0" indent="0">
              <a:buNone/>
            </a:pPr>
            <a:r>
              <a:rPr lang="en-US" sz="1100" dirty="0">
                <a:solidFill>
                  <a:srgbClr val="0D1B2A"/>
                </a:solidFill>
                <a:latin typeface="Calibri" pitchFamily="34" charset="0"/>
                <a:ea typeface="Calibri" pitchFamily="34" charset="-122"/>
                <a:cs typeface="Calibri" pitchFamily="34" charset="-120"/>
              </a:rPr>
              <a:t>transmission</a:t>
            </a:r>
            <a:endParaRPr lang="en-US" sz="1100" dirty="0"/>
          </a:p>
        </p:txBody>
      </p:sp>
      <p:sp>
        <p:nvSpPr>
          <p:cNvPr id="16" name="Text 14"/>
          <p:cNvSpPr/>
          <p:nvPr/>
        </p:nvSpPr>
        <p:spPr>
          <a:xfrm>
            <a:off x="2788920" y="1508760"/>
            <a:ext cx="274320" cy="457200"/>
          </a:xfrm>
          <a:prstGeom prst="rect">
            <a:avLst/>
          </a:prstGeom>
          <a:noFill/>
          <a:ln/>
        </p:spPr>
        <p:txBody>
          <a:bodyPr wrap="square" rtlCol="0" anchor="ctr"/>
          <a:lstStyle/>
          <a:p>
            <a:pPr marL="0" indent="0" algn="ctr">
              <a:buNone/>
            </a:pPr>
            <a:r>
              <a:rPr lang="en-US" sz="2400" b="1" dirty="0">
                <a:solidFill>
                  <a:srgbClr val="4A5568"/>
                </a:solidFill>
              </a:rPr>
              <a:t>→</a:t>
            </a:r>
            <a:endParaRPr lang="en-US" sz="2400" dirty="0"/>
          </a:p>
        </p:txBody>
      </p:sp>
      <p:sp>
        <p:nvSpPr>
          <p:cNvPr id="17" name="Text 15"/>
          <p:cNvSpPr/>
          <p:nvPr/>
        </p:nvSpPr>
        <p:spPr>
          <a:xfrm>
            <a:off x="5349240" y="1508760"/>
            <a:ext cx="274320" cy="457200"/>
          </a:xfrm>
          <a:prstGeom prst="rect">
            <a:avLst/>
          </a:prstGeom>
          <a:noFill/>
          <a:ln/>
        </p:spPr>
        <p:txBody>
          <a:bodyPr wrap="square" rtlCol="0" anchor="ctr"/>
          <a:lstStyle/>
          <a:p>
            <a:pPr marL="0" indent="0" algn="ctr">
              <a:buNone/>
            </a:pPr>
            <a:r>
              <a:rPr lang="en-US" sz="2400" b="1" dirty="0">
                <a:solidFill>
                  <a:srgbClr val="4A5568"/>
                </a:solidFill>
              </a:rPr>
              <a:t>→</a:t>
            </a:r>
            <a:endParaRPr lang="en-US" sz="2400" dirty="0"/>
          </a:p>
        </p:txBody>
      </p:sp>
      <p:sp>
        <p:nvSpPr>
          <p:cNvPr id="18" name="Shape 16"/>
          <p:cNvSpPr/>
          <p:nvPr/>
        </p:nvSpPr>
        <p:spPr>
          <a:xfrm>
            <a:off x="457200" y="2880360"/>
            <a:ext cx="8229600" cy="1920240"/>
          </a:xfrm>
          <a:prstGeom prst="rect">
            <a:avLst/>
          </a:prstGeom>
          <a:solidFill>
            <a:srgbClr val="FFFFFF"/>
          </a:solidFill>
          <a:ln/>
          <a:effectLst>
            <a:outerShdw blurRad="63500" dist="25400" dir="8100000" algn="bl" rotWithShape="0">
              <a:srgbClr val="000000">
                <a:alpha val="8000"/>
              </a:srgbClr>
            </a:outerShdw>
          </a:effectLst>
        </p:spPr>
      </p:sp>
      <p:sp>
        <p:nvSpPr>
          <p:cNvPr id="19" name="Shape 17"/>
          <p:cNvSpPr/>
          <p:nvPr/>
        </p:nvSpPr>
        <p:spPr>
          <a:xfrm>
            <a:off x="457200" y="2880360"/>
            <a:ext cx="8229600" cy="384048"/>
          </a:xfrm>
          <a:prstGeom prst="rect">
            <a:avLst/>
          </a:prstGeom>
          <a:solidFill>
            <a:srgbClr val="0D1B2A"/>
          </a:solidFill>
          <a:ln w="12700">
            <a:solidFill>
              <a:srgbClr val="0D1B2A"/>
            </a:solidFill>
            <a:prstDash val="solid"/>
          </a:ln>
        </p:spPr>
      </p:sp>
      <p:sp>
        <p:nvSpPr>
          <p:cNvPr id="20" name="Text 18"/>
          <p:cNvSpPr/>
          <p:nvPr/>
        </p:nvSpPr>
        <p:spPr>
          <a:xfrm>
            <a:off x="457200" y="2880360"/>
            <a:ext cx="8229600" cy="384048"/>
          </a:xfrm>
          <a:prstGeom prst="rect">
            <a:avLst/>
          </a:prstGeom>
          <a:noFill/>
          <a:ln/>
        </p:spPr>
        <p:txBody>
          <a:bodyPr wrap="square" lIns="0" tIns="0" rIns="0" bIns="0" rtlCol="0" anchor="ctr"/>
          <a:lstStyle/>
          <a:p>
            <a:pPr marL="0" indent="0" algn="ctr">
              <a:buNone/>
            </a:pPr>
            <a:r>
              <a:rPr lang="en-US" sz="1400" b="1" dirty="0">
                <a:solidFill>
                  <a:srgbClr val="FFFFFF"/>
                </a:solidFill>
              </a:rPr>
              <a:t>Random Forest Regressor — Parameters</a:t>
            </a:r>
            <a:endParaRPr lang="en-US" sz="1400" dirty="0"/>
          </a:p>
        </p:txBody>
      </p:sp>
      <p:sp>
        <p:nvSpPr>
          <p:cNvPr id="21" name="Text 19"/>
          <p:cNvSpPr/>
          <p:nvPr/>
        </p:nvSpPr>
        <p:spPr>
          <a:xfrm>
            <a:off x="685800" y="3401568"/>
            <a:ext cx="1280160" cy="347472"/>
          </a:xfrm>
          <a:prstGeom prst="rect">
            <a:avLst/>
          </a:prstGeom>
          <a:noFill/>
          <a:ln/>
        </p:spPr>
        <p:txBody>
          <a:bodyPr wrap="square" lIns="0" tIns="0" rIns="0" bIns="0" rtlCol="0" anchor="ctr"/>
          <a:lstStyle/>
          <a:p>
            <a:pPr marL="0" indent="0">
              <a:buNone/>
            </a:pPr>
            <a:r>
              <a:rPr lang="en-US" sz="1200" b="1" dirty="0">
                <a:solidFill>
                  <a:srgbClr val="4A5568"/>
                </a:solidFill>
                <a:latin typeface="Calibri" pitchFamily="34" charset="0"/>
                <a:ea typeface="Calibri" pitchFamily="34" charset="-122"/>
                <a:cs typeface="Calibri" pitchFamily="34" charset="-120"/>
              </a:rPr>
              <a:t>n_estimators: </a:t>
            </a:r>
            <a:endParaRPr lang="en-US" sz="1200" dirty="0"/>
          </a:p>
        </p:txBody>
      </p:sp>
      <p:sp>
        <p:nvSpPr>
          <p:cNvPr id="22" name="Text 20"/>
          <p:cNvSpPr/>
          <p:nvPr/>
        </p:nvSpPr>
        <p:spPr>
          <a:xfrm>
            <a:off x="1965960" y="3401568"/>
            <a:ext cx="1188720" cy="347472"/>
          </a:xfrm>
          <a:prstGeom prst="rect">
            <a:avLst/>
          </a:prstGeom>
          <a:noFill/>
          <a:ln/>
        </p:spPr>
        <p:txBody>
          <a:bodyPr wrap="square" lIns="0" tIns="0" rIns="0" bIns="0" rtlCol="0" anchor="ctr"/>
          <a:lstStyle/>
          <a:p>
            <a:pPr marL="0" indent="0">
              <a:buNone/>
            </a:pPr>
            <a:r>
              <a:rPr lang="en-US" sz="1300" b="1" dirty="0">
                <a:solidFill>
                  <a:srgbClr val="2E86AB"/>
                </a:solidFill>
                <a:latin typeface="Calibri" pitchFamily="34" charset="0"/>
                <a:ea typeface="Calibri" pitchFamily="34" charset="-122"/>
                <a:cs typeface="Calibri" pitchFamily="34" charset="-120"/>
              </a:rPr>
              <a:t>200 trees</a:t>
            </a:r>
            <a:endParaRPr lang="en-US" sz="1300" dirty="0"/>
          </a:p>
        </p:txBody>
      </p:sp>
      <p:sp>
        <p:nvSpPr>
          <p:cNvPr id="23" name="Text 21"/>
          <p:cNvSpPr/>
          <p:nvPr/>
        </p:nvSpPr>
        <p:spPr>
          <a:xfrm>
            <a:off x="3337560" y="3401568"/>
            <a:ext cx="1280160" cy="347472"/>
          </a:xfrm>
          <a:prstGeom prst="rect">
            <a:avLst/>
          </a:prstGeom>
          <a:noFill/>
          <a:ln/>
        </p:spPr>
        <p:txBody>
          <a:bodyPr wrap="square" lIns="0" tIns="0" rIns="0" bIns="0" rtlCol="0" anchor="ctr"/>
          <a:lstStyle/>
          <a:p>
            <a:pPr marL="0" indent="0">
              <a:buNone/>
            </a:pPr>
            <a:r>
              <a:rPr lang="en-US" sz="1200" b="1" dirty="0">
                <a:solidFill>
                  <a:srgbClr val="4A5568"/>
                </a:solidFill>
                <a:latin typeface="Calibri" pitchFamily="34" charset="0"/>
                <a:ea typeface="Calibri" pitchFamily="34" charset="-122"/>
                <a:cs typeface="Calibri" pitchFamily="34" charset="-120"/>
              </a:rPr>
              <a:t>max_depth: </a:t>
            </a:r>
            <a:endParaRPr lang="en-US" sz="1200" dirty="0"/>
          </a:p>
        </p:txBody>
      </p:sp>
      <p:sp>
        <p:nvSpPr>
          <p:cNvPr id="24" name="Text 22"/>
          <p:cNvSpPr/>
          <p:nvPr/>
        </p:nvSpPr>
        <p:spPr>
          <a:xfrm>
            <a:off x="4617720" y="3401568"/>
            <a:ext cx="1188720" cy="347472"/>
          </a:xfrm>
          <a:prstGeom prst="rect">
            <a:avLst/>
          </a:prstGeom>
          <a:noFill/>
          <a:ln/>
        </p:spPr>
        <p:txBody>
          <a:bodyPr wrap="square" lIns="0" tIns="0" rIns="0" bIns="0" rtlCol="0" anchor="ctr"/>
          <a:lstStyle/>
          <a:p>
            <a:pPr marL="0" indent="0">
              <a:buNone/>
            </a:pPr>
            <a:r>
              <a:rPr lang="en-US" sz="1300" b="1" dirty="0">
                <a:solidFill>
                  <a:srgbClr val="2E86AB"/>
                </a:solidFill>
                <a:latin typeface="Calibri" pitchFamily="34" charset="0"/>
                <a:ea typeface="Calibri" pitchFamily="34" charset="-122"/>
                <a:cs typeface="Calibri" pitchFamily="34" charset="-120"/>
              </a:rPr>
              <a:t>15 levels</a:t>
            </a:r>
            <a:endParaRPr lang="en-US" sz="1300" dirty="0"/>
          </a:p>
        </p:txBody>
      </p:sp>
      <p:sp>
        <p:nvSpPr>
          <p:cNvPr id="25" name="Text 23"/>
          <p:cNvSpPr/>
          <p:nvPr/>
        </p:nvSpPr>
        <p:spPr>
          <a:xfrm>
            <a:off x="5989320" y="3401568"/>
            <a:ext cx="1280160" cy="347472"/>
          </a:xfrm>
          <a:prstGeom prst="rect">
            <a:avLst/>
          </a:prstGeom>
          <a:noFill/>
          <a:ln/>
        </p:spPr>
        <p:txBody>
          <a:bodyPr wrap="square" lIns="0" tIns="0" rIns="0" bIns="0" rtlCol="0" anchor="ctr"/>
          <a:lstStyle/>
          <a:p>
            <a:pPr marL="0" indent="0">
              <a:buNone/>
            </a:pPr>
            <a:r>
              <a:rPr lang="en-US" sz="1200" b="1" dirty="0">
                <a:solidFill>
                  <a:srgbClr val="4A5568"/>
                </a:solidFill>
                <a:latin typeface="Calibri" pitchFamily="34" charset="0"/>
                <a:ea typeface="Calibri" pitchFamily="34" charset="-122"/>
                <a:cs typeface="Calibri" pitchFamily="34" charset="-120"/>
              </a:rPr>
              <a:t>train/test split: </a:t>
            </a:r>
            <a:endParaRPr lang="en-US" sz="1200" dirty="0"/>
          </a:p>
        </p:txBody>
      </p:sp>
      <p:sp>
        <p:nvSpPr>
          <p:cNvPr id="26" name="Text 24"/>
          <p:cNvSpPr/>
          <p:nvPr/>
        </p:nvSpPr>
        <p:spPr>
          <a:xfrm>
            <a:off x="7269480" y="3401568"/>
            <a:ext cx="1188720" cy="347472"/>
          </a:xfrm>
          <a:prstGeom prst="rect">
            <a:avLst/>
          </a:prstGeom>
          <a:noFill/>
          <a:ln/>
        </p:spPr>
        <p:txBody>
          <a:bodyPr wrap="square" lIns="0" tIns="0" rIns="0" bIns="0" rtlCol="0" anchor="ctr"/>
          <a:lstStyle/>
          <a:p>
            <a:pPr marL="0" indent="0">
              <a:buNone/>
            </a:pPr>
            <a:r>
              <a:rPr lang="en-US" sz="1300" b="1" dirty="0">
                <a:solidFill>
                  <a:srgbClr val="2E86AB"/>
                </a:solidFill>
                <a:latin typeface="Calibri" pitchFamily="34" charset="0"/>
                <a:ea typeface="Calibri" pitchFamily="34" charset="-122"/>
                <a:cs typeface="Calibri" pitchFamily="34" charset="-120"/>
              </a:rPr>
              <a:t>80% / 20%</a:t>
            </a:r>
            <a:endParaRPr lang="en-US" sz="1300" dirty="0"/>
          </a:p>
        </p:txBody>
      </p:sp>
      <p:sp>
        <p:nvSpPr>
          <p:cNvPr id="27" name="Text 25"/>
          <p:cNvSpPr/>
          <p:nvPr/>
        </p:nvSpPr>
        <p:spPr>
          <a:xfrm>
            <a:off x="685800" y="4023360"/>
            <a:ext cx="1280160" cy="347472"/>
          </a:xfrm>
          <a:prstGeom prst="rect">
            <a:avLst/>
          </a:prstGeom>
          <a:noFill/>
          <a:ln/>
        </p:spPr>
        <p:txBody>
          <a:bodyPr wrap="square" lIns="0" tIns="0" rIns="0" bIns="0" rtlCol="0" anchor="ctr"/>
          <a:lstStyle/>
          <a:p>
            <a:pPr marL="0" indent="0">
              <a:buNone/>
            </a:pPr>
            <a:r>
              <a:rPr lang="en-US" sz="1200" b="1" dirty="0">
                <a:solidFill>
                  <a:srgbClr val="4A5568"/>
                </a:solidFill>
                <a:latin typeface="Calibri" pitchFamily="34" charset="0"/>
                <a:ea typeface="Calibri" pitchFamily="34" charset="-122"/>
                <a:cs typeface="Calibri" pitchFamily="34" charset="-120"/>
              </a:rPr>
              <a:t>random_state: </a:t>
            </a:r>
            <a:endParaRPr lang="en-US" sz="1200" dirty="0"/>
          </a:p>
        </p:txBody>
      </p:sp>
      <p:sp>
        <p:nvSpPr>
          <p:cNvPr id="28" name="Text 26"/>
          <p:cNvSpPr/>
          <p:nvPr/>
        </p:nvSpPr>
        <p:spPr>
          <a:xfrm>
            <a:off x="1965960" y="4023360"/>
            <a:ext cx="1188720" cy="347472"/>
          </a:xfrm>
          <a:prstGeom prst="rect">
            <a:avLst/>
          </a:prstGeom>
          <a:noFill/>
          <a:ln/>
        </p:spPr>
        <p:txBody>
          <a:bodyPr wrap="square" lIns="0" tIns="0" rIns="0" bIns="0" rtlCol="0" anchor="ctr"/>
          <a:lstStyle/>
          <a:p>
            <a:pPr marL="0" indent="0">
              <a:buNone/>
            </a:pPr>
            <a:r>
              <a:rPr lang="en-US" sz="1300" b="1" dirty="0">
                <a:solidFill>
                  <a:srgbClr val="2E86AB"/>
                </a:solidFill>
                <a:latin typeface="Calibri" pitchFamily="34" charset="0"/>
                <a:ea typeface="Calibri" pitchFamily="34" charset="-122"/>
                <a:cs typeface="Calibri" pitchFamily="34" charset="-120"/>
              </a:rPr>
              <a:t>42</a:t>
            </a:r>
            <a:endParaRPr lang="en-US" sz="1300" dirty="0"/>
          </a:p>
        </p:txBody>
      </p:sp>
      <p:sp>
        <p:nvSpPr>
          <p:cNvPr id="29" name="Text 27"/>
          <p:cNvSpPr/>
          <p:nvPr/>
        </p:nvSpPr>
        <p:spPr>
          <a:xfrm>
            <a:off x="3337560" y="4023360"/>
            <a:ext cx="1280160" cy="347472"/>
          </a:xfrm>
          <a:prstGeom prst="rect">
            <a:avLst/>
          </a:prstGeom>
          <a:noFill/>
          <a:ln/>
        </p:spPr>
        <p:txBody>
          <a:bodyPr wrap="square" lIns="0" tIns="0" rIns="0" bIns="0" rtlCol="0" anchor="ctr"/>
          <a:lstStyle/>
          <a:p>
            <a:pPr marL="0" indent="0">
              <a:buNone/>
            </a:pPr>
            <a:r>
              <a:rPr lang="en-US" sz="1200" b="1" dirty="0">
                <a:solidFill>
                  <a:srgbClr val="4A5568"/>
                </a:solidFill>
                <a:latin typeface="Calibri" pitchFamily="34" charset="0"/>
                <a:ea typeface="Calibri" pitchFamily="34" charset="-122"/>
                <a:cs typeface="Calibri" pitchFamily="34" charset="-120"/>
              </a:rPr>
              <a:t>features: </a:t>
            </a:r>
            <a:endParaRPr lang="en-US" sz="1200" dirty="0"/>
          </a:p>
        </p:txBody>
      </p:sp>
      <p:sp>
        <p:nvSpPr>
          <p:cNvPr id="30" name="Text 28"/>
          <p:cNvSpPr/>
          <p:nvPr/>
        </p:nvSpPr>
        <p:spPr>
          <a:xfrm>
            <a:off x="4617720" y="4023360"/>
            <a:ext cx="1188720" cy="347472"/>
          </a:xfrm>
          <a:prstGeom prst="rect">
            <a:avLst/>
          </a:prstGeom>
          <a:noFill/>
          <a:ln/>
        </p:spPr>
        <p:txBody>
          <a:bodyPr wrap="square" lIns="0" tIns="0" rIns="0" bIns="0" rtlCol="0" anchor="ctr"/>
          <a:lstStyle/>
          <a:p>
            <a:pPr marL="0" indent="0">
              <a:buNone/>
            </a:pPr>
            <a:r>
              <a:rPr lang="en-US" sz="1300" b="1" dirty="0">
                <a:solidFill>
                  <a:srgbClr val="2E86AB"/>
                </a:solidFill>
                <a:latin typeface="Calibri" pitchFamily="34" charset="0"/>
                <a:ea typeface="Calibri" pitchFamily="34" charset="-122"/>
                <a:cs typeface="Calibri" pitchFamily="34" charset="-120"/>
              </a:rPr>
              <a:t>6 input features</a:t>
            </a:r>
            <a:endParaRPr lang="en-US" sz="1300" dirty="0"/>
          </a:p>
        </p:txBody>
      </p:sp>
      <p:sp>
        <p:nvSpPr>
          <p:cNvPr id="31" name="Text 29"/>
          <p:cNvSpPr/>
          <p:nvPr/>
        </p:nvSpPr>
        <p:spPr>
          <a:xfrm>
            <a:off x="5989320" y="4023360"/>
            <a:ext cx="1280160" cy="347472"/>
          </a:xfrm>
          <a:prstGeom prst="rect">
            <a:avLst/>
          </a:prstGeom>
          <a:noFill/>
          <a:ln/>
        </p:spPr>
        <p:txBody>
          <a:bodyPr wrap="square" lIns="0" tIns="0" rIns="0" bIns="0" rtlCol="0" anchor="ctr"/>
          <a:lstStyle/>
          <a:p>
            <a:pPr marL="0" indent="0">
              <a:buNone/>
            </a:pPr>
            <a:r>
              <a:rPr lang="en-US" sz="1200" b="1" dirty="0">
                <a:solidFill>
                  <a:srgbClr val="4A5568"/>
                </a:solidFill>
                <a:latin typeface="Calibri" pitchFamily="34" charset="0"/>
                <a:ea typeface="Calibri" pitchFamily="34" charset="-122"/>
                <a:cs typeface="Calibri" pitchFamily="34" charset="-120"/>
              </a:rPr>
              <a:t>target: </a:t>
            </a:r>
            <a:endParaRPr lang="en-US" sz="1200" dirty="0"/>
          </a:p>
        </p:txBody>
      </p:sp>
      <p:sp>
        <p:nvSpPr>
          <p:cNvPr id="32" name="Text 30"/>
          <p:cNvSpPr/>
          <p:nvPr/>
        </p:nvSpPr>
        <p:spPr>
          <a:xfrm>
            <a:off x="7269480" y="4023360"/>
            <a:ext cx="1188720" cy="347472"/>
          </a:xfrm>
          <a:prstGeom prst="rect">
            <a:avLst/>
          </a:prstGeom>
          <a:noFill/>
          <a:ln/>
        </p:spPr>
        <p:txBody>
          <a:bodyPr wrap="square" lIns="0" tIns="0" rIns="0" bIns="0" rtlCol="0" anchor="ctr"/>
          <a:lstStyle/>
          <a:p>
            <a:pPr marL="0" indent="0">
              <a:buNone/>
            </a:pPr>
            <a:r>
              <a:rPr lang="en-US" sz="1300" b="1" dirty="0">
                <a:solidFill>
                  <a:srgbClr val="2E86AB"/>
                </a:solidFill>
                <a:latin typeface="Calibri" pitchFamily="34" charset="0"/>
                <a:ea typeface="Calibri" pitchFamily="34" charset="-122"/>
                <a:cs typeface="Calibri" pitchFamily="34" charset="-120"/>
              </a:rPr>
              <a:t>Price (₹)</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Model Performance &amp; Feature Importance</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960120"/>
            <a:ext cx="3931920" cy="2103120"/>
          </a:xfrm>
          <a:prstGeom prst="rect">
            <a:avLst/>
          </a:prstGeom>
          <a:solidFill>
            <a:srgbClr val="FFFFFF"/>
          </a:solidFill>
          <a:ln/>
          <a:effectLst>
            <a:outerShdw blurRad="76200" dist="25400" dir="8100000" algn="bl" rotWithShape="0">
              <a:srgbClr val="000000">
                <a:alpha val="10000"/>
              </a:srgbClr>
            </a:outerShdw>
          </a:effectLst>
        </p:spPr>
      </p:sp>
      <p:sp>
        <p:nvSpPr>
          <p:cNvPr id="5" name="Shape 3"/>
          <p:cNvSpPr/>
          <p:nvPr/>
        </p:nvSpPr>
        <p:spPr>
          <a:xfrm>
            <a:off x="457200" y="960120"/>
            <a:ext cx="3931920" cy="73152"/>
          </a:xfrm>
          <a:prstGeom prst="rect">
            <a:avLst/>
          </a:prstGeom>
          <a:solidFill>
            <a:srgbClr val="27AE60"/>
          </a:solidFill>
          <a:ln w="12700">
            <a:solidFill>
              <a:srgbClr val="27AE60"/>
            </a:solidFill>
            <a:prstDash val="solid"/>
          </a:ln>
        </p:spPr>
      </p:sp>
      <p:sp>
        <p:nvSpPr>
          <p:cNvPr id="6" name="Text 4"/>
          <p:cNvSpPr/>
          <p:nvPr/>
        </p:nvSpPr>
        <p:spPr>
          <a:xfrm>
            <a:off x="594360" y="1097280"/>
            <a:ext cx="3657600" cy="320040"/>
          </a:xfrm>
          <a:prstGeom prst="rect">
            <a:avLst/>
          </a:prstGeom>
          <a:noFill/>
          <a:ln/>
        </p:spPr>
        <p:txBody>
          <a:bodyPr wrap="square" lIns="0" tIns="0" rIns="0" bIns="0" rtlCol="0" anchor="ctr"/>
          <a:lstStyle/>
          <a:p>
            <a:pPr marL="0" indent="0">
              <a:buNone/>
            </a:pPr>
            <a:r>
              <a:rPr lang="en-US" sz="1400" b="1" dirty="0">
                <a:solidFill>
                  <a:srgbClr val="0D1B2A"/>
                </a:solidFill>
              </a:rPr>
              <a:t>R² Accuracy Score</a:t>
            </a:r>
            <a:endParaRPr lang="en-US" sz="1400" dirty="0"/>
          </a:p>
        </p:txBody>
      </p:sp>
      <p:sp>
        <p:nvSpPr>
          <p:cNvPr id="7" name="Text 5"/>
          <p:cNvSpPr/>
          <p:nvPr/>
        </p:nvSpPr>
        <p:spPr>
          <a:xfrm>
            <a:off x="594360" y="1508760"/>
            <a:ext cx="3657600" cy="1005840"/>
          </a:xfrm>
          <a:prstGeom prst="rect">
            <a:avLst/>
          </a:prstGeom>
          <a:noFill/>
          <a:ln/>
        </p:spPr>
        <p:txBody>
          <a:bodyPr wrap="square" lIns="0" tIns="0" rIns="0" bIns="0" rtlCol="0" anchor="ctr"/>
          <a:lstStyle/>
          <a:p>
            <a:pPr marL="0" indent="0" algn="ctr">
              <a:buNone/>
            </a:pPr>
            <a:r>
              <a:rPr lang="en-US" sz="6800" b="1" dirty="0">
                <a:solidFill>
                  <a:srgbClr val="27AE60"/>
                </a:solidFill>
                <a:latin typeface="Calibri" pitchFamily="34" charset="0"/>
                <a:ea typeface="Calibri" pitchFamily="34" charset="-122"/>
                <a:cs typeface="Calibri" pitchFamily="34" charset="-120"/>
              </a:rPr>
              <a:t>~0.92</a:t>
            </a:r>
            <a:endParaRPr lang="en-US" sz="6800" dirty="0"/>
          </a:p>
        </p:txBody>
      </p:sp>
      <p:sp>
        <p:nvSpPr>
          <p:cNvPr id="8" name="Text 6"/>
          <p:cNvSpPr/>
          <p:nvPr/>
        </p:nvSpPr>
        <p:spPr>
          <a:xfrm>
            <a:off x="594360" y="2834640"/>
            <a:ext cx="3657600" cy="274320"/>
          </a:xfrm>
          <a:prstGeom prst="rect">
            <a:avLst/>
          </a:prstGeom>
          <a:noFill/>
          <a:ln/>
        </p:spPr>
        <p:txBody>
          <a:bodyPr wrap="square" rtlCol="0" anchor="ctr"/>
          <a:lstStyle/>
          <a:p>
            <a:pPr marL="0" indent="0" algn="ctr">
              <a:buNone/>
            </a:pPr>
            <a:r>
              <a:rPr lang="en-US" sz="1200" dirty="0">
                <a:solidFill>
                  <a:srgbClr val="4A5568"/>
                </a:solidFill>
                <a:latin typeface="Calibri" pitchFamily="34" charset="0"/>
                <a:ea typeface="Calibri" pitchFamily="34" charset="-122"/>
                <a:cs typeface="Calibri" pitchFamily="34" charset="-120"/>
              </a:rPr>
              <a:t>92% variance explained</a:t>
            </a:r>
            <a:endParaRPr lang="en-US" sz="1200" dirty="0"/>
          </a:p>
        </p:txBody>
      </p:sp>
      <p:sp>
        <p:nvSpPr>
          <p:cNvPr id="9" name="Shape 7"/>
          <p:cNvSpPr/>
          <p:nvPr/>
        </p:nvSpPr>
        <p:spPr>
          <a:xfrm>
            <a:off x="4663440" y="960120"/>
            <a:ext cx="4023360" cy="2103120"/>
          </a:xfrm>
          <a:prstGeom prst="rect">
            <a:avLst/>
          </a:prstGeom>
          <a:solidFill>
            <a:srgbClr val="FFFFFF"/>
          </a:solidFill>
          <a:ln/>
          <a:effectLst>
            <a:outerShdw blurRad="63500" dist="25400" dir="8100000" algn="bl" rotWithShape="0">
              <a:srgbClr val="000000">
                <a:alpha val="10000"/>
              </a:srgbClr>
            </a:outerShdw>
          </a:effectLst>
        </p:spPr>
      </p:sp>
      <p:sp>
        <p:nvSpPr>
          <p:cNvPr id="10" name="Text 8"/>
          <p:cNvSpPr/>
          <p:nvPr/>
        </p:nvSpPr>
        <p:spPr>
          <a:xfrm>
            <a:off x="4800600" y="1024128"/>
            <a:ext cx="3657600" cy="274320"/>
          </a:xfrm>
          <a:prstGeom prst="rect">
            <a:avLst/>
          </a:prstGeom>
          <a:noFill/>
          <a:ln/>
        </p:spPr>
        <p:txBody>
          <a:bodyPr wrap="square" lIns="0" tIns="0" rIns="0" bIns="0" rtlCol="0" anchor="ctr"/>
          <a:lstStyle/>
          <a:p>
            <a:pPr marL="0" indent="0">
              <a:buNone/>
            </a:pPr>
            <a:r>
              <a:rPr lang="en-US" sz="1300" b="1" dirty="0">
                <a:solidFill>
                  <a:srgbClr val="0D1B2A"/>
                </a:solidFill>
              </a:rPr>
              <a:t>Feature Importance (Relative)</a:t>
            </a:r>
            <a:endParaRPr lang="en-US" sz="1300" dirty="0"/>
          </a:p>
        </p:txBody>
      </p:sp>
      <p:sp>
        <p:nvSpPr>
          <p:cNvPr id="11" name="Text 9"/>
          <p:cNvSpPr/>
          <p:nvPr/>
        </p:nvSpPr>
        <p:spPr>
          <a:xfrm>
            <a:off x="4800600" y="1389888"/>
            <a:ext cx="1554480" cy="256032"/>
          </a:xfrm>
          <a:prstGeom prst="rect">
            <a:avLst/>
          </a:prstGeom>
          <a:noFill/>
          <a:ln/>
        </p:spPr>
        <p:txBody>
          <a:bodyPr wrap="square" lIns="0" tIns="0" rIns="0" bIns="0" rtlCol="0" anchor="ctr"/>
          <a:lstStyle/>
          <a:p>
            <a:pPr marL="0" indent="0">
              <a:buNone/>
            </a:pPr>
            <a:r>
              <a:rPr lang="en-US" sz="1100" dirty="0">
                <a:solidFill>
                  <a:srgbClr val="0D1B2A"/>
                </a:solidFill>
              </a:rPr>
              <a:t>Brand/Model</a:t>
            </a:r>
            <a:endParaRPr lang="en-US" sz="1100" dirty="0"/>
          </a:p>
        </p:txBody>
      </p:sp>
      <p:sp>
        <p:nvSpPr>
          <p:cNvPr id="12" name="Shape 10"/>
          <p:cNvSpPr/>
          <p:nvPr/>
        </p:nvSpPr>
        <p:spPr>
          <a:xfrm>
            <a:off x="6400800" y="1426464"/>
            <a:ext cx="883310" cy="182880"/>
          </a:xfrm>
          <a:prstGeom prst="rect">
            <a:avLst/>
          </a:prstGeom>
          <a:solidFill>
            <a:srgbClr val="2E86AB"/>
          </a:solidFill>
          <a:ln w="12700">
            <a:solidFill>
              <a:srgbClr val="2E86AB"/>
            </a:solidFill>
            <a:prstDash val="solid"/>
          </a:ln>
        </p:spPr>
      </p:sp>
      <p:sp>
        <p:nvSpPr>
          <p:cNvPr id="13" name="Text 11"/>
          <p:cNvSpPr/>
          <p:nvPr/>
        </p:nvSpPr>
        <p:spPr>
          <a:xfrm>
            <a:off x="8549640" y="1389888"/>
            <a:ext cx="594360" cy="256032"/>
          </a:xfrm>
          <a:prstGeom prst="rect">
            <a:avLst/>
          </a:prstGeom>
          <a:noFill/>
          <a:ln/>
        </p:spPr>
        <p:txBody>
          <a:bodyPr wrap="square" lIns="0" tIns="0" rIns="0" bIns="0" rtlCol="0" anchor="ctr"/>
          <a:lstStyle/>
          <a:p>
            <a:pPr marL="0" indent="0" algn="r">
              <a:buNone/>
            </a:pPr>
            <a:r>
              <a:rPr lang="en-US" sz="1100" b="1" dirty="0">
                <a:solidFill>
                  <a:srgbClr val="2E86AB"/>
                </a:solidFill>
              </a:rPr>
              <a:t>42%</a:t>
            </a:r>
            <a:endParaRPr lang="en-US" sz="1100" dirty="0"/>
          </a:p>
        </p:txBody>
      </p:sp>
      <p:sp>
        <p:nvSpPr>
          <p:cNvPr id="14" name="Text 12"/>
          <p:cNvSpPr/>
          <p:nvPr/>
        </p:nvSpPr>
        <p:spPr>
          <a:xfrm>
            <a:off x="4800600" y="1719072"/>
            <a:ext cx="1554480" cy="256032"/>
          </a:xfrm>
          <a:prstGeom prst="rect">
            <a:avLst/>
          </a:prstGeom>
          <a:noFill/>
          <a:ln/>
        </p:spPr>
        <p:txBody>
          <a:bodyPr wrap="square" lIns="0" tIns="0" rIns="0" bIns="0" rtlCol="0" anchor="ctr"/>
          <a:lstStyle/>
          <a:p>
            <a:pPr marL="0" indent="0">
              <a:buNone/>
            </a:pPr>
            <a:r>
              <a:rPr lang="en-US" sz="1100" dirty="0">
                <a:solidFill>
                  <a:srgbClr val="0D1B2A"/>
                </a:solidFill>
              </a:rPr>
              <a:t>Age / Year</a:t>
            </a:r>
            <a:endParaRPr lang="en-US" sz="1100" dirty="0"/>
          </a:p>
        </p:txBody>
      </p:sp>
      <p:sp>
        <p:nvSpPr>
          <p:cNvPr id="15" name="Shape 13"/>
          <p:cNvSpPr/>
          <p:nvPr/>
        </p:nvSpPr>
        <p:spPr>
          <a:xfrm>
            <a:off x="6400800" y="1755648"/>
            <a:ext cx="588874" cy="182880"/>
          </a:xfrm>
          <a:prstGeom prst="rect">
            <a:avLst/>
          </a:prstGeom>
          <a:solidFill>
            <a:srgbClr val="1B4F72"/>
          </a:solidFill>
          <a:ln w="12700">
            <a:solidFill>
              <a:srgbClr val="1B4F72"/>
            </a:solidFill>
            <a:prstDash val="solid"/>
          </a:ln>
        </p:spPr>
      </p:sp>
      <p:sp>
        <p:nvSpPr>
          <p:cNvPr id="16" name="Text 14"/>
          <p:cNvSpPr/>
          <p:nvPr/>
        </p:nvSpPr>
        <p:spPr>
          <a:xfrm>
            <a:off x="8549640" y="1719072"/>
            <a:ext cx="594360" cy="256032"/>
          </a:xfrm>
          <a:prstGeom prst="rect">
            <a:avLst/>
          </a:prstGeom>
          <a:noFill/>
          <a:ln/>
        </p:spPr>
        <p:txBody>
          <a:bodyPr wrap="square" lIns="0" tIns="0" rIns="0" bIns="0" rtlCol="0" anchor="ctr"/>
          <a:lstStyle/>
          <a:p>
            <a:pPr marL="0" indent="0" algn="r">
              <a:buNone/>
            </a:pPr>
            <a:r>
              <a:rPr lang="en-US" sz="1100" b="1" dirty="0">
                <a:solidFill>
                  <a:srgbClr val="1B4F72"/>
                </a:solidFill>
              </a:rPr>
              <a:t>28%</a:t>
            </a:r>
            <a:endParaRPr lang="en-US" sz="1100" dirty="0"/>
          </a:p>
        </p:txBody>
      </p:sp>
      <p:sp>
        <p:nvSpPr>
          <p:cNvPr id="17" name="Text 15"/>
          <p:cNvSpPr/>
          <p:nvPr/>
        </p:nvSpPr>
        <p:spPr>
          <a:xfrm>
            <a:off x="4800600" y="2048256"/>
            <a:ext cx="1554480" cy="256032"/>
          </a:xfrm>
          <a:prstGeom prst="rect">
            <a:avLst/>
          </a:prstGeom>
          <a:noFill/>
          <a:ln/>
        </p:spPr>
        <p:txBody>
          <a:bodyPr wrap="square" lIns="0" tIns="0" rIns="0" bIns="0" rtlCol="0" anchor="ctr"/>
          <a:lstStyle/>
          <a:p>
            <a:pPr marL="0" indent="0">
              <a:buNone/>
            </a:pPr>
            <a:r>
              <a:rPr lang="en-US" sz="1100" dirty="0">
                <a:solidFill>
                  <a:srgbClr val="0D1B2A"/>
                </a:solidFill>
              </a:rPr>
              <a:t>KM Driven</a:t>
            </a:r>
            <a:endParaRPr lang="en-US" sz="1100" dirty="0"/>
          </a:p>
        </p:txBody>
      </p:sp>
      <p:sp>
        <p:nvSpPr>
          <p:cNvPr id="18" name="Shape 16"/>
          <p:cNvSpPr/>
          <p:nvPr/>
        </p:nvSpPr>
        <p:spPr>
          <a:xfrm>
            <a:off x="6400800" y="2084832"/>
            <a:ext cx="336499" cy="182880"/>
          </a:xfrm>
          <a:prstGeom prst="rect">
            <a:avLst/>
          </a:prstGeom>
          <a:solidFill>
            <a:srgbClr val="E67E22"/>
          </a:solidFill>
          <a:ln w="12700">
            <a:solidFill>
              <a:srgbClr val="E67E22"/>
            </a:solidFill>
            <a:prstDash val="solid"/>
          </a:ln>
        </p:spPr>
      </p:sp>
      <p:sp>
        <p:nvSpPr>
          <p:cNvPr id="19" name="Text 17"/>
          <p:cNvSpPr/>
          <p:nvPr/>
        </p:nvSpPr>
        <p:spPr>
          <a:xfrm>
            <a:off x="8549640" y="2048256"/>
            <a:ext cx="594360" cy="256032"/>
          </a:xfrm>
          <a:prstGeom prst="rect">
            <a:avLst/>
          </a:prstGeom>
          <a:noFill/>
          <a:ln/>
        </p:spPr>
        <p:txBody>
          <a:bodyPr wrap="square" lIns="0" tIns="0" rIns="0" bIns="0" rtlCol="0" anchor="ctr"/>
          <a:lstStyle/>
          <a:p>
            <a:pPr marL="0" indent="0" algn="r">
              <a:buNone/>
            </a:pPr>
            <a:r>
              <a:rPr lang="en-US" sz="1100" b="1" dirty="0">
                <a:solidFill>
                  <a:srgbClr val="E67E22"/>
                </a:solidFill>
              </a:rPr>
              <a:t>16%</a:t>
            </a:r>
            <a:endParaRPr lang="en-US" sz="1100" dirty="0"/>
          </a:p>
        </p:txBody>
      </p:sp>
      <p:sp>
        <p:nvSpPr>
          <p:cNvPr id="20" name="Text 18"/>
          <p:cNvSpPr/>
          <p:nvPr/>
        </p:nvSpPr>
        <p:spPr>
          <a:xfrm>
            <a:off x="4800600" y="2377440"/>
            <a:ext cx="1554480" cy="256032"/>
          </a:xfrm>
          <a:prstGeom prst="rect">
            <a:avLst/>
          </a:prstGeom>
          <a:noFill/>
          <a:ln/>
        </p:spPr>
        <p:txBody>
          <a:bodyPr wrap="square" lIns="0" tIns="0" rIns="0" bIns="0" rtlCol="0" anchor="ctr"/>
          <a:lstStyle/>
          <a:p>
            <a:pPr marL="0" indent="0">
              <a:buNone/>
            </a:pPr>
            <a:r>
              <a:rPr lang="en-US" sz="1100" dirty="0">
                <a:solidFill>
                  <a:srgbClr val="0D1B2A"/>
                </a:solidFill>
              </a:rPr>
              <a:t>Fuel Type</a:t>
            </a:r>
            <a:endParaRPr lang="en-US" sz="1100" dirty="0"/>
          </a:p>
        </p:txBody>
      </p:sp>
      <p:sp>
        <p:nvSpPr>
          <p:cNvPr id="21" name="Shape 19"/>
          <p:cNvSpPr/>
          <p:nvPr/>
        </p:nvSpPr>
        <p:spPr>
          <a:xfrm>
            <a:off x="6400800" y="2414016"/>
            <a:ext cx="168250" cy="182880"/>
          </a:xfrm>
          <a:prstGeom prst="rect">
            <a:avLst/>
          </a:prstGeom>
          <a:solidFill>
            <a:srgbClr val="27AE60"/>
          </a:solidFill>
          <a:ln w="12700">
            <a:solidFill>
              <a:srgbClr val="27AE60"/>
            </a:solidFill>
            <a:prstDash val="solid"/>
          </a:ln>
        </p:spPr>
      </p:sp>
      <p:sp>
        <p:nvSpPr>
          <p:cNvPr id="22" name="Text 20"/>
          <p:cNvSpPr/>
          <p:nvPr/>
        </p:nvSpPr>
        <p:spPr>
          <a:xfrm>
            <a:off x="8549640" y="2377440"/>
            <a:ext cx="594360" cy="256032"/>
          </a:xfrm>
          <a:prstGeom prst="rect">
            <a:avLst/>
          </a:prstGeom>
          <a:noFill/>
          <a:ln/>
        </p:spPr>
        <p:txBody>
          <a:bodyPr wrap="square" lIns="0" tIns="0" rIns="0" bIns="0" rtlCol="0" anchor="ctr"/>
          <a:lstStyle/>
          <a:p>
            <a:pPr marL="0" indent="0" algn="r">
              <a:buNone/>
            </a:pPr>
            <a:r>
              <a:rPr lang="en-US" sz="1100" b="1" dirty="0">
                <a:solidFill>
                  <a:srgbClr val="27AE60"/>
                </a:solidFill>
              </a:rPr>
              <a:t>8%</a:t>
            </a:r>
            <a:endParaRPr lang="en-US" sz="1100" dirty="0"/>
          </a:p>
        </p:txBody>
      </p:sp>
      <p:sp>
        <p:nvSpPr>
          <p:cNvPr id="23" name="Text 21"/>
          <p:cNvSpPr/>
          <p:nvPr/>
        </p:nvSpPr>
        <p:spPr>
          <a:xfrm>
            <a:off x="4800600" y="2706624"/>
            <a:ext cx="1554480" cy="256032"/>
          </a:xfrm>
          <a:prstGeom prst="rect">
            <a:avLst/>
          </a:prstGeom>
          <a:noFill/>
          <a:ln/>
        </p:spPr>
        <p:txBody>
          <a:bodyPr wrap="square" lIns="0" tIns="0" rIns="0" bIns="0" rtlCol="0" anchor="ctr"/>
          <a:lstStyle/>
          <a:p>
            <a:pPr marL="0" indent="0">
              <a:buNone/>
            </a:pPr>
            <a:r>
              <a:rPr lang="en-US" sz="1100" dirty="0">
                <a:solidFill>
                  <a:srgbClr val="0D1B2A"/>
                </a:solidFill>
              </a:rPr>
              <a:t>Transmission</a:t>
            </a:r>
            <a:endParaRPr lang="en-US" sz="1100" dirty="0"/>
          </a:p>
        </p:txBody>
      </p:sp>
      <p:sp>
        <p:nvSpPr>
          <p:cNvPr id="24" name="Shape 22"/>
          <p:cNvSpPr/>
          <p:nvPr/>
        </p:nvSpPr>
        <p:spPr>
          <a:xfrm>
            <a:off x="6400800" y="2743200"/>
            <a:ext cx="126187" cy="182880"/>
          </a:xfrm>
          <a:prstGeom prst="rect">
            <a:avLst/>
          </a:prstGeom>
          <a:solidFill>
            <a:srgbClr val="F39C12"/>
          </a:solidFill>
          <a:ln w="12700">
            <a:solidFill>
              <a:srgbClr val="F39C12"/>
            </a:solidFill>
            <a:prstDash val="solid"/>
          </a:ln>
        </p:spPr>
      </p:sp>
      <p:sp>
        <p:nvSpPr>
          <p:cNvPr id="25" name="Text 23"/>
          <p:cNvSpPr/>
          <p:nvPr/>
        </p:nvSpPr>
        <p:spPr>
          <a:xfrm>
            <a:off x="8549640" y="2706624"/>
            <a:ext cx="594360" cy="256032"/>
          </a:xfrm>
          <a:prstGeom prst="rect">
            <a:avLst/>
          </a:prstGeom>
          <a:noFill/>
          <a:ln/>
        </p:spPr>
        <p:txBody>
          <a:bodyPr wrap="square" lIns="0" tIns="0" rIns="0" bIns="0" rtlCol="0" anchor="ctr"/>
          <a:lstStyle/>
          <a:p>
            <a:pPr marL="0" indent="0" algn="r">
              <a:buNone/>
            </a:pPr>
            <a:r>
              <a:rPr lang="en-US" sz="1100" b="1" dirty="0">
                <a:solidFill>
                  <a:srgbClr val="F39C12"/>
                </a:solidFill>
              </a:rPr>
              <a:t>6%</a:t>
            </a:r>
            <a:endParaRPr lang="en-US" sz="1100" dirty="0"/>
          </a:p>
        </p:txBody>
      </p:sp>
      <p:sp>
        <p:nvSpPr>
          <p:cNvPr id="26" name="Shape 24"/>
          <p:cNvSpPr/>
          <p:nvPr/>
        </p:nvSpPr>
        <p:spPr>
          <a:xfrm>
            <a:off x="457200" y="3200400"/>
            <a:ext cx="8229600" cy="1645920"/>
          </a:xfrm>
          <a:prstGeom prst="rect">
            <a:avLst/>
          </a:prstGeom>
          <a:solidFill>
            <a:srgbClr val="FFFFFF"/>
          </a:solidFill>
          <a:ln/>
          <a:effectLst>
            <a:outerShdw blurRad="50800" dist="12700" dir="8100000" algn="bl" rotWithShape="0">
              <a:srgbClr val="000000">
                <a:alpha val="8000"/>
              </a:srgbClr>
            </a:outerShdw>
          </a:effectLst>
        </p:spPr>
      </p:sp>
      <p:sp>
        <p:nvSpPr>
          <p:cNvPr id="27" name="Text 25"/>
          <p:cNvSpPr/>
          <p:nvPr/>
        </p:nvSpPr>
        <p:spPr>
          <a:xfrm>
            <a:off x="594360" y="3264408"/>
            <a:ext cx="3657600" cy="274320"/>
          </a:xfrm>
          <a:prstGeom prst="rect">
            <a:avLst/>
          </a:prstGeom>
          <a:noFill/>
          <a:ln/>
        </p:spPr>
        <p:txBody>
          <a:bodyPr wrap="square" lIns="0" tIns="0" rIns="0" bIns="0" rtlCol="0" anchor="ctr"/>
          <a:lstStyle/>
          <a:p>
            <a:pPr marL="0" indent="0">
              <a:buNone/>
            </a:pPr>
            <a:r>
              <a:rPr lang="en-US" sz="1400" b="1" dirty="0">
                <a:solidFill>
                  <a:srgbClr val="0D1B2A"/>
                </a:solidFill>
              </a:rPr>
              <a:t>Why Random Forest?</a:t>
            </a:r>
            <a:endParaRPr lang="en-US" sz="1400" dirty="0"/>
          </a:p>
        </p:txBody>
      </p:sp>
      <p:sp>
        <p:nvSpPr>
          <p:cNvPr id="28" name="Text 26"/>
          <p:cNvSpPr/>
          <p:nvPr/>
        </p:nvSpPr>
        <p:spPr>
          <a:xfrm>
            <a:off x="594360" y="3611880"/>
            <a:ext cx="7863840" cy="114300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 Handles non-linear relationships between features and price</a:t>
            </a:r>
            <a:endParaRPr lang="en-US" sz="1200" dirty="0"/>
          </a:p>
          <a:p>
            <a:pPr marL="0" indent="0">
              <a:buNone/>
            </a:pPr>
            <a:r>
              <a:rPr lang="en-US" sz="1200" dirty="0">
                <a:solidFill>
                  <a:srgbClr val="0D1B2A"/>
                </a:solidFill>
                <a:latin typeface="Calibri" pitchFamily="34" charset="0"/>
                <a:ea typeface="Calibri" pitchFamily="34" charset="-122"/>
                <a:cs typeface="Calibri" pitchFamily="34" charset="-120"/>
              </a:rPr>
              <a:t>✅ Robust to outliers — cars range ₹15K to ₹4.25 Cr</a:t>
            </a:r>
            <a:endParaRPr lang="en-US" sz="1200" dirty="0"/>
          </a:p>
          <a:p>
            <a:pPr marL="0" indent="0">
              <a:buNone/>
            </a:pPr>
            <a:r>
              <a:rPr lang="en-US" sz="1200" dirty="0">
                <a:solidFill>
                  <a:srgbClr val="0D1B2A"/>
                </a:solidFill>
                <a:latin typeface="Calibri" pitchFamily="34" charset="0"/>
                <a:ea typeface="Calibri" pitchFamily="34" charset="-122"/>
                <a:cs typeface="Calibri" pitchFamily="34" charset="-120"/>
              </a:rPr>
              <a:t>✅ Works well with categorical features after encoding</a:t>
            </a:r>
            <a:endParaRPr lang="en-US" sz="1200" dirty="0"/>
          </a:p>
          <a:p>
            <a:pPr marL="0" indent="0">
              <a:buNone/>
            </a:pPr>
            <a:r>
              <a:rPr lang="en-US" sz="1200" dirty="0">
                <a:solidFill>
                  <a:srgbClr val="0D1B2A"/>
                </a:solidFill>
                <a:latin typeface="Calibri" pitchFamily="34" charset="0"/>
                <a:ea typeface="Calibri" pitchFamily="34" charset="-122"/>
                <a:cs typeface="Calibri" pitchFamily="34" charset="-120"/>
              </a:rPr>
              <a:t>✅ Ensemble of 200 trees reduces overfitting significantly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7498080" y="-457200"/>
            <a:ext cx="2743200" cy="2743200"/>
          </a:xfrm>
          <a:prstGeom prst="ellipse">
            <a:avLst/>
          </a:prstGeom>
          <a:solidFill>
            <a:srgbClr val="2E86AB">
              <a:alpha val="25000"/>
            </a:srgbClr>
          </a:solidFill>
          <a:ln w="12700">
            <a:solidFill>
              <a:srgbClr val="2E86AB">
                <a:alpha val="25000"/>
              </a:srgbClr>
            </a:solidFill>
            <a:prstDash val="solid"/>
          </a:ln>
        </p:spPr>
      </p:sp>
      <p:sp>
        <p:nvSpPr>
          <p:cNvPr id="3" name="Text 1"/>
          <p:cNvSpPr/>
          <p:nvPr/>
        </p:nvSpPr>
        <p:spPr>
          <a:xfrm>
            <a:off x="640080" y="822960"/>
            <a:ext cx="3657600" cy="457200"/>
          </a:xfrm>
          <a:prstGeom prst="rect">
            <a:avLst/>
          </a:prstGeom>
          <a:noFill/>
          <a:ln/>
        </p:spPr>
        <p:txBody>
          <a:bodyPr wrap="square" rtlCol="0" anchor="ctr"/>
          <a:lstStyle/>
          <a:p>
            <a:pPr marL="0" indent="0">
              <a:buNone/>
            </a:pPr>
            <a:r>
              <a:rPr lang="en-US" sz="1400" i="1" dirty="0">
                <a:solidFill>
                  <a:srgbClr val="A0C4FF"/>
                </a:solidFill>
                <a:latin typeface="Calibri" pitchFamily="34" charset="0"/>
                <a:ea typeface="Calibri" pitchFamily="34" charset="-122"/>
                <a:cs typeface="Calibri" pitchFamily="34" charset="-120"/>
              </a:rPr>
              <a:t>Section 06</a:t>
            </a:r>
            <a:endParaRPr lang="en-US" sz="1400" dirty="0"/>
          </a:p>
        </p:txBody>
      </p:sp>
      <p:sp>
        <p:nvSpPr>
          <p:cNvPr id="4" name="Text 2"/>
          <p:cNvSpPr/>
          <p:nvPr/>
        </p:nvSpPr>
        <p:spPr>
          <a:xfrm>
            <a:off x="640080" y="1371600"/>
            <a:ext cx="7589520" cy="10972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Streamlit Application</a:t>
            </a:r>
            <a:endParaRPr lang="en-US" sz="3600" dirty="0"/>
          </a:p>
        </p:txBody>
      </p:sp>
      <p:sp>
        <p:nvSpPr>
          <p:cNvPr id="5" name="Text 3"/>
          <p:cNvSpPr/>
          <p:nvPr/>
        </p:nvSpPr>
        <p:spPr>
          <a:xfrm>
            <a:off x="640080" y="2651760"/>
            <a:ext cx="6400800" cy="640080"/>
          </a:xfrm>
          <a:prstGeom prst="rect">
            <a:avLst/>
          </a:prstGeom>
          <a:noFill/>
          <a:ln/>
        </p:spPr>
        <p:txBody>
          <a:bodyPr wrap="square" rtlCol="0" anchor="ctr"/>
          <a:lstStyle/>
          <a:p>
            <a:pPr marL="0" indent="0">
              <a:buNone/>
            </a:pPr>
            <a:r>
              <a:rPr lang="en-US" sz="1600" dirty="0">
                <a:solidFill>
                  <a:srgbClr val="D6EAF8"/>
                </a:solidFill>
                <a:latin typeface="Calibri" pitchFamily="34" charset="0"/>
                <a:ea typeface="Calibri" pitchFamily="34" charset="-122"/>
                <a:cs typeface="Calibri" pitchFamily="34" charset="-120"/>
              </a:rPr>
              <a:t>Interactive real-time price prediction web app</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Streamlit App — Features &amp; UI</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960120"/>
            <a:ext cx="4160520" cy="1078992"/>
          </a:xfrm>
          <a:prstGeom prst="rect">
            <a:avLst/>
          </a:prstGeom>
          <a:solidFill>
            <a:srgbClr val="FFFFFF"/>
          </a:solidFill>
          <a:ln/>
          <a:effectLst>
            <a:outerShdw blurRad="63500" dist="25400" dir="8100000" algn="bl" rotWithShape="0">
              <a:srgbClr val="000000">
                <a:alpha val="9000"/>
              </a:srgbClr>
            </a:outerShdw>
          </a:effectLst>
        </p:spPr>
      </p:sp>
      <p:sp>
        <p:nvSpPr>
          <p:cNvPr id="5" name="Shape 3"/>
          <p:cNvSpPr/>
          <p:nvPr/>
        </p:nvSpPr>
        <p:spPr>
          <a:xfrm>
            <a:off x="566928" y="1124712"/>
            <a:ext cx="502920" cy="502920"/>
          </a:xfrm>
          <a:prstGeom prst="ellipse">
            <a:avLst/>
          </a:prstGeom>
          <a:solidFill>
            <a:srgbClr val="2E86AB"/>
          </a:solidFill>
          <a:ln w="12700">
            <a:solidFill>
              <a:srgbClr val="2E86AB"/>
            </a:solidFill>
            <a:prstDash val="solid"/>
          </a:ln>
        </p:spPr>
      </p:sp>
      <p:sp>
        <p:nvSpPr>
          <p:cNvPr id="6" name="Text 4"/>
          <p:cNvSpPr/>
          <p:nvPr/>
        </p:nvSpPr>
        <p:spPr>
          <a:xfrm>
            <a:off x="566928" y="1124712"/>
            <a:ext cx="502920"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7" name="Text 5"/>
          <p:cNvSpPr/>
          <p:nvPr/>
        </p:nvSpPr>
        <p:spPr>
          <a:xfrm>
            <a:off x="1207008" y="1069848"/>
            <a:ext cx="329184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Car Selection</a:t>
            </a:r>
            <a:endParaRPr lang="en-US" sz="1300" dirty="0"/>
          </a:p>
        </p:txBody>
      </p:sp>
      <p:sp>
        <p:nvSpPr>
          <p:cNvPr id="8" name="Text 6"/>
          <p:cNvSpPr/>
          <p:nvPr/>
        </p:nvSpPr>
        <p:spPr>
          <a:xfrm>
            <a:off x="1207008" y="1362456"/>
            <a:ext cx="3291840" cy="54864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Choose brand, model, year, KM driven via dropdowns and number inputs</a:t>
            </a:r>
            <a:endParaRPr lang="en-US" sz="1100" dirty="0"/>
          </a:p>
        </p:txBody>
      </p:sp>
      <p:sp>
        <p:nvSpPr>
          <p:cNvPr id="9" name="Shape 7"/>
          <p:cNvSpPr/>
          <p:nvPr/>
        </p:nvSpPr>
        <p:spPr>
          <a:xfrm>
            <a:off x="4800600" y="960120"/>
            <a:ext cx="4160520" cy="1078992"/>
          </a:xfrm>
          <a:prstGeom prst="rect">
            <a:avLst/>
          </a:prstGeom>
          <a:solidFill>
            <a:srgbClr val="FFFFFF"/>
          </a:solidFill>
          <a:ln/>
          <a:effectLst>
            <a:outerShdw blurRad="63500" dist="25400" dir="8100000" algn="bl" rotWithShape="0">
              <a:srgbClr val="000000">
                <a:alpha val="9000"/>
              </a:srgbClr>
            </a:outerShdw>
          </a:effectLst>
        </p:spPr>
      </p:sp>
      <p:sp>
        <p:nvSpPr>
          <p:cNvPr id="10" name="Shape 8"/>
          <p:cNvSpPr/>
          <p:nvPr/>
        </p:nvSpPr>
        <p:spPr>
          <a:xfrm>
            <a:off x="4910328" y="1124712"/>
            <a:ext cx="502920" cy="502920"/>
          </a:xfrm>
          <a:prstGeom prst="ellipse">
            <a:avLst/>
          </a:prstGeom>
          <a:solidFill>
            <a:srgbClr val="2E86AB"/>
          </a:solidFill>
          <a:ln w="12700">
            <a:solidFill>
              <a:srgbClr val="2E86AB"/>
            </a:solidFill>
            <a:prstDash val="solid"/>
          </a:ln>
        </p:spPr>
      </p:sp>
      <p:sp>
        <p:nvSpPr>
          <p:cNvPr id="11" name="Text 9"/>
          <p:cNvSpPr/>
          <p:nvPr/>
        </p:nvSpPr>
        <p:spPr>
          <a:xfrm>
            <a:off x="4910328" y="1124712"/>
            <a:ext cx="502920"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2" name="Text 10"/>
          <p:cNvSpPr/>
          <p:nvPr/>
        </p:nvSpPr>
        <p:spPr>
          <a:xfrm>
            <a:off x="5550408" y="1069848"/>
            <a:ext cx="329184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Fuel &amp; Transmission</a:t>
            </a:r>
            <a:endParaRPr lang="en-US" sz="1300" dirty="0"/>
          </a:p>
        </p:txBody>
      </p:sp>
      <p:sp>
        <p:nvSpPr>
          <p:cNvPr id="13" name="Text 11"/>
          <p:cNvSpPr/>
          <p:nvPr/>
        </p:nvSpPr>
        <p:spPr>
          <a:xfrm>
            <a:off x="5550408" y="1362456"/>
            <a:ext cx="3291840" cy="54864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Select fuel type and gearbox from dynamic lists populated from data</a:t>
            </a:r>
            <a:endParaRPr lang="en-US" sz="1100" dirty="0"/>
          </a:p>
        </p:txBody>
      </p:sp>
      <p:sp>
        <p:nvSpPr>
          <p:cNvPr id="14" name="Shape 12"/>
          <p:cNvSpPr/>
          <p:nvPr/>
        </p:nvSpPr>
        <p:spPr>
          <a:xfrm>
            <a:off x="457200" y="2221992"/>
            <a:ext cx="4160520" cy="1078992"/>
          </a:xfrm>
          <a:prstGeom prst="rect">
            <a:avLst/>
          </a:prstGeom>
          <a:solidFill>
            <a:srgbClr val="FFFFFF"/>
          </a:solidFill>
          <a:ln/>
          <a:effectLst>
            <a:outerShdw blurRad="63500" dist="25400" dir="8100000" algn="bl" rotWithShape="0">
              <a:srgbClr val="000000">
                <a:alpha val="9000"/>
              </a:srgbClr>
            </a:outerShdw>
          </a:effectLst>
        </p:spPr>
      </p:sp>
      <p:sp>
        <p:nvSpPr>
          <p:cNvPr id="15" name="Shape 13"/>
          <p:cNvSpPr/>
          <p:nvPr/>
        </p:nvSpPr>
        <p:spPr>
          <a:xfrm>
            <a:off x="566928" y="2386584"/>
            <a:ext cx="502920" cy="502920"/>
          </a:xfrm>
          <a:prstGeom prst="ellipse">
            <a:avLst/>
          </a:prstGeom>
          <a:solidFill>
            <a:srgbClr val="2E86AB"/>
          </a:solidFill>
          <a:ln w="12700">
            <a:solidFill>
              <a:srgbClr val="2E86AB"/>
            </a:solidFill>
            <a:prstDash val="solid"/>
          </a:ln>
        </p:spPr>
      </p:sp>
      <p:sp>
        <p:nvSpPr>
          <p:cNvPr id="16" name="Text 14"/>
          <p:cNvSpPr/>
          <p:nvPr/>
        </p:nvSpPr>
        <p:spPr>
          <a:xfrm>
            <a:off x="566928" y="2386584"/>
            <a:ext cx="502920"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7" name="Text 15"/>
          <p:cNvSpPr/>
          <p:nvPr/>
        </p:nvSpPr>
        <p:spPr>
          <a:xfrm>
            <a:off x="1207008" y="2331720"/>
            <a:ext cx="329184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Instant Prediction</a:t>
            </a:r>
            <a:endParaRPr lang="en-US" sz="1300" dirty="0"/>
          </a:p>
        </p:txBody>
      </p:sp>
      <p:sp>
        <p:nvSpPr>
          <p:cNvPr id="18" name="Text 16"/>
          <p:cNvSpPr/>
          <p:nvPr/>
        </p:nvSpPr>
        <p:spPr>
          <a:xfrm>
            <a:off x="1207008" y="2624328"/>
            <a:ext cx="3291840" cy="54864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Click 'Predict Price' → Random Forest returns estimated ₹ value in real-time</a:t>
            </a:r>
            <a:endParaRPr lang="en-US" sz="1100" dirty="0"/>
          </a:p>
        </p:txBody>
      </p:sp>
      <p:sp>
        <p:nvSpPr>
          <p:cNvPr id="19" name="Shape 17"/>
          <p:cNvSpPr/>
          <p:nvPr/>
        </p:nvSpPr>
        <p:spPr>
          <a:xfrm>
            <a:off x="4800600" y="2221992"/>
            <a:ext cx="4160520" cy="1078992"/>
          </a:xfrm>
          <a:prstGeom prst="rect">
            <a:avLst/>
          </a:prstGeom>
          <a:solidFill>
            <a:srgbClr val="FFFFFF"/>
          </a:solidFill>
          <a:ln/>
          <a:effectLst>
            <a:outerShdw blurRad="63500" dist="25400" dir="8100000" algn="bl" rotWithShape="0">
              <a:srgbClr val="000000">
                <a:alpha val="9000"/>
              </a:srgbClr>
            </a:outerShdw>
          </a:effectLst>
        </p:spPr>
      </p:sp>
      <p:sp>
        <p:nvSpPr>
          <p:cNvPr id="20" name="Shape 18"/>
          <p:cNvSpPr/>
          <p:nvPr/>
        </p:nvSpPr>
        <p:spPr>
          <a:xfrm>
            <a:off x="4910328" y="2386584"/>
            <a:ext cx="502920" cy="502920"/>
          </a:xfrm>
          <a:prstGeom prst="ellipse">
            <a:avLst/>
          </a:prstGeom>
          <a:solidFill>
            <a:srgbClr val="2E86AB"/>
          </a:solidFill>
          <a:ln w="12700">
            <a:solidFill>
              <a:srgbClr val="2E86AB"/>
            </a:solidFill>
            <a:prstDash val="solid"/>
          </a:ln>
        </p:spPr>
      </p:sp>
      <p:sp>
        <p:nvSpPr>
          <p:cNvPr id="21" name="Text 19"/>
          <p:cNvSpPr/>
          <p:nvPr/>
        </p:nvSpPr>
        <p:spPr>
          <a:xfrm>
            <a:off x="4910328" y="2386584"/>
            <a:ext cx="502920"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2" name="Text 20"/>
          <p:cNvSpPr/>
          <p:nvPr/>
        </p:nvSpPr>
        <p:spPr>
          <a:xfrm>
            <a:off x="5550408" y="2331720"/>
            <a:ext cx="329184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Price Category</a:t>
            </a:r>
            <a:endParaRPr lang="en-US" sz="1300" dirty="0"/>
          </a:p>
        </p:txBody>
      </p:sp>
      <p:sp>
        <p:nvSpPr>
          <p:cNvPr id="23" name="Text 21"/>
          <p:cNvSpPr/>
          <p:nvPr/>
        </p:nvSpPr>
        <p:spPr>
          <a:xfrm>
            <a:off x="5550408" y="2624328"/>
            <a:ext cx="3291840" cy="54864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Auto-classifies: Budget (&lt;₹3L), Mid-Range (₹3L–₹8L), Premium (&gt;₹8L)</a:t>
            </a:r>
            <a:endParaRPr lang="en-US" sz="1100" dirty="0"/>
          </a:p>
        </p:txBody>
      </p:sp>
      <p:sp>
        <p:nvSpPr>
          <p:cNvPr id="24" name="Shape 22"/>
          <p:cNvSpPr/>
          <p:nvPr/>
        </p:nvSpPr>
        <p:spPr>
          <a:xfrm>
            <a:off x="457200" y="3483864"/>
            <a:ext cx="4160520" cy="1078992"/>
          </a:xfrm>
          <a:prstGeom prst="rect">
            <a:avLst/>
          </a:prstGeom>
          <a:solidFill>
            <a:srgbClr val="FFFFFF"/>
          </a:solidFill>
          <a:ln/>
          <a:effectLst>
            <a:outerShdw blurRad="63500" dist="25400" dir="8100000" algn="bl" rotWithShape="0">
              <a:srgbClr val="000000">
                <a:alpha val="9000"/>
              </a:srgbClr>
            </a:outerShdw>
          </a:effectLst>
        </p:spPr>
      </p:sp>
      <p:sp>
        <p:nvSpPr>
          <p:cNvPr id="25" name="Shape 23"/>
          <p:cNvSpPr/>
          <p:nvPr/>
        </p:nvSpPr>
        <p:spPr>
          <a:xfrm>
            <a:off x="566928" y="3648456"/>
            <a:ext cx="502920" cy="502920"/>
          </a:xfrm>
          <a:prstGeom prst="ellipse">
            <a:avLst/>
          </a:prstGeom>
          <a:solidFill>
            <a:srgbClr val="2E86AB"/>
          </a:solidFill>
          <a:ln w="12700">
            <a:solidFill>
              <a:srgbClr val="2E86AB"/>
            </a:solidFill>
            <a:prstDash val="solid"/>
          </a:ln>
        </p:spPr>
      </p:sp>
      <p:sp>
        <p:nvSpPr>
          <p:cNvPr id="26" name="Text 24"/>
          <p:cNvSpPr/>
          <p:nvPr/>
        </p:nvSpPr>
        <p:spPr>
          <a:xfrm>
            <a:off x="566928" y="3648456"/>
            <a:ext cx="502920"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7" name="Text 25"/>
          <p:cNvSpPr/>
          <p:nvPr/>
        </p:nvSpPr>
        <p:spPr>
          <a:xfrm>
            <a:off x="1207008" y="3593592"/>
            <a:ext cx="329184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Similar Cars</a:t>
            </a:r>
            <a:endParaRPr lang="en-US" sz="1300" dirty="0"/>
          </a:p>
        </p:txBody>
      </p:sp>
      <p:sp>
        <p:nvSpPr>
          <p:cNvPr id="28" name="Text 26"/>
          <p:cNvSpPr/>
          <p:nvPr/>
        </p:nvSpPr>
        <p:spPr>
          <a:xfrm>
            <a:off x="1207008" y="3886200"/>
            <a:ext cx="3291840" cy="54864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Shows top 5 matching listings from the dataset for comparison</a:t>
            </a:r>
            <a:endParaRPr lang="en-US" sz="1100" dirty="0"/>
          </a:p>
        </p:txBody>
      </p:sp>
      <p:sp>
        <p:nvSpPr>
          <p:cNvPr id="29" name="Shape 27"/>
          <p:cNvSpPr/>
          <p:nvPr/>
        </p:nvSpPr>
        <p:spPr>
          <a:xfrm>
            <a:off x="4800600" y="3483864"/>
            <a:ext cx="4160520" cy="1078992"/>
          </a:xfrm>
          <a:prstGeom prst="rect">
            <a:avLst/>
          </a:prstGeom>
          <a:solidFill>
            <a:srgbClr val="FFFFFF"/>
          </a:solidFill>
          <a:ln/>
          <a:effectLst>
            <a:outerShdw blurRad="63500" dist="25400" dir="8100000" algn="bl" rotWithShape="0">
              <a:srgbClr val="000000">
                <a:alpha val="9000"/>
              </a:srgbClr>
            </a:outerShdw>
          </a:effectLst>
        </p:spPr>
      </p:sp>
      <p:sp>
        <p:nvSpPr>
          <p:cNvPr id="30" name="Shape 28"/>
          <p:cNvSpPr/>
          <p:nvPr/>
        </p:nvSpPr>
        <p:spPr>
          <a:xfrm>
            <a:off x="4910328" y="3648456"/>
            <a:ext cx="502920" cy="502920"/>
          </a:xfrm>
          <a:prstGeom prst="ellipse">
            <a:avLst/>
          </a:prstGeom>
          <a:solidFill>
            <a:srgbClr val="2E86AB"/>
          </a:solidFill>
          <a:ln w="12700">
            <a:solidFill>
              <a:srgbClr val="2E86AB"/>
            </a:solidFill>
            <a:prstDash val="solid"/>
          </a:ln>
        </p:spPr>
      </p:sp>
      <p:sp>
        <p:nvSpPr>
          <p:cNvPr id="31" name="Text 29"/>
          <p:cNvSpPr/>
          <p:nvPr/>
        </p:nvSpPr>
        <p:spPr>
          <a:xfrm>
            <a:off x="4910328" y="3648456"/>
            <a:ext cx="502920"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2" name="Text 30"/>
          <p:cNvSpPr/>
          <p:nvPr/>
        </p:nvSpPr>
        <p:spPr>
          <a:xfrm>
            <a:off x="5550408" y="3593592"/>
            <a:ext cx="329184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Accuracy Display</a:t>
            </a:r>
            <a:endParaRPr lang="en-US" sz="1300" dirty="0"/>
          </a:p>
        </p:txBody>
      </p:sp>
      <p:sp>
        <p:nvSpPr>
          <p:cNvPr id="33" name="Text 31"/>
          <p:cNvSpPr/>
          <p:nvPr/>
        </p:nvSpPr>
        <p:spPr>
          <a:xfrm>
            <a:off x="5550408" y="3886200"/>
            <a:ext cx="3291840" cy="54864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R² score shown prominently so users can trust the prediction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Technology Stack</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1005840"/>
            <a:ext cx="502920" cy="475488"/>
          </a:xfrm>
          <a:prstGeom prst="rect">
            <a:avLst/>
          </a:prstGeom>
          <a:solidFill>
            <a:srgbClr val="3776AB"/>
          </a:solidFill>
          <a:ln w="12700">
            <a:solidFill>
              <a:srgbClr val="3776AB"/>
            </a:solidFill>
            <a:prstDash val="solid"/>
          </a:ln>
        </p:spPr>
      </p:sp>
      <p:sp>
        <p:nvSpPr>
          <p:cNvPr id="5" name="Text 3"/>
          <p:cNvSpPr/>
          <p:nvPr/>
        </p:nvSpPr>
        <p:spPr>
          <a:xfrm>
            <a:off x="457200" y="1005840"/>
            <a:ext cx="502920"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Python</a:t>
            </a:r>
            <a:endParaRPr lang="en-US" sz="1000" dirty="0"/>
          </a:p>
        </p:txBody>
      </p:sp>
      <p:sp>
        <p:nvSpPr>
          <p:cNvPr id="6" name="Text 4"/>
          <p:cNvSpPr/>
          <p:nvPr/>
        </p:nvSpPr>
        <p:spPr>
          <a:xfrm>
            <a:off x="1097280" y="1024128"/>
            <a:ext cx="1828800" cy="25603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Python</a:t>
            </a:r>
            <a:endParaRPr lang="en-US" sz="1300" dirty="0"/>
          </a:p>
        </p:txBody>
      </p:sp>
      <p:sp>
        <p:nvSpPr>
          <p:cNvPr id="7" name="Text 5"/>
          <p:cNvSpPr/>
          <p:nvPr/>
        </p:nvSpPr>
        <p:spPr>
          <a:xfrm>
            <a:off x="1097280" y="1280160"/>
            <a:ext cx="7406640" cy="20116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Core programming language for all data &amp; ML work</a:t>
            </a:r>
            <a:endParaRPr lang="en-US" sz="1100" dirty="0"/>
          </a:p>
        </p:txBody>
      </p:sp>
      <p:sp>
        <p:nvSpPr>
          <p:cNvPr id="8" name="Shape 6"/>
          <p:cNvSpPr/>
          <p:nvPr/>
        </p:nvSpPr>
        <p:spPr>
          <a:xfrm>
            <a:off x="457200" y="1664208"/>
            <a:ext cx="502920" cy="475488"/>
          </a:xfrm>
          <a:prstGeom prst="rect">
            <a:avLst/>
          </a:prstGeom>
          <a:solidFill>
            <a:srgbClr val="150458"/>
          </a:solidFill>
          <a:ln w="12700">
            <a:solidFill>
              <a:srgbClr val="150458"/>
            </a:solidFill>
            <a:prstDash val="solid"/>
          </a:ln>
        </p:spPr>
      </p:sp>
      <p:sp>
        <p:nvSpPr>
          <p:cNvPr id="9" name="Text 7"/>
          <p:cNvSpPr/>
          <p:nvPr/>
        </p:nvSpPr>
        <p:spPr>
          <a:xfrm>
            <a:off x="457200" y="1664208"/>
            <a:ext cx="502920"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Pandas</a:t>
            </a:r>
            <a:endParaRPr lang="en-US" sz="1000" dirty="0"/>
          </a:p>
        </p:txBody>
      </p:sp>
      <p:sp>
        <p:nvSpPr>
          <p:cNvPr id="10" name="Text 8"/>
          <p:cNvSpPr/>
          <p:nvPr/>
        </p:nvSpPr>
        <p:spPr>
          <a:xfrm>
            <a:off x="1097280" y="1682496"/>
            <a:ext cx="1828800" cy="25603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Pandas</a:t>
            </a:r>
            <a:endParaRPr lang="en-US" sz="1300" dirty="0"/>
          </a:p>
        </p:txBody>
      </p:sp>
      <p:sp>
        <p:nvSpPr>
          <p:cNvPr id="11" name="Text 9"/>
          <p:cNvSpPr/>
          <p:nvPr/>
        </p:nvSpPr>
        <p:spPr>
          <a:xfrm>
            <a:off x="1097280" y="1938528"/>
            <a:ext cx="7406640" cy="20116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Data loading, cleaning &amp; transformation</a:t>
            </a:r>
            <a:endParaRPr lang="en-US" sz="1100" dirty="0"/>
          </a:p>
        </p:txBody>
      </p:sp>
      <p:sp>
        <p:nvSpPr>
          <p:cNvPr id="12" name="Shape 10"/>
          <p:cNvSpPr/>
          <p:nvPr/>
        </p:nvSpPr>
        <p:spPr>
          <a:xfrm>
            <a:off x="457200" y="2322576"/>
            <a:ext cx="502920" cy="475488"/>
          </a:xfrm>
          <a:prstGeom prst="rect">
            <a:avLst/>
          </a:prstGeom>
          <a:solidFill>
            <a:srgbClr val="F7931E"/>
          </a:solidFill>
          <a:ln w="12700">
            <a:solidFill>
              <a:srgbClr val="F7931E"/>
            </a:solidFill>
            <a:prstDash val="solid"/>
          </a:ln>
        </p:spPr>
      </p:sp>
      <p:sp>
        <p:nvSpPr>
          <p:cNvPr id="13" name="Text 11"/>
          <p:cNvSpPr/>
          <p:nvPr/>
        </p:nvSpPr>
        <p:spPr>
          <a:xfrm>
            <a:off x="457200" y="2322576"/>
            <a:ext cx="502920"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Scikit-learn</a:t>
            </a:r>
            <a:endParaRPr lang="en-US" sz="1000" dirty="0"/>
          </a:p>
        </p:txBody>
      </p:sp>
      <p:sp>
        <p:nvSpPr>
          <p:cNvPr id="14" name="Text 12"/>
          <p:cNvSpPr/>
          <p:nvPr/>
        </p:nvSpPr>
        <p:spPr>
          <a:xfrm>
            <a:off x="1097280" y="2340864"/>
            <a:ext cx="1828800" cy="25603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Scikit-learn</a:t>
            </a:r>
            <a:endParaRPr lang="en-US" sz="1300" dirty="0"/>
          </a:p>
        </p:txBody>
      </p:sp>
      <p:sp>
        <p:nvSpPr>
          <p:cNvPr id="15" name="Text 13"/>
          <p:cNvSpPr/>
          <p:nvPr/>
        </p:nvSpPr>
        <p:spPr>
          <a:xfrm>
            <a:off x="1097280" y="2596896"/>
            <a:ext cx="7406640" cy="20116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RandomForestRegressor, train_test_split, model evaluation</a:t>
            </a:r>
            <a:endParaRPr lang="en-US" sz="1100" dirty="0"/>
          </a:p>
        </p:txBody>
      </p:sp>
      <p:sp>
        <p:nvSpPr>
          <p:cNvPr id="16" name="Shape 14"/>
          <p:cNvSpPr/>
          <p:nvPr/>
        </p:nvSpPr>
        <p:spPr>
          <a:xfrm>
            <a:off x="457200" y="2980944"/>
            <a:ext cx="502920" cy="475488"/>
          </a:xfrm>
          <a:prstGeom prst="rect">
            <a:avLst/>
          </a:prstGeom>
          <a:solidFill>
            <a:srgbClr val="FF4B4B"/>
          </a:solidFill>
          <a:ln w="12700">
            <a:solidFill>
              <a:srgbClr val="FF4B4B"/>
            </a:solidFill>
            <a:prstDash val="solid"/>
          </a:ln>
        </p:spPr>
      </p:sp>
      <p:sp>
        <p:nvSpPr>
          <p:cNvPr id="17" name="Text 15"/>
          <p:cNvSpPr/>
          <p:nvPr/>
        </p:nvSpPr>
        <p:spPr>
          <a:xfrm>
            <a:off x="457200" y="2980944"/>
            <a:ext cx="502920"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Streamlit</a:t>
            </a:r>
            <a:endParaRPr lang="en-US" sz="1000" dirty="0"/>
          </a:p>
        </p:txBody>
      </p:sp>
      <p:sp>
        <p:nvSpPr>
          <p:cNvPr id="18" name="Text 16"/>
          <p:cNvSpPr/>
          <p:nvPr/>
        </p:nvSpPr>
        <p:spPr>
          <a:xfrm>
            <a:off x="1097280" y="2999232"/>
            <a:ext cx="1828800" cy="25603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Streamlit</a:t>
            </a:r>
            <a:endParaRPr lang="en-US" sz="1300" dirty="0"/>
          </a:p>
        </p:txBody>
      </p:sp>
      <p:sp>
        <p:nvSpPr>
          <p:cNvPr id="19" name="Text 17"/>
          <p:cNvSpPr/>
          <p:nvPr/>
        </p:nvSpPr>
        <p:spPr>
          <a:xfrm>
            <a:off x="1097280" y="3255264"/>
            <a:ext cx="7406640" cy="20116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Web app framework — interactive UI with zero front-end code</a:t>
            </a:r>
            <a:endParaRPr lang="en-US" sz="1100" dirty="0"/>
          </a:p>
        </p:txBody>
      </p:sp>
      <p:sp>
        <p:nvSpPr>
          <p:cNvPr id="20" name="Shape 18"/>
          <p:cNvSpPr/>
          <p:nvPr/>
        </p:nvSpPr>
        <p:spPr>
          <a:xfrm>
            <a:off x="457200" y="3639312"/>
            <a:ext cx="502920" cy="475488"/>
          </a:xfrm>
          <a:prstGeom prst="rect">
            <a:avLst/>
          </a:prstGeom>
          <a:solidFill>
            <a:srgbClr val="013243"/>
          </a:solidFill>
          <a:ln w="12700">
            <a:solidFill>
              <a:srgbClr val="013243"/>
            </a:solidFill>
            <a:prstDash val="solid"/>
          </a:ln>
        </p:spPr>
      </p:sp>
      <p:sp>
        <p:nvSpPr>
          <p:cNvPr id="21" name="Text 19"/>
          <p:cNvSpPr/>
          <p:nvPr/>
        </p:nvSpPr>
        <p:spPr>
          <a:xfrm>
            <a:off x="457200" y="3639312"/>
            <a:ext cx="502920"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NumPy</a:t>
            </a:r>
            <a:endParaRPr lang="en-US" sz="1000" dirty="0"/>
          </a:p>
        </p:txBody>
      </p:sp>
      <p:sp>
        <p:nvSpPr>
          <p:cNvPr id="22" name="Text 20"/>
          <p:cNvSpPr/>
          <p:nvPr/>
        </p:nvSpPr>
        <p:spPr>
          <a:xfrm>
            <a:off x="1097280" y="3657600"/>
            <a:ext cx="1828800" cy="25603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NumPy</a:t>
            </a:r>
            <a:endParaRPr lang="en-US" sz="1300" dirty="0"/>
          </a:p>
        </p:txBody>
      </p:sp>
      <p:sp>
        <p:nvSpPr>
          <p:cNvPr id="23" name="Text 21"/>
          <p:cNvSpPr/>
          <p:nvPr/>
        </p:nvSpPr>
        <p:spPr>
          <a:xfrm>
            <a:off x="1097280" y="3913632"/>
            <a:ext cx="7406640" cy="20116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Numerical operations and array handling</a:t>
            </a:r>
            <a:endParaRPr lang="en-US" sz="1100" dirty="0"/>
          </a:p>
        </p:txBody>
      </p:sp>
      <p:sp>
        <p:nvSpPr>
          <p:cNvPr id="24" name="Shape 22"/>
          <p:cNvSpPr/>
          <p:nvPr/>
        </p:nvSpPr>
        <p:spPr>
          <a:xfrm>
            <a:off x="457200" y="4297680"/>
            <a:ext cx="502920" cy="475488"/>
          </a:xfrm>
          <a:prstGeom prst="rect">
            <a:avLst/>
          </a:prstGeom>
          <a:solidFill>
            <a:srgbClr val="F2C811"/>
          </a:solidFill>
          <a:ln w="12700">
            <a:solidFill>
              <a:srgbClr val="F2C811"/>
            </a:solidFill>
            <a:prstDash val="solid"/>
          </a:ln>
        </p:spPr>
      </p:sp>
      <p:sp>
        <p:nvSpPr>
          <p:cNvPr id="25" name="Text 23"/>
          <p:cNvSpPr/>
          <p:nvPr/>
        </p:nvSpPr>
        <p:spPr>
          <a:xfrm>
            <a:off x="457200" y="4297680"/>
            <a:ext cx="502920"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Power BI</a:t>
            </a:r>
            <a:endParaRPr lang="en-US" sz="1000" dirty="0"/>
          </a:p>
        </p:txBody>
      </p:sp>
      <p:sp>
        <p:nvSpPr>
          <p:cNvPr id="26" name="Text 24"/>
          <p:cNvSpPr/>
          <p:nvPr/>
        </p:nvSpPr>
        <p:spPr>
          <a:xfrm>
            <a:off x="1097280" y="4315968"/>
            <a:ext cx="1828800" cy="25603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Power BI</a:t>
            </a:r>
            <a:endParaRPr lang="en-US" sz="1300" dirty="0"/>
          </a:p>
        </p:txBody>
      </p:sp>
      <p:sp>
        <p:nvSpPr>
          <p:cNvPr id="27" name="Text 25"/>
          <p:cNvSpPr/>
          <p:nvPr/>
        </p:nvSpPr>
        <p:spPr>
          <a:xfrm>
            <a:off x="1097280" y="4572000"/>
            <a:ext cx="7406640" cy="20116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Dashboard creation and business visualization (Cars.pbix)</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7498080" y="-457200"/>
            <a:ext cx="2743200" cy="2743200"/>
          </a:xfrm>
          <a:prstGeom prst="ellipse">
            <a:avLst/>
          </a:prstGeom>
          <a:solidFill>
            <a:srgbClr val="2E86AB">
              <a:alpha val="25000"/>
            </a:srgbClr>
          </a:solidFill>
          <a:ln w="12700">
            <a:solidFill>
              <a:srgbClr val="2E86AB">
                <a:alpha val="25000"/>
              </a:srgbClr>
            </a:solidFill>
            <a:prstDash val="solid"/>
          </a:ln>
        </p:spPr>
      </p:sp>
      <p:sp>
        <p:nvSpPr>
          <p:cNvPr id="3" name="Text 1"/>
          <p:cNvSpPr/>
          <p:nvPr/>
        </p:nvSpPr>
        <p:spPr>
          <a:xfrm>
            <a:off x="640080" y="822960"/>
            <a:ext cx="3657600" cy="457200"/>
          </a:xfrm>
          <a:prstGeom prst="rect">
            <a:avLst/>
          </a:prstGeom>
          <a:noFill/>
          <a:ln/>
        </p:spPr>
        <p:txBody>
          <a:bodyPr wrap="square" rtlCol="0" anchor="ctr"/>
          <a:lstStyle/>
          <a:p>
            <a:pPr marL="0" indent="0">
              <a:buNone/>
            </a:pPr>
            <a:r>
              <a:rPr lang="en-US" sz="1400" i="1" dirty="0">
                <a:solidFill>
                  <a:srgbClr val="A0C4FF"/>
                </a:solidFill>
                <a:latin typeface="Calibri" pitchFamily="34" charset="0"/>
                <a:ea typeface="Calibri" pitchFamily="34" charset="-122"/>
                <a:cs typeface="Calibri" pitchFamily="34" charset="-120"/>
              </a:rPr>
              <a:t>Section 07</a:t>
            </a:r>
            <a:endParaRPr lang="en-US" sz="1400" dirty="0"/>
          </a:p>
        </p:txBody>
      </p:sp>
      <p:sp>
        <p:nvSpPr>
          <p:cNvPr id="4" name="Text 2"/>
          <p:cNvSpPr/>
          <p:nvPr/>
        </p:nvSpPr>
        <p:spPr>
          <a:xfrm>
            <a:off x="640080" y="1371600"/>
            <a:ext cx="7589520" cy="10972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Results &amp; Conclusion</a:t>
            </a:r>
            <a:endParaRPr lang="en-US" sz="3600" dirty="0"/>
          </a:p>
        </p:txBody>
      </p:sp>
      <p:sp>
        <p:nvSpPr>
          <p:cNvPr id="5" name="Text 3"/>
          <p:cNvSpPr/>
          <p:nvPr/>
        </p:nvSpPr>
        <p:spPr>
          <a:xfrm>
            <a:off x="640080" y="2651760"/>
            <a:ext cx="6400800" cy="640080"/>
          </a:xfrm>
          <a:prstGeom prst="rect">
            <a:avLst/>
          </a:prstGeom>
          <a:noFill/>
          <a:ln/>
        </p:spPr>
        <p:txBody>
          <a:bodyPr wrap="square" rtlCol="0" anchor="ctr"/>
          <a:lstStyle/>
          <a:p>
            <a:pPr marL="0" indent="0">
              <a:buNone/>
            </a:pPr>
            <a:r>
              <a:rPr lang="en-US" sz="1600" dirty="0">
                <a:solidFill>
                  <a:srgbClr val="D6EAF8"/>
                </a:solidFill>
                <a:latin typeface="Calibri" pitchFamily="34" charset="0"/>
                <a:ea typeface="Calibri" pitchFamily="34" charset="-122"/>
                <a:cs typeface="Calibri" pitchFamily="34" charset="-120"/>
              </a:rPr>
              <a:t>Key findings, insights &amp; future scope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Key Findings from EDA</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960120"/>
            <a:ext cx="4160520" cy="1115568"/>
          </a:xfrm>
          <a:prstGeom prst="rect">
            <a:avLst/>
          </a:prstGeom>
          <a:solidFill>
            <a:srgbClr val="FFFFFF"/>
          </a:solidFill>
          <a:ln/>
          <a:effectLst>
            <a:outerShdw blurRad="63500" dist="25400" dir="8100000" algn="bl" rotWithShape="0">
              <a:srgbClr val="000000">
                <a:alpha val="9000"/>
              </a:srgbClr>
            </a:outerShdw>
          </a:effectLst>
        </p:spPr>
      </p:sp>
      <p:sp>
        <p:nvSpPr>
          <p:cNvPr id="5" name="Text 3"/>
          <p:cNvSpPr/>
          <p:nvPr/>
        </p:nvSpPr>
        <p:spPr>
          <a:xfrm>
            <a:off x="566928" y="1143000"/>
            <a:ext cx="411480" cy="4114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6" name="Text 4"/>
          <p:cNvSpPr/>
          <p:nvPr/>
        </p:nvSpPr>
        <p:spPr>
          <a:xfrm>
            <a:off x="1097280" y="1051560"/>
            <a:ext cx="338328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Price is highly right-skewed</a:t>
            </a:r>
            <a:endParaRPr lang="en-US" sz="1300" dirty="0"/>
          </a:p>
        </p:txBody>
      </p:sp>
      <p:sp>
        <p:nvSpPr>
          <p:cNvPr id="7" name="Text 5"/>
          <p:cNvSpPr/>
          <p:nvPr/>
        </p:nvSpPr>
        <p:spPr>
          <a:xfrm>
            <a:off x="1097280" y="1353312"/>
            <a:ext cx="3383280" cy="61264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Median ₹5.9L vs mean ₹10.4L — luxury cars pull the average up significantly</a:t>
            </a:r>
            <a:endParaRPr lang="en-US" sz="1100" dirty="0"/>
          </a:p>
        </p:txBody>
      </p:sp>
      <p:sp>
        <p:nvSpPr>
          <p:cNvPr id="8" name="Shape 6"/>
          <p:cNvSpPr/>
          <p:nvPr/>
        </p:nvSpPr>
        <p:spPr>
          <a:xfrm>
            <a:off x="4800600" y="960120"/>
            <a:ext cx="4160520" cy="1115568"/>
          </a:xfrm>
          <a:prstGeom prst="rect">
            <a:avLst/>
          </a:prstGeom>
          <a:solidFill>
            <a:srgbClr val="FFFFFF"/>
          </a:solidFill>
          <a:ln/>
          <a:effectLst>
            <a:outerShdw blurRad="63500" dist="25400" dir="8100000" algn="bl" rotWithShape="0">
              <a:srgbClr val="000000">
                <a:alpha val="9000"/>
              </a:srgbClr>
            </a:outerShdw>
          </a:effectLst>
        </p:spPr>
      </p:sp>
      <p:sp>
        <p:nvSpPr>
          <p:cNvPr id="9" name="Text 7"/>
          <p:cNvSpPr/>
          <p:nvPr/>
        </p:nvSpPr>
        <p:spPr>
          <a:xfrm>
            <a:off x="4910328" y="1143000"/>
            <a:ext cx="411480" cy="4114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0" name="Text 8"/>
          <p:cNvSpPr/>
          <p:nvPr/>
        </p:nvSpPr>
        <p:spPr>
          <a:xfrm>
            <a:off x="5440680" y="1051560"/>
            <a:ext cx="338328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Maruti Suzuki dominates</a:t>
            </a:r>
            <a:endParaRPr lang="en-US" sz="1300" dirty="0"/>
          </a:p>
        </p:txBody>
      </p:sp>
      <p:sp>
        <p:nvSpPr>
          <p:cNvPr id="11" name="Text 9"/>
          <p:cNvSpPr/>
          <p:nvPr/>
        </p:nvSpPr>
        <p:spPr>
          <a:xfrm>
            <a:off x="5440680" y="1353312"/>
            <a:ext cx="3383280" cy="61264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29% of all used car listings — most popular brand in Indian market</a:t>
            </a:r>
            <a:endParaRPr lang="en-US" sz="1100" dirty="0"/>
          </a:p>
        </p:txBody>
      </p:sp>
      <p:sp>
        <p:nvSpPr>
          <p:cNvPr id="12" name="Shape 10"/>
          <p:cNvSpPr/>
          <p:nvPr/>
        </p:nvSpPr>
        <p:spPr>
          <a:xfrm>
            <a:off x="457200" y="2258568"/>
            <a:ext cx="4160520" cy="1115568"/>
          </a:xfrm>
          <a:prstGeom prst="rect">
            <a:avLst/>
          </a:prstGeom>
          <a:solidFill>
            <a:srgbClr val="FFFFFF"/>
          </a:solidFill>
          <a:ln/>
          <a:effectLst>
            <a:outerShdw blurRad="63500" dist="25400" dir="8100000" algn="bl" rotWithShape="0">
              <a:srgbClr val="000000">
                <a:alpha val="9000"/>
              </a:srgbClr>
            </a:outerShdw>
          </a:effectLst>
        </p:spPr>
      </p:sp>
      <p:sp>
        <p:nvSpPr>
          <p:cNvPr id="13" name="Text 11"/>
          <p:cNvSpPr/>
          <p:nvPr/>
        </p:nvSpPr>
        <p:spPr>
          <a:xfrm>
            <a:off x="566928" y="2441448"/>
            <a:ext cx="411480" cy="4114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4" name="Text 12"/>
          <p:cNvSpPr/>
          <p:nvPr/>
        </p:nvSpPr>
        <p:spPr>
          <a:xfrm>
            <a:off x="1097280" y="2350008"/>
            <a:ext cx="338328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Automatic &gt; Manual pricing</a:t>
            </a:r>
            <a:endParaRPr lang="en-US" sz="1300" dirty="0"/>
          </a:p>
        </p:txBody>
      </p:sp>
      <p:sp>
        <p:nvSpPr>
          <p:cNvPr id="15" name="Text 13"/>
          <p:cNvSpPr/>
          <p:nvPr/>
        </p:nvSpPr>
        <p:spPr>
          <a:xfrm>
            <a:off x="1097280" y="2651760"/>
            <a:ext cx="3383280" cy="61264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Automatic transmission cars cost 2.8× more on average (₹15.8L vs ₹5.6L)</a:t>
            </a:r>
            <a:endParaRPr lang="en-US" sz="1100" dirty="0"/>
          </a:p>
        </p:txBody>
      </p:sp>
      <p:sp>
        <p:nvSpPr>
          <p:cNvPr id="16" name="Shape 14"/>
          <p:cNvSpPr/>
          <p:nvPr/>
        </p:nvSpPr>
        <p:spPr>
          <a:xfrm>
            <a:off x="4800600" y="2258568"/>
            <a:ext cx="4160520" cy="1115568"/>
          </a:xfrm>
          <a:prstGeom prst="rect">
            <a:avLst/>
          </a:prstGeom>
          <a:solidFill>
            <a:srgbClr val="FFFFFF"/>
          </a:solidFill>
          <a:ln/>
          <a:effectLst>
            <a:outerShdw blurRad="63500" dist="25400" dir="8100000" algn="bl" rotWithShape="0">
              <a:srgbClr val="000000">
                <a:alpha val="9000"/>
              </a:srgbClr>
            </a:outerShdw>
          </a:effectLst>
        </p:spPr>
      </p:sp>
      <p:sp>
        <p:nvSpPr>
          <p:cNvPr id="17" name="Text 15"/>
          <p:cNvSpPr/>
          <p:nvPr/>
        </p:nvSpPr>
        <p:spPr>
          <a:xfrm>
            <a:off x="4910328" y="2441448"/>
            <a:ext cx="411480" cy="4114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5440680" y="2350008"/>
            <a:ext cx="338328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Age is a strong predictor</a:t>
            </a:r>
            <a:endParaRPr lang="en-US" sz="1300" dirty="0"/>
          </a:p>
        </p:txBody>
      </p:sp>
      <p:sp>
        <p:nvSpPr>
          <p:cNvPr id="19" name="Text 17"/>
          <p:cNvSpPr/>
          <p:nvPr/>
        </p:nvSpPr>
        <p:spPr>
          <a:xfrm>
            <a:off x="5440680" y="2651760"/>
            <a:ext cx="3383280" cy="61264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Correlation of -0.31; cars older than 10 years see sharp price drops</a:t>
            </a:r>
            <a:endParaRPr lang="en-US" sz="1100" dirty="0"/>
          </a:p>
        </p:txBody>
      </p:sp>
      <p:sp>
        <p:nvSpPr>
          <p:cNvPr id="20" name="Shape 18"/>
          <p:cNvSpPr/>
          <p:nvPr/>
        </p:nvSpPr>
        <p:spPr>
          <a:xfrm>
            <a:off x="457200" y="3557016"/>
            <a:ext cx="4160520" cy="1115568"/>
          </a:xfrm>
          <a:prstGeom prst="rect">
            <a:avLst/>
          </a:prstGeom>
          <a:solidFill>
            <a:srgbClr val="FFFFFF"/>
          </a:solidFill>
          <a:ln/>
          <a:effectLst>
            <a:outerShdw blurRad="63500" dist="25400" dir="8100000" algn="bl" rotWithShape="0">
              <a:srgbClr val="000000">
                <a:alpha val="9000"/>
              </a:srgbClr>
            </a:outerShdw>
          </a:effectLst>
        </p:spPr>
      </p:sp>
      <p:sp>
        <p:nvSpPr>
          <p:cNvPr id="21" name="Text 19"/>
          <p:cNvSpPr/>
          <p:nvPr/>
        </p:nvSpPr>
        <p:spPr>
          <a:xfrm>
            <a:off x="566928" y="3739896"/>
            <a:ext cx="411480" cy="4114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2" name="Text 20"/>
          <p:cNvSpPr/>
          <p:nvPr/>
        </p:nvSpPr>
        <p:spPr>
          <a:xfrm>
            <a:off x="1097280" y="3648456"/>
            <a:ext cx="338328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Diesel most expensive</a:t>
            </a:r>
            <a:endParaRPr lang="en-US" sz="1300" dirty="0"/>
          </a:p>
        </p:txBody>
      </p:sp>
      <p:sp>
        <p:nvSpPr>
          <p:cNvPr id="23" name="Text 21"/>
          <p:cNvSpPr/>
          <p:nvPr/>
        </p:nvSpPr>
        <p:spPr>
          <a:xfrm>
            <a:off x="1097280" y="3950208"/>
            <a:ext cx="3383280" cy="61264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Diesel avg ₹13.9L &gt; Petrol ₹9.5L &gt; Hybrid/CNG ₹5.5L</a:t>
            </a:r>
            <a:endParaRPr lang="en-US" sz="1100" dirty="0"/>
          </a:p>
        </p:txBody>
      </p:sp>
      <p:sp>
        <p:nvSpPr>
          <p:cNvPr id="24" name="Shape 22"/>
          <p:cNvSpPr/>
          <p:nvPr/>
        </p:nvSpPr>
        <p:spPr>
          <a:xfrm>
            <a:off x="4800600" y="3557016"/>
            <a:ext cx="4160520" cy="1115568"/>
          </a:xfrm>
          <a:prstGeom prst="rect">
            <a:avLst/>
          </a:prstGeom>
          <a:solidFill>
            <a:srgbClr val="FFFFFF"/>
          </a:solidFill>
          <a:ln/>
          <a:effectLst>
            <a:outerShdw blurRad="63500" dist="25400" dir="8100000" algn="bl" rotWithShape="0">
              <a:srgbClr val="000000">
                <a:alpha val="9000"/>
              </a:srgbClr>
            </a:outerShdw>
          </a:effectLst>
        </p:spPr>
      </p:sp>
      <p:sp>
        <p:nvSpPr>
          <p:cNvPr id="25" name="Text 23"/>
          <p:cNvSpPr/>
          <p:nvPr/>
        </p:nvSpPr>
        <p:spPr>
          <a:xfrm>
            <a:off x="4910328" y="3739896"/>
            <a:ext cx="411480" cy="41148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6" name="Text 24"/>
          <p:cNvSpPr/>
          <p:nvPr/>
        </p:nvSpPr>
        <p:spPr>
          <a:xfrm>
            <a:off x="5440680" y="3648456"/>
            <a:ext cx="338328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First owner premium</a:t>
            </a:r>
            <a:endParaRPr lang="en-US" sz="1300" dirty="0"/>
          </a:p>
        </p:txBody>
      </p:sp>
      <p:sp>
        <p:nvSpPr>
          <p:cNvPr id="27" name="Text 25"/>
          <p:cNvSpPr/>
          <p:nvPr/>
        </p:nvSpPr>
        <p:spPr>
          <a:xfrm>
            <a:off x="5440680" y="3950208"/>
            <a:ext cx="3383280" cy="61264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First owner cars avg ₹12.6L vs second owner ₹8.1L — 56% higher</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Model Results Summary</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1005840"/>
            <a:ext cx="2651760" cy="1280160"/>
          </a:xfrm>
          <a:prstGeom prst="rect">
            <a:avLst/>
          </a:prstGeom>
          <a:solidFill>
            <a:srgbClr val="FFFFFF"/>
          </a:solidFill>
          <a:ln/>
          <a:effectLst>
            <a:outerShdw blurRad="76200" dist="25400" dir="8100000" algn="bl" rotWithShape="0">
              <a:srgbClr val="000000">
                <a:alpha val="10000"/>
              </a:srgbClr>
            </a:outerShdw>
          </a:effectLst>
        </p:spPr>
      </p:sp>
      <p:sp>
        <p:nvSpPr>
          <p:cNvPr id="5" name="Shape 3"/>
          <p:cNvSpPr/>
          <p:nvPr/>
        </p:nvSpPr>
        <p:spPr>
          <a:xfrm>
            <a:off x="457200" y="1005840"/>
            <a:ext cx="64008" cy="1280160"/>
          </a:xfrm>
          <a:prstGeom prst="rect">
            <a:avLst/>
          </a:prstGeom>
          <a:solidFill>
            <a:srgbClr val="27AE60"/>
          </a:solidFill>
          <a:ln w="12700">
            <a:solidFill>
              <a:srgbClr val="27AE60"/>
            </a:solidFill>
            <a:prstDash val="solid"/>
          </a:ln>
        </p:spPr>
      </p:sp>
      <p:sp>
        <p:nvSpPr>
          <p:cNvPr id="6" name="Text 4"/>
          <p:cNvSpPr/>
          <p:nvPr/>
        </p:nvSpPr>
        <p:spPr>
          <a:xfrm>
            <a:off x="640080" y="1143000"/>
            <a:ext cx="2377440" cy="704088"/>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~92%</a:t>
            </a:r>
            <a:endParaRPr lang="en-US" sz="2800" dirty="0"/>
          </a:p>
        </p:txBody>
      </p:sp>
      <p:sp>
        <p:nvSpPr>
          <p:cNvPr id="7" name="Text 5"/>
          <p:cNvSpPr/>
          <p:nvPr/>
        </p:nvSpPr>
        <p:spPr>
          <a:xfrm>
            <a:off x="640080" y="1773936"/>
            <a:ext cx="2377440" cy="486461"/>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R² Model Accuracy</a:t>
            </a:r>
            <a:endParaRPr lang="en-US" sz="1200" dirty="0"/>
          </a:p>
        </p:txBody>
      </p:sp>
      <p:sp>
        <p:nvSpPr>
          <p:cNvPr id="8" name="Shape 6"/>
          <p:cNvSpPr/>
          <p:nvPr/>
        </p:nvSpPr>
        <p:spPr>
          <a:xfrm>
            <a:off x="3246120" y="1005840"/>
            <a:ext cx="2651760" cy="1280160"/>
          </a:xfrm>
          <a:prstGeom prst="rect">
            <a:avLst/>
          </a:prstGeom>
          <a:solidFill>
            <a:srgbClr val="FFFFFF"/>
          </a:solidFill>
          <a:ln/>
          <a:effectLst>
            <a:outerShdw blurRad="76200" dist="25400" dir="8100000" algn="bl" rotWithShape="0">
              <a:srgbClr val="000000">
                <a:alpha val="10000"/>
              </a:srgbClr>
            </a:outerShdw>
          </a:effectLst>
        </p:spPr>
      </p:sp>
      <p:sp>
        <p:nvSpPr>
          <p:cNvPr id="9" name="Shape 7"/>
          <p:cNvSpPr/>
          <p:nvPr/>
        </p:nvSpPr>
        <p:spPr>
          <a:xfrm>
            <a:off x="3246120" y="1005840"/>
            <a:ext cx="64008" cy="1280160"/>
          </a:xfrm>
          <a:prstGeom prst="rect">
            <a:avLst/>
          </a:prstGeom>
          <a:solidFill>
            <a:srgbClr val="2E86AB"/>
          </a:solidFill>
          <a:ln w="12700">
            <a:solidFill>
              <a:srgbClr val="2E86AB"/>
            </a:solidFill>
            <a:prstDash val="solid"/>
          </a:ln>
        </p:spPr>
      </p:sp>
      <p:sp>
        <p:nvSpPr>
          <p:cNvPr id="10" name="Text 8"/>
          <p:cNvSpPr/>
          <p:nvPr/>
        </p:nvSpPr>
        <p:spPr>
          <a:xfrm>
            <a:off x="3429000" y="1143000"/>
            <a:ext cx="2377440" cy="704088"/>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200</a:t>
            </a:r>
            <a:endParaRPr lang="en-US" sz="2800" dirty="0"/>
          </a:p>
        </p:txBody>
      </p:sp>
      <p:sp>
        <p:nvSpPr>
          <p:cNvPr id="11" name="Text 9"/>
          <p:cNvSpPr/>
          <p:nvPr/>
        </p:nvSpPr>
        <p:spPr>
          <a:xfrm>
            <a:off x="3429000" y="1773936"/>
            <a:ext cx="2377440" cy="486461"/>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Trees in Forest</a:t>
            </a:r>
            <a:endParaRPr lang="en-US" sz="1200" dirty="0"/>
          </a:p>
        </p:txBody>
      </p:sp>
      <p:sp>
        <p:nvSpPr>
          <p:cNvPr id="12" name="Shape 10"/>
          <p:cNvSpPr/>
          <p:nvPr/>
        </p:nvSpPr>
        <p:spPr>
          <a:xfrm>
            <a:off x="6035040" y="1005840"/>
            <a:ext cx="2651760" cy="1280160"/>
          </a:xfrm>
          <a:prstGeom prst="rect">
            <a:avLst/>
          </a:prstGeom>
          <a:solidFill>
            <a:srgbClr val="FFFFFF"/>
          </a:solidFill>
          <a:ln/>
          <a:effectLst>
            <a:outerShdw blurRad="76200" dist="25400" dir="8100000" algn="bl" rotWithShape="0">
              <a:srgbClr val="000000">
                <a:alpha val="10000"/>
              </a:srgbClr>
            </a:outerShdw>
          </a:effectLst>
        </p:spPr>
      </p:sp>
      <p:sp>
        <p:nvSpPr>
          <p:cNvPr id="13" name="Shape 11"/>
          <p:cNvSpPr/>
          <p:nvPr/>
        </p:nvSpPr>
        <p:spPr>
          <a:xfrm>
            <a:off x="6035040" y="1005840"/>
            <a:ext cx="64008" cy="1280160"/>
          </a:xfrm>
          <a:prstGeom prst="rect">
            <a:avLst/>
          </a:prstGeom>
          <a:solidFill>
            <a:srgbClr val="1B4F72"/>
          </a:solidFill>
          <a:ln w="12700">
            <a:solidFill>
              <a:srgbClr val="1B4F72"/>
            </a:solidFill>
            <a:prstDash val="solid"/>
          </a:ln>
        </p:spPr>
      </p:sp>
      <p:sp>
        <p:nvSpPr>
          <p:cNvPr id="14" name="Text 12"/>
          <p:cNvSpPr/>
          <p:nvPr/>
        </p:nvSpPr>
        <p:spPr>
          <a:xfrm>
            <a:off x="6217920" y="1143000"/>
            <a:ext cx="2377440" cy="704088"/>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6</a:t>
            </a:r>
            <a:endParaRPr lang="en-US" sz="2800" dirty="0"/>
          </a:p>
        </p:txBody>
      </p:sp>
      <p:sp>
        <p:nvSpPr>
          <p:cNvPr id="15" name="Text 13"/>
          <p:cNvSpPr/>
          <p:nvPr/>
        </p:nvSpPr>
        <p:spPr>
          <a:xfrm>
            <a:off x="6217920" y="1773936"/>
            <a:ext cx="2377440" cy="486461"/>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Input Features</a:t>
            </a:r>
            <a:endParaRPr lang="en-US" sz="1200" dirty="0"/>
          </a:p>
        </p:txBody>
      </p:sp>
      <p:sp>
        <p:nvSpPr>
          <p:cNvPr id="16" name="Shape 14"/>
          <p:cNvSpPr/>
          <p:nvPr/>
        </p:nvSpPr>
        <p:spPr>
          <a:xfrm>
            <a:off x="457200" y="2468880"/>
            <a:ext cx="2651760" cy="1280160"/>
          </a:xfrm>
          <a:prstGeom prst="rect">
            <a:avLst/>
          </a:prstGeom>
          <a:solidFill>
            <a:srgbClr val="FFFFFF"/>
          </a:solidFill>
          <a:ln/>
          <a:effectLst>
            <a:outerShdw blurRad="76200" dist="25400" dir="8100000" algn="bl" rotWithShape="0">
              <a:srgbClr val="000000">
                <a:alpha val="10000"/>
              </a:srgbClr>
            </a:outerShdw>
          </a:effectLst>
        </p:spPr>
      </p:sp>
      <p:sp>
        <p:nvSpPr>
          <p:cNvPr id="17" name="Shape 15"/>
          <p:cNvSpPr/>
          <p:nvPr/>
        </p:nvSpPr>
        <p:spPr>
          <a:xfrm>
            <a:off x="457200" y="2468880"/>
            <a:ext cx="64008" cy="1280160"/>
          </a:xfrm>
          <a:prstGeom prst="rect">
            <a:avLst/>
          </a:prstGeom>
          <a:solidFill>
            <a:srgbClr val="4A5568"/>
          </a:solidFill>
          <a:ln w="12700">
            <a:solidFill>
              <a:srgbClr val="4A5568"/>
            </a:solidFill>
            <a:prstDash val="solid"/>
          </a:ln>
        </p:spPr>
      </p:sp>
      <p:sp>
        <p:nvSpPr>
          <p:cNvPr id="18" name="Text 16"/>
          <p:cNvSpPr/>
          <p:nvPr/>
        </p:nvSpPr>
        <p:spPr>
          <a:xfrm>
            <a:off x="640080" y="2606040"/>
            <a:ext cx="2377440" cy="704088"/>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7,049</a:t>
            </a:r>
            <a:endParaRPr lang="en-US" sz="2800" dirty="0"/>
          </a:p>
        </p:txBody>
      </p:sp>
      <p:sp>
        <p:nvSpPr>
          <p:cNvPr id="19" name="Text 17"/>
          <p:cNvSpPr/>
          <p:nvPr/>
        </p:nvSpPr>
        <p:spPr>
          <a:xfrm>
            <a:off x="640080" y="3236976"/>
            <a:ext cx="2377440" cy="486461"/>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Training Samples</a:t>
            </a:r>
            <a:endParaRPr lang="en-US" sz="1200" dirty="0"/>
          </a:p>
        </p:txBody>
      </p:sp>
      <p:sp>
        <p:nvSpPr>
          <p:cNvPr id="20" name="Shape 18"/>
          <p:cNvSpPr/>
          <p:nvPr/>
        </p:nvSpPr>
        <p:spPr>
          <a:xfrm>
            <a:off x="3246120" y="2468880"/>
            <a:ext cx="2651760" cy="1280160"/>
          </a:xfrm>
          <a:prstGeom prst="rect">
            <a:avLst/>
          </a:prstGeom>
          <a:solidFill>
            <a:srgbClr val="FFFFFF"/>
          </a:solidFill>
          <a:ln/>
          <a:effectLst>
            <a:outerShdw blurRad="76200" dist="25400" dir="8100000" algn="bl" rotWithShape="0">
              <a:srgbClr val="000000">
                <a:alpha val="10000"/>
              </a:srgbClr>
            </a:outerShdw>
          </a:effectLst>
        </p:spPr>
      </p:sp>
      <p:sp>
        <p:nvSpPr>
          <p:cNvPr id="21" name="Shape 19"/>
          <p:cNvSpPr/>
          <p:nvPr/>
        </p:nvSpPr>
        <p:spPr>
          <a:xfrm>
            <a:off x="3246120" y="2468880"/>
            <a:ext cx="64008" cy="1280160"/>
          </a:xfrm>
          <a:prstGeom prst="rect">
            <a:avLst/>
          </a:prstGeom>
          <a:solidFill>
            <a:srgbClr val="4A5568"/>
          </a:solidFill>
          <a:ln w="12700">
            <a:solidFill>
              <a:srgbClr val="4A5568"/>
            </a:solidFill>
            <a:prstDash val="solid"/>
          </a:ln>
        </p:spPr>
      </p:sp>
      <p:sp>
        <p:nvSpPr>
          <p:cNvPr id="22" name="Text 20"/>
          <p:cNvSpPr/>
          <p:nvPr/>
        </p:nvSpPr>
        <p:spPr>
          <a:xfrm>
            <a:off x="3429000" y="2606040"/>
            <a:ext cx="2377440" cy="704088"/>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1,763</a:t>
            </a:r>
            <a:endParaRPr lang="en-US" sz="2800" dirty="0"/>
          </a:p>
        </p:txBody>
      </p:sp>
      <p:sp>
        <p:nvSpPr>
          <p:cNvPr id="23" name="Text 21"/>
          <p:cNvSpPr/>
          <p:nvPr/>
        </p:nvSpPr>
        <p:spPr>
          <a:xfrm>
            <a:off x="3429000" y="3236976"/>
            <a:ext cx="2377440" cy="486461"/>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Test Samples</a:t>
            </a:r>
            <a:endParaRPr lang="en-US" sz="1200" dirty="0"/>
          </a:p>
        </p:txBody>
      </p:sp>
      <p:sp>
        <p:nvSpPr>
          <p:cNvPr id="24" name="Shape 22"/>
          <p:cNvSpPr/>
          <p:nvPr/>
        </p:nvSpPr>
        <p:spPr>
          <a:xfrm>
            <a:off x="6035040" y="2468880"/>
            <a:ext cx="2651760" cy="1280160"/>
          </a:xfrm>
          <a:prstGeom prst="rect">
            <a:avLst/>
          </a:prstGeom>
          <a:solidFill>
            <a:srgbClr val="FFFFFF"/>
          </a:solidFill>
          <a:ln/>
          <a:effectLst>
            <a:outerShdw blurRad="76200" dist="25400" dir="8100000" algn="bl" rotWithShape="0">
              <a:srgbClr val="000000">
                <a:alpha val="10000"/>
              </a:srgbClr>
            </a:outerShdw>
          </a:effectLst>
        </p:spPr>
      </p:sp>
      <p:sp>
        <p:nvSpPr>
          <p:cNvPr id="25" name="Shape 23"/>
          <p:cNvSpPr/>
          <p:nvPr/>
        </p:nvSpPr>
        <p:spPr>
          <a:xfrm>
            <a:off x="6035040" y="2468880"/>
            <a:ext cx="64008" cy="1280160"/>
          </a:xfrm>
          <a:prstGeom prst="rect">
            <a:avLst/>
          </a:prstGeom>
          <a:solidFill>
            <a:srgbClr val="F39C12"/>
          </a:solidFill>
          <a:ln w="12700">
            <a:solidFill>
              <a:srgbClr val="F39C12"/>
            </a:solidFill>
            <a:prstDash val="solid"/>
          </a:ln>
        </p:spPr>
      </p:sp>
      <p:sp>
        <p:nvSpPr>
          <p:cNvPr id="26" name="Text 24"/>
          <p:cNvSpPr/>
          <p:nvPr/>
        </p:nvSpPr>
        <p:spPr>
          <a:xfrm>
            <a:off x="6217920" y="2606040"/>
            <a:ext cx="2377440" cy="704088"/>
          </a:xfrm>
          <a:prstGeom prst="rect">
            <a:avLst/>
          </a:prstGeom>
          <a:noFill/>
          <a:ln/>
        </p:spPr>
        <p:txBody>
          <a:bodyPr wrap="square" lIns="0" tIns="0" rIns="0" bIns="0"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Brand</a:t>
            </a:r>
            <a:endParaRPr lang="en-US" sz="2800" dirty="0"/>
          </a:p>
        </p:txBody>
      </p:sp>
      <p:sp>
        <p:nvSpPr>
          <p:cNvPr id="27" name="Text 25"/>
          <p:cNvSpPr/>
          <p:nvPr/>
        </p:nvSpPr>
        <p:spPr>
          <a:xfrm>
            <a:off x="6217920" y="3236976"/>
            <a:ext cx="2377440" cy="486461"/>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Top Predictor</a:t>
            </a:r>
            <a:endParaRPr lang="en-US" sz="1200" dirty="0"/>
          </a:p>
        </p:txBody>
      </p:sp>
      <p:sp>
        <p:nvSpPr>
          <p:cNvPr id="28" name="Shape 26"/>
          <p:cNvSpPr/>
          <p:nvPr/>
        </p:nvSpPr>
        <p:spPr>
          <a:xfrm>
            <a:off x="457200" y="3931920"/>
            <a:ext cx="8229600" cy="822960"/>
          </a:xfrm>
          <a:prstGeom prst="rect">
            <a:avLst/>
          </a:prstGeom>
          <a:solidFill>
            <a:srgbClr val="EBF5FB"/>
          </a:solidFill>
          <a:ln/>
          <a:effectLst>
            <a:outerShdw blurRad="50800" dist="12700" dir="8100000" algn="bl" rotWithShape="0">
              <a:srgbClr val="000000">
                <a:alpha val="7000"/>
              </a:srgbClr>
            </a:outerShdw>
          </a:effectLst>
        </p:spPr>
      </p:sp>
      <p:sp>
        <p:nvSpPr>
          <p:cNvPr id="29" name="Text 27"/>
          <p:cNvSpPr/>
          <p:nvPr/>
        </p:nvSpPr>
        <p:spPr>
          <a:xfrm>
            <a:off x="640080" y="3995928"/>
            <a:ext cx="7863840" cy="694944"/>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The Random Forest model achieved ~92% R² accuracy, meaning it explains 92% of the variance in car prices. Brand, age, and km driven were the top contributors to price estimation.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Challenges &amp; How We Solved Them</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960120"/>
            <a:ext cx="4160520" cy="1115568"/>
          </a:xfrm>
          <a:prstGeom prst="rect">
            <a:avLst/>
          </a:prstGeom>
          <a:solidFill>
            <a:srgbClr val="FFFFFF"/>
          </a:solidFill>
          <a:ln/>
          <a:effectLst>
            <a:outerShdw blurRad="50800" dist="25400" dir="8100000" algn="bl" rotWithShape="0">
              <a:srgbClr val="000000">
                <a:alpha val="9000"/>
              </a:srgbClr>
            </a:outerShdw>
          </a:effectLst>
        </p:spPr>
      </p:sp>
      <p:sp>
        <p:nvSpPr>
          <p:cNvPr id="5" name="Shape 3"/>
          <p:cNvSpPr/>
          <p:nvPr/>
        </p:nvSpPr>
        <p:spPr>
          <a:xfrm>
            <a:off x="457200" y="960120"/>
            <a:ext cx="64008" cy="1115568"/>
          </a:xfrm>
          <a:prstGeom prst="rect">
            <a:avLst/>
          </a:prstGeom>
          <a:solidFill>
            <a:srgbClr val="2E86AB"/>
          </a:solidFill>
          <a:ln w="12700">
            <a:solidFill>
              <a:srgbClr val="2E86AB"/>
            </a:solidFill>
            <a:prstDash val="solid"/>
          </a:ln>
        </p:spPr>
      </p:sp>
      <p:sp>
        <p:nvSpPr>
          <p:cNvPr id="6" name="Text 4"/>
          <p:cNvSpPr/>
          <p:nvPr/>
        </p:nvSpPr>
        <p:spPr>
          <a:xfrm>
            <a:off x="640080" y="1051560"/>
            <a:ext cx="384048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Messy Price Format</a:t>
            </a:r>
            <a:endParaRPr lang="en-US" sz="1300" dirty="0"/>
          </a:p>
        </p:txBody>
      </p:sp>
      <p:sp>
        <p:nvSpPr>
          <p:cNvPr id="7" name="Text 5"/>
          <p:cNvSpPr/>
          <p:nvPr/>
        </p:nvSpPr>
        <p:spPr>
          <a:xfrm>
            <a:off x="640080" y="1371600"/>
            <a:ext cx="3840480" cy="59436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Prices stored as strings '₹ 1,95,000' — solved with regex extraction &amp; pd.to_numeric</a:t>
            </a:r>
            <a:endParaRPr lang="en-US" sz="1100" dirty="0"/>
          </a:p>
        </p:txBody>
      </p:sp>
      <p:sp>
        <p:nvSpPr>
          <p:cNvPr id="8" name="Shape 6"/>
          <p:cNvSpPr/>
          <p:nvPr/>
        </p:nvSpPr>
        <p:spPr>
          <a:xfrm>
            <a:off x="4800600" y="960120"/>
            <a:ext cx="4160520" cy="1115568"/>
          </a:xfrm>
          <a:prstGeom prst="rect">
            <a:avLst/>
          </a:prstGeom>
          <a:solidFill>
            <a:srgbClr val="FFFFFF"/>
          </a:solidFill>
          <a:ln/>
          <a:effectLst>
            <a:outerShdw blurRad="50800" dist="25400" dir="8100000" algn="bl" rotWithShape="0">
              <a:srgbClr val="000000">
                <a:alpha val="9000"/>
              </a:srgbClr>
            </a:outerShdw>
          </a:effectLst>
        </p:spPr>
      </p:sp>
      <p:sp>
        <p:nvSpPr>
          <p:cNvPr id="9" name="Shape 7"/>
          <p:cNvSpPr/>
          <p:nvPr/>
        </p:nvSpPr>
        <p:spPr>
          <a:xfrm>
            <a:off x="4800600" y="960120"/>
            <a:ext cx="64008" cy="1115568"/>
          </a:xfrm>
          <a:prstGeom prst="rect">
            <a:avLst/>
          </a:prstGeom>
          <a:solidFill>
            <a:srgbClr val="2E86AB"/>
          </a:solidFill>
          <a:ln w="12700">
            <a:solidFill>
              <a:srgbClr val="2E86AB"/>
            </a:solidFill>
            <a:prstDash val="solid"/>
          </a:ln>
        </p:spPr>
      </p:sp>
      <p:sp>
        <p:nvSpPr>
          <p:cNvPr id="10" name="Text 8"/>
          <p:cNvSpPr/>
          <p:nvPr/>
        </p:nvSpPr>
        <p:spPr>
          <a:xfrm>
            <a:off x="4983480" y="1051560"/>
            <a:ext cx="384048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KM Driven Text Format</a:t>
            </a:r>
            <a:endParaRPr lang="en-US" sz="1300" dirty="0"/>
          </a:p>
        </p:txBody>
      </p:sp>
      <p:sp>
        <p:nvSpPr>
          <p:cNvPr id="11" name="Text 9"/>
          <p:cNvSpPr/>
          <p:nvPr/>
        </p:nvSpPr>
        <p:spPr>
          <a:xfrm>
            <a:off x="4983480" y="1371600"/>
            <a:ext cx="3840480" cy="59436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'98,000 km' required extracting numeric portion via str.extract</a:t>
            </a:r>
            <a:endParaRPr lang="en-US" sz="1100" dirty="0"/>
          </a:p>
        </p:txBody>
      </p:sp>
      <p:sp>
        <p:nvSpPr>
          <p:cNvPr id="12" name="Shape 10"/>
          <p:cNvSpPr/>
          <p:nvPr/>
        </p:nvSpPr>
        <p:spPr>
          <a:xfrm>
            <a:off x="457200" y="2258568"/>
            <a:ext cx="4160520" cy="1115568"/>
          </a:xfrm>
          <a:prstGeom prst="rect">
            <a:avLst/>
          </a:prstGeom>
          <a:solidFill>
            <a:srgbClr val="FFFFFF"/>
          </a:solidFill>
          <a:ln/>
          <a:effectLst>
            <a:outerShdw blurRad="50800" dist="25400" dir="8100000" algn="bl" rotWithShape="0">
              <a:srgbClr val="000000">
                <a:alpha val="9000"/>
              </a:srgbClr>
            </a:outerShdw>
          </a:effectLst>
        </p:spPr>
      </p:sp>
      <p:sp>
        <p:nvSpPr>
          <p:cNvPr id="13" name="Shape 11"/>
          <p:cNvSpPr/>
          <p:nvPr/>
        </p:nvSpPr>
        <p:spPr>
          <a:xfrm>
            <a:off x="457200" y="2258568"/>
            <a:ext cx="64008" cy="1115568"/>
          </a:xfrm>
          <a:prstGeom prst="rect">
            <a:avLst/>
          </a:prstGeom>
          <a:solidFill>
            <a:srgbClr val="2E86AB"/>
          </a:solidFill>
          <a:ln w="12700">
            <a:solidFill>
              <a:srgbClr val="2E86AB"/>
            </a:solidFill>
            <a:prstDash val="solid"/>
          </a:ln>
        </p:spPr>
      </p:sp>
      <p:sp>
        <p:nvSpPr>
          <p:cNvPr id="14" name="Text 12"/>
          <p:cNvSpPr/>
          <p:nvPr/>
        </p:nvSpPr>
        <p:spPr>
          <a:xfrm>
            <a:off x="640080" y="2350008"/>
            <a:ext cx="384048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Extreme Outliers</a:t>
            </a:r>
            <a:endParaRPr lang="en-US" sz="1300" dirty="0"/>
          </a:p>
        </p:txBody>
      </p:sp>
      <p:sp>
        <p:nvSpPr>
          <p:cNvPr id="15" name="Text 13"/>
          <p:cNvSpPr/>
          <p:nvPr/>
        </p:nvSpPr>
        <p:spPr>
          <a:xfrm>
            <a:off x="640080" y="2670048"/>
            <a:ext cx="3840480" cy="59436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Luxury cars (₹4.25 Cr) skewed model — solved via percentile-based filtering</a:t>
            </a:r>
            <a:endParaRPr lang="en-US" sz="1100" dirty="0"/>
          </a:p>
        </p:txBody>
      </p:sp>
      <p:sp>
        <p:nvSpPr>
          <p:cNvPr id="16" name="Shape 14"/>
          <p:cNvSpPr/>
          <p:nvPr/>
        </p:nvSpPr>
        <p:spPr>
          <a:xfrm>
            <a:off x="4800600" y="2258568"/>
            <a:ext cx="4160520" cy="1115568"/>
          </a:xfrm>
          <a:prstGeom prst="rect">
            <a:avLst/>
          </a:prstGeom>
          <a:solidFill>
            <a:srgbClr val="FFFFFF"/>
          </a:solidFill>
          <a:ln/>
          <a:effectLst>
            <a:outerShdw blurRad="50800" dist="25400" dir="8100000" algn="bl" rotWithShape="0">
              <a:srgbClr val="000000">
                <a:alpha val="9000"/>
              </a:srgbClr>
            </a:outerShdw>
          </a:effectLst>
        </p:spPr>
      </p:sp>
      <p:sp>
        <p:nvSpPr>
          <p:cNvPr id="17" name="Shape 15"/>
          <p:cNvSpPr/>
          <p:nvPr/>
        </p:nvSpPr>
        <p:spPr>
          <a:xfrm>
            <a:off x="4800600" y="2258568"/>
            <a:ext cx="64008" cy="1115568"/>
          </a:xfrm>
          <a:prstGeom prst="rect">
            <a:avLst/>
          </a:prstGeom>
          <a:solidFill>
            <a:srgbClr val="2E86AB"/>
          </a:solidFill>
          <a:ln w="12700">
            <a:solidFill>
              <a:srgbClr val="2E86AB"/>
            </a:solidFill>
            <a:prstDash val="solid"/>
          </a:ln>
        </p:spPr>
      </p:sp>
      <p:sp>
        <p:nvSpPr>
          <p:cNvPr id="18" name="Text 16"/>
          <p:cNvSpPr/>
          <p:nvPr/>
        </p:nvSpPr>
        <p:spPr>
          <a:xfrm>
            <a:off x="4983480" y="2350008"/>
            <a:ext cx="384048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Categorical Encoding</a:t>
            </a:r>
            <a:endParaRPr lang="en-US" sz="1300" dirty="0"/>
          </a:p>
        </p:txBody>
      </p:sp>
      <p:sp>
        <p:nvSpPr>
          <p:cNvPr id="19" name="Text 17"/>
          <p:cNvSpPr/>
          <p:nvPr/>
        </p:nvSpPr>
        <p:spPr>
          <a:xfrm>
            <a:off x="4983480" y="2670048"/>
            <a:ext cx="3840480" cy="59436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38 brands &amp; many models — used category codes with reverse mapping for app</a:t>
            </a:r>
            <a:endParaRPr lang="en-US" sz="1100" dirty="0"/>
          </a:p>
        </p:txBody>
      </p:sp>
      <p:sp>
        <p:nvSpPr>
          <p:cNvPr id="20" name="Shape 18"/>
          <p:cNvSpPr/>
          <p:nvPr/>
        </p:nvSpPr>
        <p:spPr>
          <a:xfrm>
            <a:off x="457200" y="3557016"/>
            <a:ext cx="4160520" cy="1115568"/>
          </a:xfrm>
          <a:prstGeom prst="rect">
            <a:avLst/>
          </a:prstGeom>
          <a:solidFill>
            <a:srgbClr val="FFFFFF"/>
          </a:solidFill>
          <a:ln/>
          <a:effectLst>
            <a:outerShdw blurRad="50800" dist="25400" dir="8100000" algn="bl" rotWithShape="0">
              <a:srgbClr val="000000">
                <a:alpha val="9000"/>
              </a:srgbClr>
            </a:outerShdw>
          </a:effectLst>
        </p:spPr>
      </p:sp>
      <p:sp>
        <p:nvSpPr>
          <p:cNvPr id="21" name="Shape 19"/>
          <p:cNvSpPr/>
          <p:nvPr/>
        </p:nvSpPr>
        <p:spPr>
          <a:xfrm>
            <a:off x="457200" y="3557016"/>
            <a:ext cx="64008" cy="1115568"/>
          </a:xfrm>
          <a:prstGeom prst="rect">
            <a:avLst/>
          </a:prstGeom>
          <a:solidFill>
            <a:srgbClr val="2E86AB"/>
          </a:solidFill>
          <a:ln w="12700">
            <a:solidFill>
              <a:srgbClr val="2E86AB"/>
            </a:solidFill>
            <a:prstDash val="solid"/>
          </a:ln>
        </p:spPr>
      </p:sp>
      <p:sp>
        <p:nvSpPr>
          <p:cNvPr id="22" name="Text 20"/>
          <p:cNvSpPr/>
          <p:nvPr/>
        </p:nvSpPr>
        <p:spPr>
          <a:xfrm>
            <a:off x="640080" y="3648456"/>
            <a:ext cx="384048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Model Overfitting Risk</a:t>
            </a:r>
            <a:endParaRPr lang="en-US" sz="1300" dirty="0"/>
          </a:p>
        </p:txBody>
      </p:sp>
      <p:sp>
        <p:nvSpPr>
          <p:cNvPr id="23" name="Text 21"/>
          <p:cNvSpPr/>
          <p:nvPr/>
        </p:nvSpPr>
        <p:spPr>
          <a:xfrm>
            <a:off x="640080" y="3968496"/>
            <a:ext cx="3840480" cy="59436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Used max_depth=15 and n_estimators=200 to balance bias-variance tradeoff</a:t>
            </a:r>
            <a:endParaRPr lang="en-US" sz="1100" dirty="0"/>
          </a:p>
        </p:txBody>
      </p:sp>
      <p:sp>
        <p:nvSpPr>
          <p:cNvPr id="24" name="Shape 22"/>
          <p:cNvSpPr/>
          <p:nvPr/>
        </p:nvSpPr>
        <p:spPr>
          <a:xfrm>
            <a:off x="4800600" y="3557016"/>
            <a:ext cx="4160520" cy="1115568"/>
          </a:xfrm>
          <a:prstGeom prst="rect">
            <a:avLst/>
          </a:prstGeom>
          <a:solidFill>
            <a:srgbClr val="FFFFFF"/>
          </a:solidFill>
          <a:ln/>
          <a:effectLst>
            <a:outerShdw blurRad="50800" dist="25400" dir="8100000" algn="bl" rotWithShape="0">
              <a:srgbClr val="000000">
                <a:alpha val="9000"/>
              </a:srgbClr>
            </a:outerShdw>
          </a:effectLst>
        </p:spPr>
      </p:sp>
      <p:sp>
        <p:nvSpPr>
          <p:cNvPr id="25" name="Shape 23"/>
          <p:cNvSpPr/>
          <p:nvPr/>
        </p:nvSpPr>
        <p:spPr>
          <a:xfrm>
            <a:off x="4800600" y="3557016"/>
            <a:ext cx="64008" cy="1115568"/>
          </a:xfrm>
          <a:prstGeom prst="rect">
            <a:avLst/>
          </a:prstGeom>
          <a:solidFill>
            <a:srgbClr val="2E86AB"/>
          </a:solidFill>
          <a:ln w="12700">
            <a:solidFill>
              <a:srgbClr val="2E86AB"/>
            </a:solidFill>
            <a:prstDash val="solid"/>
          </a:ln>
        </p:spPr>
      </p:sp>
      <p:sp>
        <p:nvSpPr>
          <p:cNvPr id="26" name="Text 24"/>
          <p:cNvSpPr/>
          <p:nvPr/>
        </p:nvSpPr>
        <p:spPr>
          <a:xfrm>
            <a:off x="4983480" y="3648456"/>
            <a:ext cx="384048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 App-Model Sync</a:t>
            </a:r>
            <a:endParaRPr lang="en-US" sz="1300" dirty="0"/>
          </a:p>
        </p:txBody>
      </p:sp>
      <p:sp>
        <p:nvSpPr>
          <p:cNvPr id="27" name="Text 25"/>
          <p:cNvSpPr/>
          <p:nvPr/>
        </p:nvSpPr>
        <p:spPr>
          <a:xfrm>
            <a:off x="4983480" y="3968496"/>
            <a:ext cx="3840480" cy="59436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Ensured encoding mappings built from training data are reused in prediction</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Future Scope &amp; Enhancements</a:t>
            </a:r>
            <a:endParaRPr lang="en-US" sz="2400" dirty="0"/>
          </a:p>
        </p:txBody>
      </p:sp>
      <p:sp>
        <p:nvSpPr>
          <p:cNvPr id="3" name="Shape 1"/>
          <p:cNvSpPr/>
          <p:nvPr/>
        </p:nvSpPr>
        <p:spPr>
          <a:xfrm>
            <a:off x="457200" y="804672"/>
            <a:ext cx="1097280" cy="45720"/>
          </a:xfrm>
          <a:prstGeom prst="rect">
            <a:avLst/>
          </a:prstGeom>
          <a:solidFill>
            <a:srgbClr val="2E86AB"/>
          </a:solidFill>
          <a:ln w="12700">
            <a:solidFill>
              <a:srgbClr val="2E86AB"/>
            </a:solidFill>
            <a:prstDash val="solid"/>
          </a:ln>
        </p:spPr>
      </p:sp>
      <p:sp>
        <p:nvSpPr>
          <p:cNvPr id="4" name="Shape 2"/>
          <p:cNvSpPr/>
          <p:nvPr/>
        </p:nvSpPr>
        <p:spPr>
          <a:xfrm>
            <a:off x="457200" y="960120"/>
            <a:ext cx="4160520" cy="1115568"/>
          </a:xfrm>
          <a:prstGeom prst="rect">
            <a:avLst/>
          </a:prstGeom>
          <a:solidFill>
            <a:srgbClr val="FFFFFF"/>
          </a:solidFill>
          <a:ln/>
          <a:effectLst>
            <a:outerShdw blurRad="50800" dist="25400" dir="8100000" algn="bl" rotWithShape="0">
              <a:srgbClr val="000000">
                <a:alpha val="9000"/>
              </a:srgbClr>
            </a:outerShdw>
          </a:effectLst>
        </p:spPr>
      </p:sp>
      <p:sp>
        <p:nvSpPr>
          <p:cNvPr id="5" name="Shape 3"/>
          <p:cNvSpPr/>
          <p:nvPr/>
        </p:nvSpPr>
        <p:spPr>
          <a:xfrm>
            <a:off x="548640" y="1143000"/>
            <a:ext cx="457200" cy="457200"/>
          </a:xfrm>
          <a:prstGeom prst="ellipse">
            <a:avLst/>
          </a:prstGeom>
          <a:solidFill>
            <a:srgbClr val="1B4F72"/>
          </a:solidFill>
          <a:ln w="12700">
            <a:solidFill>
              <a:srgbClr val="1B4F72"/>
            </a:solidFill>
            <a:prstDash val="solid"/>
          </a:ln>
        </p:spPr>
      </p:sp>
      <p:sp>
        <p:nvSpPr>
          <p:cNvPr id="6" name="Text 4"/>
          <p:cNvSpPr/>
          <p:nvPr/>
        </p:nvSpPr>
        <p:spPr>
          <a:xfrm>
            <a:off x="548640" y="1143000"/>
            <a:ext cx="457200" cy="45720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7" name="Text 5"/>
          <p:cNvSpPr/>
          <p:nvPr/>
        </p:nvSpPr>
        <p:spPr>
          <a:xfrm>
            <a:off x="1143000" y="1051560"/>
            <a:ext cx="333756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Advanced ML Models</a:t>
            </a:r>
            <a:endParaRPr lang="en-US" sz="1300" dirty="0"/>
          </a:p>
        </p:txBody>
      </p:sp>
      <p:sp>
        <p:nvSpPr>
          <p:cNvPr id="8" name="Text 6"/>
          <p:cNvSpPr/>
          <p:nvPr/>
        </p:nvSpPr>
        <p:spPr>
          <a:xfrm>
            <a:off x="1143000" y="1362456"/>
            <a:ext cx="3337560" cy="59436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Explore XGBoost, LightGBM, or deep learning models for higher accuracy</a:t>
            </a:r>
            <a:endParaRPr lang="en-US" sz="1100" dirty="0"/>
          </a:p>
        </p:txBody>
      </p:sp>
      <p:sp>
        <p:nvSpPr>
          <p:cNvPr id="9" name="Shape 7"/>
          <p:cNvSpPr/>
          <p:nvPr/>
        </p:nvSpPr>
        <p:spPr>
          <a:xfrm>
            <a:off x="4800600" y="960120"/>
            <a:ext cx="4160520" cy="1115568"/>
          </a:xfrm>
          <a:prstGeom prst="rect">
            <a:avLst/>
          </a:prstGeom>
          <a:solidFill>
            <a:srgbClr val="FFFFFF"/>
          </a:solidFill>
          <a:ln/>
          <a:effectLst>
            <a:outerShdw blurRad="50800" dist="25400" dir="8100000" algn="bl" rotWithShape="0">
              <a:srgbClr val="000000">
                <a:alpha val="9000"/>
              </a:srgbClr>
            </a:outerShdw>
          </a:effectLst>
        </p:spPr>
      </p:sp>
      <p:sp>
        <p:nvSpPr>
          <p:cNvPr id="10" name="Shape 8"/>
          <p:cNvSpPr/>
          <p:nvPr/>
        </p:nvSpPr>
        <p:spPr>
          <a:xfrm>
            <a:off x="4892040" y="1143000"/>
            <a:ext cx="457200" cy="457200"/>
          </a:xfrm>
          <a:prstGeom prst="ellipse">
            <a:avLst/>
          </a:prstGeom>
          <a:solidFill>
            <a:srgbClr val="1B4F72"/>
          </a:solidFill>
          <a:ln w="12700">
            <a:solidFill>
              <a:srgbClr val="1B4F72"/>
            </a:solidFill>
            <a:prstDash val="solid"/>
          </a:ln>
        </p:spPr>
      </p:sp>
      <p:sp>
        <p:nvSpPr>
          <p:cNvPr id="11" name="Text 9"/>
          <p:cNvSpPr/>
          <p:nvPr/>
        </p:nvSpPr>
        <p:spPr>
          <a:xfrm>
            <a:off x="4892040" y="1143000"/>
            <a:ext cx="457200" cy="45720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2" name="Text 10"/>
          <p:cNvSpPr/>
          <p:nvPr/>
        </p:nvSpPr>
        <p:spPr>
          <a:xfrm>
            <a:off x="5486400" y="1051560"/>
            <a:ext cx="333756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Live Data Scraping</a:t>
            </a:r>
            <a:endParaRPr lang="en-US" sz="1300" dirty="0"/>
          </a:p>
        </p:txBody>
      </p:sp>
      <p:sp>
        <p:nvSpPr>
          <p:cNvPr id="13" name="Text 11"/>
          <p:cNvSpPr/>
          <p:nvPr/>
        </p:nvSpPr>
        <p:spPr>
          <a:xfrm>
            <a:off x="5486400" y="1362456"/>
            <a:ext cx="3337560" cy="59436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Integrate real-time data pipelines from car listing websites via APIs</a:t>
            </a:r>
            <a:endParaRPr lang="en-US" sz="1100" dirty="0"/>
          </a:p>
        </p:txBody>
      </p:sp>
      <p:sp>
        <p:nvSpPr>
          <p:cNvPr id="14" name="Shape 12"/>
          <p:cNvSpPr/>
          <p:nvPr/>
        </p:nvSpPr>
        <p:spPr>
          <a:xfrm>
            <a:off x="457200" y="2258568"/>
            <a:ext cx="4160520" cy="1115568"/>
          </a:xfrm>
          <a:prstGeom prst="rect">
            <a:avLst/>
          </a:prstGeom>
          <a:solidFill>
            <a:srgbClr val="FFFFFF"/>
          </a:solidFill>
          <a:ln/>
          <a:effectLst>
            <a:outerShdw blurRad="50800" dist="25400" dir="8100000" algn="bl" rotWithShape="0">
              <a:srgbClr val="000000">
                <a:alpha val="9000"/>
              </a:srgbClr>
            </a:outerShdw>
          </a:effectLst>
        </p:spPr>
      </p:sp>
      <p:sp>
        <p:nvSpPr>
          <p:cNvPr id="15" name="Shape 13"/>
          <p:cNvSpPr/>
          <p:nvPr/>
        </p:nvSpPr>
        <p:spPr>
          <a:xfrm>
            <a:off x="548640" y="2441448"/>
            <a:ext cx="457200" cy="457200"/>
          </a:xfrm>
          <a:prstGeom prst="ellipse">
            <a:avLst/>
          </a:prstGeom>
          <a:solidFill>
            <a:srgbClr val="1B4F72"/>
          </a:solidFill>
          <a:ln w="12700">
            <a:solidFill>
              <a:srgbClr val="1B4F72"/>
            </a:solidFill>
            <a:prstDash val="solid"/>
          </a:ln>
        </p:spPr>
      </p:sp>
      <p:sp>
        <p:nvSpPr>
          <p:cNvPr id="16" name="Text 14"/>
          <p:cNvSpPr/>
          <p:nvPr/>
        </p:nvSpPr>
        <p:spPr>
          <a:xfrm>
            <a:off x="548640" y="2441448"/>
            <a:ext cx="457200" cy="45720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7" name="Text 15"/>
          <p:cNvSpPr/>
          <p:nvPr/>
        </p:nvSpPr>
        <p:spPr>
          <a:xfrm>
            <a:off x="1143000" y="2350008"/>
            <a:ext cx="333756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Location-Based Pricing</a:t>
            </a:r>
            <a:endParaRPr lang="en-US" sz="1300" dirty="0"/>
          </a:p>
        </p:txBody>
      </p:sp>
      <p:sp>
        <p:nvSpPr>
          <p:cNvPr id="18" name="Text 16"/>
          <p:cNvSpPr/>
          <p:nvPr/>
        </p:nvSpPr>
        <p:spPr>
          <a:xfrm>
            <a:off x="1143000" y="2660904"/>
            <a:ext cx="3337560" cy="59436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Add city/state as a feature — Delhi vs Mumbai prices differ significantly</a:t>
            </a:r>
            <a:endParaRPr lang="en-US" sz="1100" dirty="0"/>
          </a:p>
        </p:txBody>
      </p:sp>
      <p:sp>
        <p:nvSpPr>
          <p:cNvPr id="19" name="Shape 17"/>
          <p:cNvSpPr/>
          <p:nvPr/>
        </p:nvSpPr>
        <p:spPr>
          <a:xfrm>
            <a:off x="4800600" y="2258568"/>
            <a:ext cx="4160520" cy="1115568"/>
          </a:xfrm>
          <a:prstGeom prst="rect">
            <a:avLst/>
          </a:prstGeom>
          <a:solidFill>
            <a:srgbClr val="FFFFFF"/>
          </a:solidFill>
          <a:ln/>
          <a:effectLst>
            <a:outerShdw blurRad="50800" dist="25400" dir="8100000" algn="bl" rotWithShape="0">
              <a:srgbClr val="000000">
                <a:alpha val="9000"/>
              </a:srgbClr>
            </a:outerShdw>
          </a:effectLst>
        </p:spPr>
      </p:sp>
      <p:sp>
        <p:nvSpPr>
          <p:cNvPr id="20" name="Shape 18"/>
          <p:cNvSpPr/>
          <p:nvPr/>
        </p:nvSpPr>
        <p:spPr>
          <a:xfrm>
            <a:off x="4892040" y="2441448"/>
            <a:ext cx="457200" cy="457200"/>
          </a:xfrm>
          <a:prstGeom prst="ellipse">
            <a:avLst/>
          </a:prstGeom>
          <a:solidFill>
            <a:srgbClr val="1B4F72"/>
          </a:solidFill>
          <a:ln w="12700">
            <a:solidFill>
              <a:srgbClr val="1B4F72"/>
            </a:solidFill>
            <a:prstDash val="solid"/>
          </a:ln>
        </p:spPr>
      </p:sp>
      <p:sp>
        <p:nvSpPr>
          <p:cNvPr id="21" name="Text 19"/>
          <p:cNvSpPr/>
          <p:nvPr/>
        </p:nvSpPr>
        <p:spPr>
          <a:xfrm>
            <a:off x="4892040" y="2441448"/>
            <a:ext cx="457200" cy="45720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2" name="Text 20"/>
          <p:cNvSpPr/>
          <p:nvPr/>
        </p:nvSpPr>
        <p:spPr>
          <a:xfrm>
            <a:off x="5486400" y="2350008"/>
            <a:ext cx="333756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Image Analysis</a:t>
            </a:r>
            <a:endParaRPr lang="en-US" sz="1300" dirty="0"/>
          </a:p>
        </p:txBody>
      </p:sp>
      <p:sp>
        <p:nvSpPr>
          <p:cNvPr id="23" name="Text 21"/>
          <p:cNvSpPr/>
          <p:nvPr/>
        </p:nvSpPr>
        <p:spPr>
          <a:xfrm>
            <a:off x="5486400" y="2660904"/>
            <a:ext cx="3337560" cy="59436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Use computer vision on car images to assess condition for pricing</a:t>
            </a:r>
            <a:endParaRPr lang="en-US" sz="1100" dirty="0"/>
          </a:p>
        </p:txBody>
      </p:sp>
      <p:sp>
        <p:nvSpPr>
          <p:cNvPr id="24" name="Shape 22"/>
          <p:cNvSpPr/>
          <p:nvPr/>
        </p:nvSpPr>
        <p:spPr>
          <a:xfrm>
            <a:off x="457200" y="3557016"/>
            <a:ext cx="4160520" cy="1115568"/>
          </a:xfrm>
          <a:prstGeom prst="rect">
            <a:avLst/>
          </a:prstGeom>
          <a:solidFill>
            <a:srgbClr val="FFFFFF"/>
          </a:solidFill>
          <a:ln/>
          <a:effectLst>
            <a:outerShdw blurRad="50800" dist="25400" dir="8100000" algn="bl" rotWithShape="0">
              <a:srgbClr val="000000">
                <a:alpha val="9000"/>
              </a:srgbClr>
            </a:outerShdw>
          </a:effectLst>
        </p:spPr>
      </p:sp>
      <p:sp>
        <p:nvSpPr>
          <p:cNvPr id="25" name="Shape 23"/>
          <p:cNvSpPr/>
          <p:nvPr/>
        </p:nvSpPr>
        <p:spPr>
          <a:xfrm>
            <a:off x="548640" y="3739896"/>
            <a:ext cx="457200" cy="457200"/>
          </a:xfrm>
          <a:prstGeom prst="ellipse">
            <a:avLst/>
          </a:prstGeom>
          <a:solidFill>
            <a:srgbClr val="1B4F72"/>
          </a:solidFill>
          <a:ln w="12700">
            <a:solidFill>
              <a:srgbClr val="1B4F72"/>
            </a:solidFill>
            <a:prstDash val="solid"/>
          </a:ln>
        </p:spPr>
      </p:sp>
      <p:sp>
        <p:nvSpPr>
          <p:cNvPr id="26" name="Text 24"/>
          <p:cNvSpPr/>
          <p:nvPr/>
        </p:nvSpPr>
        <p:spPr>
          <a:xfrm>
            <a:off x="548640" y="3739896"/>
            <a:ext cx="457200" cy="45720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7" name="Text 25"/>
          <p:cNvSpPr/>
          <p:nvPr/>
        </p:nvSpPr>
        <p:spPr>
          <a:xfrm>
            <a:off x="1143000" y="3648456"/>
            <a:ext cx="333756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NLP on Descriptions</a:t>
            </a:r>
            <a:endParaRPr lang="en-US" sz="1300" dirty="0"/>
          </a:p>
        </p:txBody>
      </p:sp>
      <p:sp>
        <p:nvSpPr>
          <p:cNvPr id="28" name="Text 26"/>
          <p:cNvSpPr/>
          <p:nvPr/>
        </p:nvSpPr>
        <p:spPr>
          <a:xfrm>
            <a:off x="1143000" y="3959352"/>
            <a:ext cx="3337560" cy="59436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Parse AdditionInfo column for condition keywords using NLP</a:t>
            </a:r>
            <a:endParaRPr lang="en-US" sz="1100" dirty="0"/>
          </a:p>
        </p:txBody>
      </p:sp>
      <p:sp>
        <p:nvSpPr>
          <p:cNvPr id="29" name="Shape 27"/>
          <p:cNvSpPr/>
          <p:nvPr/>
        </p:nvSpPr>
        <p:spPr>
          <a:xfrm>
            <a:off x="4800600" y="3557016"/>
            <a:ext cx="4160520" cy="1115568"/>
          </a:xfrm>
          <a:prstGeom prst="rect">
            <a:avLst/>
          </a:prstGeom>
          <a:solidFill>
            <a:srgbClr val="FFFFFF"/>
          </a:solidFill>
          <a:ln/>
          <a:effectLst>
            <a:outerShdw blurRad="50800" dist="25400" dir="8100000" algn="bl" rotWithShape="0">
              <a:srgbClr val="000000">
                <a:alpha val="9000"/>
              </a:srgbClr>
            </a:outerShdw>
          </a:effectLst>
        </p:spPr>
      </p:sp>
      <p:sp>
        <p:nvSpPr>
          <p:cNvPr id="30" name="Shape 28"/>
          <p:cNvSpPr/>
          <p:nvPr/>
        </p:nvSpPr>
        <p:spPr>
          <a:xfrm>
            <a:off x="4892040" y="3739896"/>
            <a:ext cx="457200" cy="457200"/>
          </a:xfrm>
          <a:prstGeom prst="ellipse">
            <a:avLst/>
          </a:prstGeom>
          <a:solidFill>
            <a:srgbClr val="1B4F72"/>
          </a:solidFill>
          <a:ln w="12700">
            <a:solidFill>
              <a:srgbClr val="1B4F72"/>
            </a:solidFill>
            <a:prstDash val="solid"/>
          </a:ln>
        </p:spPr>
      </p:sp>
      <p:sp>
        <p:nvSpPr>
          <p:cNvPr id="31" name="Text 29"/>
          <p:cNvSpPr/>
          <p:nvPr/>
        </p:nvSpPr>
        <p:spPr>
          <a:xfrm>
            <a:off x="4892040" y="3739896"/>
            <a:ext cx="457200" cy="45720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2" name="Text 30"/>
          <p:cNvSpPr/>
          <p:nvPr/>
        </p:nvSpPr>
        <p:spPr>
          <a:xfrm>
            <a:off x="5486400" y="3648456"/>
            <a:ext cx="333756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Cloud Deployment</a:t>
            </a:r>
            <a:endParaRPr lang="en-US" sz="1300" dirty="0"/>
          </a:p>
        </p:txBody>
      </p:sp>
      <p:sp>
        <p:nvSpPr>
          <p:cNvPr id="33" name="Text 31"/>
          <p:cNvSpPr/>
          <p:nvPr/>
        </p:nvSpPr>
        <p:spPr>
          <a:xfrm>
            <a:off x="5486400" y="3959352"/>
            <a:ext cx="3337560" cy="59436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Deploy on AWS/GCP with CI/CD pipeline for production-grade app</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2E86AB">
              <a:alpha val="20000"/>
            </a:srgbClr>
          </a:solidFill>
          <a:ln w="12700">
            <a:solidFill>
              <a:srgbClr val="2E86AB">
                <a:alpha val="20000"/>
              </a:srgbClr>
            </a:solidFill>
            <a:prstDash val="solid"/>
          </a:ln>
        </p:spPr>
      </p:sp>
      <p:sp>
        <p:nvSpPr>
          <p:cNvPr id="3" name="Shape 1"/>
          <p:cNvSpPr/>
          <p:nvPr/>
        </p:nvSpPr>
        <p:spPr>
          <a:xfrm>
            <a:off x="-914400" y="2743200"/>
            <a:ext cx="3657600" cy="3657600"/>
          </a:xfrm>
          <a:prstGeom prst="ellipse">
            <a:avLst/>
          </a:prstGeom>
          <a:solidFill>
            <a:srgbClr val="1B4F72">
              <a:alpha val="22000"/>
            </a:srgbClr>
          </a:solidFill>
          <a:ln w="12700">
            <a:solidFill>
              <a:srgbClr val="1B4F72">
                <a:alpha val="22000"/>
              </a:srgbClr>
            </a:solidFill>
            <a:prstDash val="solid"/>
          </a:ln>
        </p:spPr>
      </p:sp>
      <p:sp>
        <p:nvSpPr>
          <p:cNvPr id="4" name="Text 2"/>
          <p:cNvSpPr/>
          <p:nvPr/>
        </p:nvSpPr>
        <p:spPr>
          <a:xfrm>
            <a:off x="548640" y="502920"/>
            <a:ext cx="8046720" cy="5943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Conclusion</a:t>
            </a:r>
            <a:endParaRPr lang="en-US" sz="3000" dirty="0"/>
          </a:p>
        </p:txBody>
      </p:sp>
      <p:sp>
        <p:nvSpPr>
          <p:cNvPr id="5" name="Text 3"/>
          <p:cNvSpPr/>
          <p:nvPr/>
        </p:nvSpPr>
        <p:spPr>
          <a:xfrm>
            <a:off x="640080" y="1234440"/>
            <a:ext cx="7863840" cy="2468880"/>
          </a:xfrm>
          <a:prstGeom prst="rect">
            <a:avLst/>
          </a:prstGeom>
          <a:noFill/>
          <a:ln/>
        </p:spPr>
        <p:txBody>
          <a:bodyPr wrap="square" rtlCol="0" anchor="ctr"/>
          <a:lstStyle/>
          <a:p>
            <a:pPr marL="342900" indent="-342900">
              <a:buSzPct val="100000"/>
              <a:buChar char="•"/>
            </a:pPr>
            <a:r>
              <a:rPr lang="en-US" sz="1400" dirty="0">
                <a:solidFill>
                  <a:srgbClr val="D6EAF8"/>
                </a:solidFill>
                <a:latin typeface="Calibri" pitchFamily="34" charset="0"/>
                <a:ea typeface="Calibri" pitchFamily="34" charset="-122"/>
                <a:cs typeface="Calibri" pitchFamily="34" charset="-120"/>
              </a:rPr>
              <a:t>Successfully built an end-to-end Car Price Prediction system using real Indian used car data</a:t>
            </a:r>
            <a:endParaRPr lang="en-US" sz="1400" dirty="0"/>
          </a:p>
          <a:p>
            <a:pPr marL="342900" indent="-342900">
              <a:buSzPct val="100000"/>
              <a:buChar char="•"/>
            </a:pPr>
            <a:r>
              <a:rPr lang="en-US" sz="1400" dirty="0">
                <a:solidFill>
                  <a:srgbClr val="D6EAF8"/>
                </a:solidFill>
                <a:latin typeface="Calibri" pitchFamily="34" charset="0"/>
                <a:ea typeface="Calibri" pitchFamily="34" charset="-122"/>
                <a:cs typeface="Calibri" pitchFamily="34" charset="-120"/>
              </a:rPr>
              <a:t>Cleaned 9,582 raw records to 8,812 usable samples through robust preprocessing</a:t>
            </a:r>
            <a:endParaRPr lang="en-US" sz="1400" dirty="0"/>
          </a:p>
          <a:p>
            <a:pPr marL="342900" indent="-342900">
              <a:buSzPct val="100000"/>
              <a:buChar char="•"/>
            </a:pPr>
            <a:r>
              <a:rPr lang="en-US" sz="1400" dirty="0">
                <a:solidFill>
                  <a:srgbClr val="D6EAF8"/>
                </a:solidFill>
                <a:latin typeface="Calibri" pitchFamily="34" charset="0"/>
                <a:ea typeface="Calibri" pitchFamily="34" charset="-122"/>
                <a:cs typeface="Calibri" pitchFamily="34" charset="-120"/>
              </a:rPr>
              <a:t>Answered 15 business questions revealing key market insights about pricing in India</a:t>
            </a:r>
            <a:endParaRPr lang="en-US" sz="1400" dirty="0"/>
          </a:p>
          <a:p>
            <a:pPr marL="342900" indent="-342900">
              <a:buSzPct val="100000"/>
              <a:buChar char="•"/>
            </a:pPr>
            <a:r>
              <a:rPr lang="en-US" sz="1400" dirty="0">
                <a:solidFill>
                  <a:srgbClr val="D6EAF8"/>
                </a:solidFill>
                <a:latin typeface="Calibri" pitchFamily="34" charset="0"/>
                <a:ea typeface="Calibri" pitchFamily="34" charset="-122"/>
                <a:cs typeface="Calibri" pitchFamily="34" charset="-120"/>
              </a:rPr>
              <a:t>Trained a Random Forest Regressor achieving ~92% R² accuracy on price prediction</a:t>
            </a:r>
            <a:endParaRPr lang="en-US" sz="1400" dirty="0"/>
          </a:p>
          <a:p>
            <a:pPr marL="342900" indent="-342900">
              <a:buSzPct val="100000"/>
              <a:buChar char="•"/>
            </a:pPr>
            <a:r>
              <a:rPr lang="en-US" sz="1400" dirty="0">
                <a:solidFill>
                  <a:srgbClr val="D6EAF8"/>
                </a:solidFill>
                <a:latin typeface="Calibri" pitchFamily="34" charset="0"/>
                <a:ea typeface="Calibri" pitchFamily="34" charset="-122"/>
                <a:cs typeface="Calibri" pitchFamily="34" charset="-120"/>
              </a:rPr>
              <a:t>Deployed an interactive Streamlit app enabling real-time price estimates with price category &amp; similar car lookup</a:t>
            </a:r>
            <a:endParaRPr lang="en-US" sz="1400" dirty="0"/>
          </a:p>
        </p:txBody>
      </p:sp>
      <p:sp>
        <p:nvSpPr>
          <p:cNvPr id="6" name="Shape 4"/>
          <p:cNvSpPr/>
          <p:nvPr/>
        </p:nvSpPr>
        <p:spPr>
          <a:xfrm>
            <a:off x="640080" y="3840480"/>
            <a:ext cx="7863840" cy="91440"/>
          </a:xfrm>
          <a:prstGeom prst="rect">
            <a:avLst/>
          </a:prstGeom>
          <a:solidFill>
            <a:srgbClr val="2E86AB">
              <a:alpha val="40000"/>
            </a:srgbClr>
          </a:solidFill>
          <a:ln w="12700">
            <a:solidFill>
              <a:srgbClr val="2E86AB">
                <a:alpha val="40000"/>
              </a:srgbClr>
            </a:solidFill>
            <a:prstDash val="solid"/>
          </a:ln>
        </p:spPr>
      </p:sp>
      <p:sp>
        <p:nvSpPr>
          <p:cNvPr id="7" name="Text 5"/>
          <p:cNvSpPr/>
          <p:nvPr/>
        </p:nvSpPr>
        <p:spPr>
          <a:xfrm>
            <a:off x="640080" y="4023360"/>
            <a:ext cx="7863840" cy="548640"/>
          </a:xfrm>
          <a:prstGeom prst="rect">
            <a:avLst/>
          </a:prstGeom>
          <a:noFill/>
          <a:ln/>
        </p:spPr>
        <p:txBody>
          <a:bodyPr wrap="square" rtlCol="0" anchor="ctr"/>
          <a:lstStyle/>
          <a:p>
            <a:pPr marL="0" indent="0" algn="ctr">
              <a:buNone/>
            </a:pPr>
            <a:r>
              <a:rPr lang="en-US" sz="1300" i="1" dirty="0">
                <a:solidFill>
                  <a:srgbClr val="A0C4FF"/>
                </a:solidFill>
                <a:latin typeface="Calibri" pitchFamily="34" charset="0"/>
                <a:ea typeface="Calibri" pitchFamily="34" charset="-122"/>
                <a:cs typeface="Calibri" pitchFamily="34" charset="-120"/>
              </a:rPr>
              <a:t>This project demonstrates the full data science lifecycle: data collection → cleaning → EDA → modelling → deployment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486400" y="-1371600"/>
            <a:ext cx="6400800" cy="6400800"/>
          </a:xfrm>
          <a:prstGeom prst="ellipse">
            <a:avLst/>
          </a:prstGeom>
          <a:solidFill>
            <a:srgbClr val="2E86AB">
              <a:alpha val="15000"/>
            </a:srgbClr>
          </a:solidFill>
          <a:ln w="12700">
            <a:solidFill>
              <a:srgbClr val="2E86AB">
                <a:alpha val="15000"/>
              </a:srgbClr>
            </a:solidFill>
            <a:prstDash val="solid"/>
          </a:ln>
        </p:spPr>
      </p:sp>
      <p:sp>
        <p:nvSpPr>
          <p:cNvPr id="3" name="Shape 1"/>
          <p:cNvSpPr/>
          <p:nvPr/>
        </p:nvSpPr>
        <p:spPr>
          <a:xfrm>
            <a:off x="-1828800" y="1828800"/>
            <a:ext cx="5486400" cy="5486400"/>
          </a:xfrm>
          <a:prstGeom prst="ellipse">
            <a:avLst/>
          </a:prstGeom>
          <a:solidFill>
            <a:srgbClr val="1B4F72">
              <a:alpha val="18000"/>
            </a:srgbClr>
          </a:solidFill>
          <a:ln w="12700">
            <a:solidFill>
              <a:srgbClr val="1B4F72">
                <a:alpha val="18000"/>
              </a:srgbClr>
            </a:solidFill>
            <a:prstDash val="solid"/>
          </a:ln>
        </p:spPr>
      </p:sp>
      <p:sp>
        <p:nvSpPr>
          <p:cNvPr id="4" name="Text 2"/>
          <p:cNvSpPr/>
          <p:nvPr/>
        </p:nvSpPr>
        <p:spPr>
          <a:xfrm>
            <a:off x="457200" y="1097280"/>
            <a:ext cx="8229600" cy="1280160"/>
          </a:xfrm>
          <a:prstGeom prst="rect">
            <a:avLst/>
          </a:prstGeom>
          <a:noFill/>
          <a:ln/>
        </p:spPr>
        <p:txBody>
          <a:bodyPr wrap="square"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5" name="Text 3"/>
          <p:cNvSpPr/>
          <p:nvPr/>
        </p:nvSpPr>
        <p:spPr>
          <a:xfrm>
            <a:off x="457200" y="2560320"/>
            <a:ext cx="8229600" cy="548640"/>
          </a:xfrm>
          <a:prstGeom prst="rect">
            <a:avLst/>
          </a:prstGeom>
          <a:noFill/>
          <a:ln/>
        </p:spPr>
        <p:txBody>
          <a:bodyPr wrap="square" rtlCol="0" anchor="ctr"/>
          <a:lstStyle/>
          <a:p>
            <a:pPr marL="0" indent="0" algn="ctr">
              <a:buNone/>
            </a:pPr>
            <a:r>
              <a:rPr lang="en-US" sz="2000" i="1" dirty="0">
                <a:solidFill>
                  <a:srgbClr val="A0C4FF"/>
                </a:solidFill>
                <a:latin typeface="Calibri" pitchFamily="34" charset="0"/>
                <a:ea typeface="Calibri" pitchFamily="34" charset="-122"/>
                <a:cs typeface="Calibri" pitchFamily="34" charset="-120"/>
              </a:rPr>
              <a:t>🚗 Car Price Prediction System</a:t>
            </a:r>
            <a:endParaRPr lang="en-US" sz="2000" dirty="0"/>
          </a:p>
        </p:txBody>
      </p:sp>
      <p:sp>
        <p:nvSpPr>
          <p:cNvPr id="6" name="Text 4"/>
          <p:cNvSpPr/>
          <p:nvPr/>
        </p:nvSpPr>
        <p:spPr>
          <a:xfrm>
            <a:off x="457200" y="3337560"/>
            <a:ext cx="8229600" cy="411480"/>
          </a:xfrm>
          <a:prstGeom prst="rect">
            <a:avLst/>
          </a:prstGeom>
          <a:noFill/>
          <a:ln/>
        </p:spPr>
        <p:txBody>
          <a:bodyPr wrap="square" rtlCol="0" anchor="ctr"/>
          <a:lstStyle/>
          <a:p>
            <a:pPr marL="0" indent="0" algn="ctr">
              <a:buNone/>
            </a:pPr>
            <a:r>
              <a:rPr lang="en-US" sz="1400" dirty="0">
                <a:solidFill>
                  <a:srgbClr val="718096"/>
                </a:solidFill>
                <a:latin typeface="Calibri" pitchFamily="34" charset="0"/>
                <a:ea typeface="Calibri" pitchFamily="34" charset="-122"/>
                <a:cs typeface="Calibri" pitchFamily="34" charset="-120"/>
              </a:rPr>
              <a:t>Python   •   Pandas   •   Scikit-learn   •   Streamlit   •   Power BI</a:t>
            </a:r>
            <a:endParaRPr lang="en-US" sz="1400" dirty="0"/>
          </a:p>
        </p:txBody>
      </p:sp>
      <p:sp>
        <p:nvSpPr>
          <p:cNvPr id="7" name="Shape 5"/>
          <p:cNvSpPr/>
          <p:nvPr/>
        </p:nvSpPr>
        <p:spPr>
          <a:xfrm>
            <a:off x="2286000" y="3886200"/>
            <a:ext cx="4572000" cy="54864"/>
          </a:xfrm>
          <a:prstGeom prst="rect">
            <a:avLst/>
          </a:prstGeom>
          <a:solidFill>
            <a:srgbClr val="2E86AB">
              <a:alpha val="40000"/>
            </a:srgbClr>
          </a:solidFill>
          <a:ln w="12700">
            <a:solidFill>
              <a:srgbClr val="2E86AB">
                <a:alpha val="40000"/>
              </a:srgbClr>
            </a:solidFill>
            <a:prstDash val="solid"/>
          </a:ln>
        </p:spPr>
      </p:sp>
      <p:sp>
        <p:nvSpPr>
          <p:cNvPr id="8" name="Text 6"/>
          <p:cNvSpPr/>
          <p:nvPr/>
        </p:nvSpPr>
        <p:spPr>
          <a:xfrm>
            <a:off x="457200" y="4069080"/>
            <a:ext cx="8229600" cy="411480"/>
          </a:xfrm>
          <a:prstGeom prst="rect">
            <a:avLst/>
          </a:prstGeom>
          <a:noFill/>
          <a:ln/>
        </p:spPr>
        <p:txBody>
          <a:bodyPr wrap="square" rtlCol="0" anchor="ctr"/>
          <a:lstStyle/>
          <a:p>
            <a:pPr marL="0" indent="0" algn="ctr">
              <a:buNone/>
            </a:pPr>
            <a:r>
              <a:rPr lang="en-US" sz="1600" dirty="0">
                <a:solidFill>
                  <a:srgbClr val="A0C4FF"/>
                </a:solidFill>
                <a:latin typeface="Calibri" pitchFamily="34" charset="0"/>
                <a:ea typeface="Calibri" pitchFamily="34" charset="-122"/>
                <a:cs typeface="Calibri" pitchFamily="34" charset="-120"/>
              </a:rPr>
              <a:t>Questions &amp; Discussion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1912</Words>
  <Application>Microsoft Office PowerPoint</Application>
  <PresentationFormat>On-screen Show (16:9)</PresentationFormat>
  <Paragraphs>461</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 Price Prediction System</dc:title>
  <dc:subject>PptxGenJS Presentation</dc:subject>
  <dc:creator>PptxGenJS</dc:creator>
  <cp:lastModifiedBy>Saksham Katoch</cp:lastModifiedBy>
  <cp:revision>1</cp:revision>
  <dcterms:created xsi:type="dcterms:W3CDTF">2026-05-12T18:55:03Z</dcterms:created>
  <dcterms:modified xsi:type="dcterms:W3CDTF">2026-05-12T19:02:02Z</dcterms:modified>
</cp:coreProperties>
</file>